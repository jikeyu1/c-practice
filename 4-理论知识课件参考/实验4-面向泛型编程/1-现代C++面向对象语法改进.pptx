
<file path=[Content_Types].xml><?xml version="1.0" encoding="utf-8"?>
<Types xmlns="http://schemas.openxmlformats.org/package/2006/content-types">
  <Default Extension="png" ContentType="image/png"/>
  <Default Extension="jpeg" ContentType="image/jpeg"/>
  <Default Extension="emf" ContentType="image/x-emf"/>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Relationships xmlns="http://schemas.openxmlformats.org/package/2006/relationships">
    <Relationship Id="rId3" Type="http://schemas.openxmlformats.org/package/2006/relationships/metadata/core-properties" Target="docProps/core.xml"/>
    <Relationship Id="rId2" Type="http://schemas.openxmlformats.org/package/2006/relationships/metadata/thumbnail" Target="docProps/thumbnail.jpeg"/>
    <Relationship Id="rId1" Type="http://schemas.openxmlformats.org/officeDocument/2006/relationships/officeDocument" Target="ppt/presentation.xml"/>
    <Relationship Id="rId4" Type="http://schemas.openxmlformats.org/officeDocument/2006/relationships/extended-properties" Target="docProps/app.xml"/>
    <Relationship Id="rId5" Type="http://schemas.openxmlformats.org/officeDocument/2006/relationships/custom-properties" Target="docProps/custom.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1"/>
  </p:notesMasterIdLst>
  <p:sldIdLst>
    <p:sldId id="306" r:id="rId2"/>
    <p:sldId id="448" r:id="rId3"/>
    <p:sldId id="449" r:id="rId4"/>
    <p:sldId id="451" r:id="rId5"/>
    <p:sldId id="452" r:id="rId6"/>
    <p:sldId id="453" r:id="rId7"/>
    <p:sldId id="454" r:id="rId8"/>
    <p:sldId id="455" r:id="rId9"/>
    <p:sldId id="295" r:id="rId10"/>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113" d="100"/>
          <a:sy n="113" d="100"/>
        </p:scale>
        <p:origin x="510" y="10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3B3321D-C469-4BC0-8A3E-B82ED9C65545}" type="datetimeFigureOut">
              <a:rPr lang="zh-CN" altLang="en-US" smtClean="0"/>
              <a:t>2024/1/8</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BC7D37B-7C62-4534-AD31-9FA0B88281F5}" type="slidenum">
              <a:rPr lang="zh-CN" altLang="en-US" smtClean="0"/>
              <a:t>‹#›</a:t>
            </a:fld>
            <a:endParaRPr lang="zh-CN" altLang="en-US"/>
          </a:p>
        </p:txBody>
      </p:sp>
    </p:spTree>
    <p:extLst>
      <p:ext uri="{BB962C8B-B14F-4D97-AF65-F5344CB8AC3E}">
        <p14:creationId xmlns:p14="http://schemas.microsoft.com/office/powerpoint/2010/main" val="327049826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9700" y="768350"/>
            <a:ext cx="6819900" cy="3836988"/>
          </a:xfrm>
        </p:spPr>
      </p:sp>
      <p:sp>
        <p:nvSpPr>
          <p:cNvPr id="3" name="备注占位符 2"/>
          <p:cNvSpPr>
            <a:spLocks noGrp="1"/>
          </p:cNvSpPr>
          <p:nvPr>
            <p:ph type="body" idx="1"/>
          </p:nvPr>
        </p:nvSpPr>
        <p:spPr/>
        <p:txBody>
          <a:bodyPr>
            <a:normAutofit/>
          </a:bodyPr>
          <a:lstStyle/>
          <a:p>
            <a:endParaRPr lang="en-US" altLang="zh-CN" dirty="0">
              <a:solidFill>
                <a:srgbClr val="C00000"/>
              </a:solidFill>
            </a:endParaRPr>
          </a:p>
        </p:txBody>
      </p:sp>
      <p:sp>
        <p:nvSpPr>
          <p:cNvPr id="4" name="灯片编号占位符 3"/>
          <p:cNvSpPr>
            <a:spLocks noGrp="1"/>
          </p:cNvSpPr>
          <p:nvPr>
            <p:ph type="sldNum" sz="quarter" idx="10"/>
          </p:nvPr>
        </p:nvSpPr>
        <p:spPr>
          <a:xfrm>
            <a:off x="3990070" y="10566884"/>
            <a:ext cx="3053356" cy="556151"/>
          </a:xfrm>
          <a:prstGeom prst="rect">
            <a:avLst/>
          </a:prstGeom>
        </p:spPr>
        <p:txBody>
          <a:bodyPr/>
          <a:lstStyle/>
          <a:p>
            <a:pPr defTabSz="1320714" hangingPunct="0"/>
            <a:fld id="{93ECC034-B435-42CE-80E3-A63FBB54ADD9}" type="slidenum">
              <a:rPr lang="zh-CN" altLang="en-US" sz="2600" kern="0">
                <a:solidFill>
                  <a:srgbClr val="000000"/>
                </a:solidFill>
                <a:latin typeface="Arial"/>
                <a:cs typeface="Arial"/>
                <a:sym typeface="Arial"/>
              </a:rPr>
              <a:pPr defTabSz="1320714" hangingPunct="0"/>
              <a:t>2</a:t>
            </a:fld>
            <a:endParaRPr lang="zh-CN" altLang="en-US" sz="2600" kern="0">
              <a:solidFill>
                <a:srgbClr val="000000"/>
              </a:solidFill>
              <a:latin typeface="Arial"/>
              <a:cs typeface="Arial"/>
              <a:sym typeface="Arial"/>
            </a:endParaRPr>
          </a:p>
        </p:txBody>
      </p:sp>
    </p:spTree>
    <p:extLst>
      <p:ext uri="{BB962C8B-B14F-4D97-AF65-F5344CB8AC3E}">
        <p14:creationId xmlns:p14="http://schemas.microsoft.com/office/powerpoint/2010/main" val="51622468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9700" y="768350"/>
            <a:ext cx="6819900" cy="3836988"/>
          </a:xfrm>
        </p:spPr>
      </p:sp>
      <p:sp>
        <p:nvSpPr>
          <p:cNvPr id="3" name="备注占位符 2"/>
          <p:cNvSpPr>
            <a:spLocks noGrp="1"/>
          </p:cNvSpPr>
          <p:nvPr>
            <p:ph type="body" idx="1"/>
          </p:nvPr>
        </p:nvSpPr>
        <p:spPr/>
        <p:txBody>
          <a:bodyPr>
            <a:normAutofit/>
          </a:bodyPr>
          <a:lstStyle/>
          <a:p>
            <a:endParaRPr lang="en-US" altLang="zh-CN" dirty="0">
              <a:solidFill>
                <a:srgbClr val="C00000"/>
              </a:solidFill>
            </a:endParaRPr>
          </a:p>
        </p:txBody>
      </p:sp>
      <p:sp>
        <p:nvSpPr>
          <p:cNvPr id="4" name="灯片编号占位符 3"/>
          <p:cNvSpPr>
            <a:spLocks noGrp="1"/>
          </p:cNvSpPr>
          <p:nvPr>
            <p:ph type="sldNum" sz="quarter" idx="10"/>
          </p:nvPr>
        </p:nvSpPr>
        <p:spPr>
          <a:xfrm>
            <a:off x="3990070" y="10566884"/>
            <a:ext cx="3053356" cy="556151"/>
          </a:xfrm>
          <a:prstGeom prst="rect">
            <a:avLst/>
          </a:prstGeom>
        </p:spPr>
        <p:txBody>
          <a:bodyPr/>
          <a:lstStyle/>
          <a:p>
            <a:pPr defTabSz="1320714" hangingPunct="0"/>
            <a:fld id="{93ECC034-B435-42CE-80E3-A63FBB54ADD9}" type="slidenum">
              <a:rPr lang="zh-CN" altLang="en-US" sz="2600" kern="0">
                <a:solidFill>
                  <a:srgbClr val="000000"/>
                </a:solidFill>
                <a:latin typeface="Arial"/>
                <a:cs typeface="Arial"/>
                <a:sym typeface="Arial"/>
              </a:rPr>
              <a:pPr defTabSz="1320714" hangingPunct="0"/>
              <a:t>3</a:t>
            </a:fld>
            <a:endParaRPr lang="zh-CN" altLang="en-US" sz="2600" kern="0">
              <a:solidFill>
                <a:srgbClr val="000000"/>
              </a:solidFill>
              <a:latin typeface="Arial"/>
              <a:cs typeface="Arial"/>
              <a:sym typeface="Arial"/>
            </a:endParaRPr>
          </a:p>
        </p:txBody>
      </p:sp>
    </p:spTree>
    <p:extLst>
      <p:ext uri="{BB962C8B-B14F-4D97-AF65-F5344CB8AC3E}">
        <p14:creationId xmlns:p14="http://schemas.microsoft.com/office/powerpoint/2010/main" val="114461314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9700" y="768350"/>
            <a:ext cx="6819900" cy="3836988"/>
          </a:xfrm>
        </p:spPr>
      </p:sp>
      <p:sp>
        <p:nvSpPr>
          <p:cNvPr id="3" name="备注占位符 2"/>
          <p:cNvSpPr>
            <a:spLocks noGrp="1"/>
          </p:cNvSpPr>
          <p:nvPr>
            <p:ph type="body" idx="1"/>
          </p:nvPr>
        </p:nvSpPr>
        <p:spPr/>
        <p:txBody>
          <a:bodyPr>
            <a:normAutofit/>
          </a:bodyPr>
          <a:lstStyle/>
          <a:p>
            <a:endParaRPr lang="en-US" altLang="zh-CN" dirty="0">
              <a:solidFill>
                <a:srgbClr val="C00000"/>
              </a:solidFill>
            </a:endParaRPr>
          </a:p>
        </p:txBody>
      </p:sp>
      <p:sp>
        <p:nvSpPr>
          <p:cNvPr id="4" name="灯片编号占位符 3"/>
          <p:cNvSpPr>
            <a:spLocks noGrp="1"/>
          </p:cNvSpPr>
          <p:nvPr>
            <p:ph type="sldNum" sz="quarter" idx="10"/>
          </p:nvPr>
        </p:nvSpPr>
        <p:spPr>
          <a:xfrm>
            <a:off x="3990070" y="10566884"/>
            <a:ext cx="3053356" cy="556151"/>
          </a:xfrm>
          <a:prstGeom prst="rect">
            <a:avLst/>
          </a:prstGeom>
        </p:spPr>
        <p:txBody>
          <a:bodyPr/>
          <a:lstStyle/>
          <a:p>
            <a:pPr defTabSz="1320714" hangingPunct="0"/>
            <a:fld id="{93ECC034-B435-42CE-80E3-A63FBB54ADD9}" type="slidenum">
              <a:rPr lang="zh-CN" altLang="en-US" sz="2600" kern="0">
                <a:solidFill>
                  <a:srgbClr val="000000"/>
                </a:solidFill>
                <a:latin typeface="Arial"/>
                <a:cs typeface="Arial"/>
                <a:sym typeface="Arial"/>
              </a:rPr>
              <a:pPr defTabSz="1320714" hangingPunct="0"/>
              <a:t>4</a:t>
            </a:fld>
            <a:endParaRPr lang="zh-CN" altLang="en-US" sz="2600" kern="0">
              <a:solidFill>
                <a:srgbClr val="000000"/>
              </a:solidFill>
              <a:latin typeface="Arial"/>
              <a:cs typeface="Arial"/>
              <a:sym typeface="Arial"/>
            </a:endParaRPr>
          </a:p>
        </p:txBody>
      </p:sp>
    </p:spTree>
    <p:extLst>
      <p:ext uri="{BB962C8B-B14F-4D97-AF65-F5344CB8AC3E}">
        <p14:creationId xmlns:p14="http://schemas.microsoft.com/office/powerpoint/2010/main" val="105455383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9700" y="768350"/>
            <a:ext cx="6819900" cy="3836988"/>
          </a:xfrm>
        </p:spPr>
      </p:sp>
      <p:sp>
        <p:nvSpPr>
          <p:cNvPr id="3" name="备注占位符 2"/>
          <p:cNvSpPr>
            <a:spLocks noGrp="1"/>
          </p:cNvSpPr>
          <p:nvPr>
            <p:ph type="body" idx="1"/>
          </p:nvPr>
        </p:nvSpPr>
        <p:spPr/>
        <p:txBody>
          <a:bodyPr>
            <a:normAutofit/>
          </a:bodyPr>
          <a:lstStyle/>
          <a:p>
            <a:endParaRPr lang="en-US" altLang="zh-CN" dirty="0">
              <a:solidFill>
                <a:srgbClr val="C00000"/>
              </a:solidFill>
            </a:endParaRPr>
          </a:p>
        </p:txBody>
      </p:sp>
      <p:sp>
        <p:nvSpPr>
          <p:cNvPr id="4" name="灯片编号占位符 3"/>
          <p:cNvSpPr>
            <a:spLocks noGrp="1"/>
          </p:cNvSpPr>
          <p:nvPr>
            <p:ph type="sldNum" sz="quarter" idx="10"/>
          </p:nvPr>
        </p:nvSpPr>
        <p:spPr>
          <a:xfrm>
            <a:off x="3990070" y="10566884"/>
            <a:ext cx="3053356" cy="556151"/>
          </a:xfrm>
          <a:prstGeom prst="rect">
            <a:avLst/>
          </a:prstGeom>
        </p:spPr>
        <p:txBody>
          <a:bodyPr/>
          <a:lstStyle/>
          <a:p>
            <a:pPr defTabSz="1320714" hangingPunct="0"/>
            <a:fld id="{93ECC034-B435-42CE-80E3-A63FBB54ADD9}" type="slidenum">
              <a:rPr lang="zh-CN" altLang="en-US" sz="2600" kern="0">
                <a:solidFill>
                  <a:srgbClr val="000000"/>
                </a:solidFill>
                <a:latin typeface="Arial"/>
                <a:cs typeface="Arial"/>
                <a:sym typeface="Arial"/>
              </a:rPr>
              <a:pPr defTabSz="1320714" hangingPunct="0"/>
              <a:t>5</a:t>
            </a:fld>
            <a:endParaRPr lang="zh-CN" altLang="en-US" sz="2600" kern="0">
              <a:solidFill>
                <a:srgbClr val="000000"/>
              </a:solidFill>
              <a:latin typeface="Arial"/>
              <a:cs typeface="Arial"/>
              <a:sym typeface="Arial"/>
            </a:endParaRPr>
          </a:p>
        </p:txBody>
      </p:sp>
    </p:spTree>
    <p:extLst>
      <p:ext uri="{BB962C8B-B14F-4D97-AF65-F5344CB8AC3E}">
        <p14:creationId xmlns:p14="http://schemas.microsoft.com/office/powerpoint/2010/main" val="96131034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9700" y="768350"/>
            <a:ext cx="6819900" cy="3836988"/>
          </a:xfrm>
        </p:spPr>
      </p:sp>
      <p:sp>
        <p:nvSpPr>
          <p:cNvPr id="3" name="备注占位符 2"/>
          <p:cNvSpPr>
            <a:spLocks noGrp="1"/>
          </p:cNvSpPr>
          <p:nvPr>
            <p:ph type="body" idx="1"/>
          </p:nvPr>
        </p:nvSpPr>
        <p:spPr/>
        <p:txBody>
          <a:bodyPr>
            <a:normAutofit/>
          </a:bodyPr>
          <a:lstStyle/>
          <a:p>
            <a:endParaRPr lang="en-US" altLang="zh-CN" dirty="0">
              <a:solidFill>
                <a:srgbClr val="C00000"/>
              </a:solidFill>
            </a:endParaRPr>
          </a:p>
        </p:txBody>
      </p:sp>
      <p:sp>
        <p:nvSpPr>
          <p:cNvPr id="4" name="灯片编号占位符 3"/>
          <p:cNvSpPr>
            <a:spLocks noGrp="1"/>
          </p:cNvSpPr>
          <p:nvPr>
            <p:ph type="sldNum" sz="quarter" idx="10"/>
          </p:nvPr>
        </p:nvSpPr>
        <p:spPr>
          <a:xfrm>
            <a:off x="3990070" y="10566884"/>
            <a:ext cx="3053356" cy="556151"/>
          </a:xfrm>
          <a:prstGeom prst="rect">
            <a:avLst/>
          </a:prstGeom>
        </p:spPr>
        <p:txBody>
          <a:bodyPr/>
          <a:lstStyle/>
          <a:p>
            <a:pPr defTabSz="1320714" hangingPunct="0"/>
            <a:fld id="{93ECC034-B435-42CE-80E3-A63FBB54ADD9}" type="slidenum">
              <a:rPr lang="zh-CN" altLang="en-US" sz="2600" kern="0">
                <a:solidFill>
                  <a:srgbClr val="000000"/>
                </a:solidFill>
                <a:latin typeface="Arial"/>
                <a:cs typeface="Arial"/>
                <a:sym typeface="Arial"/>
              </a:rPr>
              <a:pPr defTabSz="1320714" hangingPunct="0"/>
              <a:t>6</a:t>
            </a:fld>
            <a:endParaRPr lang="zh-CN" altLang="en-US" sz="2600" kern="0">
              <a:solidFill>
                <a:srgbClr val="000000"/>
              </a:solidFill>
              <a:latin typeface="Arial"/>
              <a:cs typeface="Arial"/>
              <a:sym typeface="Arial"/>
            </a:endParaRPr>
          </a:p>
        </p:txBody>
      </p:sp>
    </p:spTree>
    <p:extLst>
      <p:ext uri="{BB962C8B-B14F-4D97-AF65-F5344CB8AC3E}">
        <p14:creationId xmlns:p14="http://schemas.microsoft.com/office/powerpoint/2010/main" val="323144279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9700" y="768350"/>
            <a:ext cx="6819900" cy="3836988"/>
          </a:xfrm>
        </p:spPr>
      </p:sp>
      <p:sp>
        <p:nvSpPr>
          <p:cNvPr id="3" name="备注占位符 2"/>
          <p:cNvSpPr>
            <a:spLocks noGrp="1"/>
          </p:cNvSpPr>
          <p:nvPr>
            <p:ph type="body" idx="1"/>
          </p:nvPr>
        </p:nvSpPr>
        <p:spPr/>
        <p:txBody>
          <a:bodyPr>
            <a:normAutofit/>
          </a:bodyPr>
          <a:lstStyle/>
          <a:p>
            <a:endParaRPr lang="en-US" altLang="zh-CN" dirty="0">
              <a:solidFill>
                <a:srgbClr val="C00000"/>
              </a:solidFill>
            </a:endParaRPr>
          </a:p>
        </p:txBody>
      </p:sp>
      <p:sp>
        <p:nvSpPr>
          <p:cNvPr id="4" name="灯片编号占位符 3"/>
          <p:cNvSpPr>
            <a:spLocks noGrp="1"/>
          </p:cNvSpPr>
          <p:nvPr>
            <p:ph type="sldNum" sz="quarter" idx="10"/>
          </p:nvPr>
        </p:nvSpPr>
        <p:spPr>
          <a:xfrm>
            <a:off x="3990070" y="10566884"/>
            <a:ext cx="3053356" cy="556151"/>
          </a:xfrm>
          <a:prstGeom prst="rect">
            <a:avLst/>
          </a:prstGeom>
        </p:spPr>
        <p:txBody>
          <a:bodyPr/>
          <a:lstStyle/>
          <a:p>
            <a:pPr defTabSz="1320714" hangingPunct="0"/>
            <a:fld id="{93ECC034-B435-42CE-80E3-A63FBB54ADD9}" type="slidenum">
              <a:rPr lang="zh-CN" altLang="en-US" sz="2600" kern="0">
                <a:solidFill>
                  <a:srgbClr val="000000"/>
                </a:solidFill>
                <a:latin typeface="Arial"/>
                <a:cs typeface="Arial"/>
                <a:sym typeface="Arial"/>
              </a:rPr>
              <a:pPr defTabSz="1320714" hangingPunct="0"/>
              <a:t>7</a:t>
            </a:fld>
            <a:endParaRPr lang="zh-CN" altLang="en-US" sz="2600" kern="0">
              <a:solidFill>
                <a:srgbClr val="000000"/>
              </a:solidFill>
              <a:latin typeface="Arial"/>
              <a:cs typeface="Arial"/>
              <a:sym typeface="Arial"/>
            </a:endParaRPr>
          </a:p>
        </p:txBody>
      </p:sp>
    </p:spTree>
    <p:extLst>
      <p:ext uri="{BB962C8B-B14F-4D97-AF65-F5344CB8AC3E}">
        <p14:creationId xmlns:p14="http://schemas.microsoft.com/office/powerpoint/2010/main" val="149109351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9700" y="768350"/>
            <a:ext cx="6819900" cy="3836988"/>
          </a:xfrm>
        </p:spPr>
      </p:sp>
      <p:sp>
        <p:nvSpPr>
          <p:cNvPr id="3" name="备注占位符 2"/>
          <p:cNvSpPr>
            <a:spLocks noGrp="1"/>
          </p:cNvSpPr>
          <p:nvPr>
            <p:ph type="body" idx="1"/>
          </p:nvPr>
        </p:nvSpPr>
        <p:spPr/>
        <p:txBody>
          <a:bodyPr>
            <a:normAutofit/>
          </a:bodyPr>
          <a:lstStyle/>
          <a:p>
            <a:endParaRPr lang="en-US" altLang="zh-CN" dirty="0">
              <a:solidFill>
                <a:srgbClr val="C00000"/>
              </a:solidFill>
            </a:endParaRPr>
          </a:p>
        </p:txBody>
      </p:sp>
      <p:sp>
        <p:nvSpPr>
          <p:cNvPr id="4" name="灯片编号占位符 3"/>
          <p:cNvSpPr>
            <a:spLocks noGrp="1"/>
          </p:cNvSpPr>
          <p:nvPr>
            <p:ph type="sldNum" sz="quarter" idx="10"/>
          </p:nvPr>
        </p:nvSpPr>
        <p:spPr>
          <a:xfrm>
            <a:off x="3990070" y="10566884"/>
            <a:ext cx="3053356" cy="556151"/>
          </a:xfrm>
          <a:prstGeom prst="rect">
            <a:avLst/>
          </a:prstGeom>
        </p:spPr>
        <p:txBody>
          <a:bodyPr/>
          <a:lstStyle/>
          <a:p>
            <a:pPr defTabSz="1320714" hangingPunct="0"/>
            <a:fld id="{93ECC034-B435-42CE-80E3-A63FBB54ADD9}" type="slidenum">
              <a:rPr lang="zh-CN" altLang="en-US" sz="2600" kern="0">
                <a:solidFill>
                  <a:srgbClr val="000000"/>
                </a:solidFill>
                <a:latin typeface="Arial"/>
                <a:cs typeface="Arial"/>
                <a:sym typeface="Arial"/>
              </a:rPr>
              <a:pPr defTabSz="1320714" hangingPunct="0"/>
              <a:t>8</a:t>
            </a:fld>
            <a:endParaRPr lang="zh-CN" altLang="en-US" sz="2600" kern="0">
              <a:solidFill>
                <a:srgbClr val="000000"/>
              </a:solidFill>
              <a:latin typeface="Arial"/>
              <a:cs typeface="Arial"/>
              <a:sym typeface="Arial"/>
            </a:endParaRPr>
          </a:p>
        </p:txBody>
      </p:sp>
    </p:spTree>
    <p:extLst>
      <p:ext uri="{BB962C8B-B14F-4D97-AF65-F5344CB8AC3E}">
        <p14:creationId xmlns:p14="http://schemas.microsoft.com/office/powerpoint/2010/main" val="310838126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 Id="rId5" Type="http://schemas.openxmlformats.org/officeDocument/2006/relationships/image" Target="../media/image4.png"/><Relationship Id="rId4" Type="http://schemas.openxmlformats.org/officeDocument/2006/relationships/image" Target="../media/image3.emf"/></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image" Target="../media/image5.png"/><Relationship Id="rId1" Type="http://schemas.openxmlformats.org/officeDocument/2006/relationships/slideMaster" Target="../slideMasters/slideMaster1.xml"/><Relationship Id="rId4" Type="http://schemas.openxmlformats.org/officeDocument/2006/relationships/image" Target="../media/image7.png"/></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E7E11A1-3656-4416-A33A-F213263A1364}"/>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66A08376-DA69-42B5-B367-44D06DBC69D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BA53D27B-2F9F-45C2-9037-436DC693C63F}"/>
              </a:ext>
            </a:extLst>
          </p:cNvPr>
          <p:cNvSpPr>
            <a:spLocks noGrp="1"/>
          </p:cNvSpPr>
          <p:nvPr>
            <p:ph type="dt" sz="half" idx="10"/>
          </p:nvPr>
        </p:nvSpPr>
        <p:spPr/>
        <p:txBody>
          <a:bodyPr/>
          <a:lstStyle/>
          <a:p>
            <a:fld id="{41694B5F-8832-4421-ABC5-E631FE43226D}" type="datetimeFigureOut">
              <a:rPr lang="zh-CN" altLang="en-US" smtClean="0"/>
              <a:t>2024/1/8</a:t>
            </a:fld>
            <a:endParaRPr lang="zh-CN" altLang="en-US"/>
          </a:p>
        </p:txBody>
      </p:sp>
      <p:sp>
        <p:nvSpPr>
          <p:cNvPr id="5" name="页脚占位符 4">
            <a:extLst>
              <a:ext uri="{FF2B5EF4-FFF2-40B4-BE49-F238E27FC236}">
                <a16:creationId xmlns:a16="http://schemas.microsoft.com/office/drawing/2014/main" id="{00F26FE3-F2B8-4D14-8AD2-6F164C766E63}"/>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59DDE17B-799A-417D-9727-5BBC8B6503CC}"/>
              </a:ext>
            </a:extLst>
          </p:cNvPr>
          <p:cNvSpPr>
            <a:spLocks noGrp="1"/>
          </p:cNvSpPr>
          <p:nvPr>
            <p:ph type="sldNum" sz="quarter" idx="12"/>
          </p:nvPr>
        </p:nvSpPr>
        <p:spPr/>
        <p:txBody>
          <a:bodyPr/>
          <a:lstStyle/>
          <a:p>
            <a:fld id="{F874138F-2BDB-466E-90D4-11645DD1BAA6}" type="slidenum">
              <a:rPr lang="zh-CN" altLang="en-US" smtClean="0"/>
              <a:t>‹#›</a:t>
            </a:fld>
            <a:endParaRPr lang="zh-CN" altLang="en-US"/>
          </a:p>
        </p:txBody>
      </p:sp>
    </p:spTree>
    <p:extLst>
      <p:ext uri="{BB962C8B-B14F-4D97-AF65-F5344CB8AC3E}">
        <p14:creationId xmlns:p14="http://schemas.microsoft.com/office/powerpoint/2010/main" val="154853012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AEED114-0D10-4C78-B92A-81027176C725}"/>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A3D3B14E-B84D-46E6-9BCD-B181BC5B23D8}"/>
              </a:ext>
            </a:extLst>
          </p:cNvPr>
          <p:cNvSpPr>
            <a:spLocks noGrp="1"/>
          </p:cNvSpPr>
          <p:nvPr>
            <p:ph idx="1"/>
          </p:nvPr>
        </p:nvSpPr>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77C732F8-8EB8-4D25-86F8-427DEE0DECDC}"/>
              </a:ext>
            </a:extLst>
          </p:cNvPr>
          <p:cNvSpPr>
            <a:spLocks noGrp="1"/>
          </p:cNvSpPr>
          <p:nvPr>
            <p:ph type="dt" sz="half" idx="10"/>
          </p:nvPr>
        </p:nvSpPr>
        <p:spPr/>
        <p:txBody>
          <a:bodyPr/>
          <a:lstStyle/>
          <a:p>
            <a:fld id="{41694B5F-8832-4421-ABC5-E631FE43226D}" type="datetimeFigureOut">
              <a:rPr lang="zh-CN" altLang="en-US" smtClean="0"/>
              <a:t>2024/1/8</a:t>
            </a:fld>
            <a:endParaRPr lang="zh-CN" altLang="en-US"/>
          </a:p>
        </p:txBody>
      </p:sp>
      <p:sp>
        <p:nvSpPr>
          <p:cNvPr id="5" name="页脚占位符 4">
            <a:extLst>
              <a:ext uri="{FF2B5EF4-FFF2-40B4-BE49-F238E27FC236}">
                <a16:creationId xmlns:a16="http://schemas.microsoft.com/office/drawing/2014/main" id="{F4BAD6EF-DAC1-4C39-AA1F-1902B21CF7CC}"/>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E4F4504D-18ED-4ED2-89DB-562D7B20C5F0}"/>
              </a:ext>
            </a:extLst>
          </p:cNvPr>
          <p:cNvSpPr>
            <a:spLocks noGrp="1"/>
          </p:cNvSpPr>
          <p:nvPr>
            <p:ph type="sldNum" sz="quarter" idx="12"/>
          </p:nvPr>
        </p:nvSpPr>
        <p:spPr/>
        <p:txBody>
          <a:bodyPr/>
          <a:lstStyle/>
          <a:p>
            <a:fld id="{F874138F-2BDB-466E-90D4-11645DD1BAA6}" type="slidenum">
              <a:rPr lang="zh-CN" altLang="en-US" smtClean="0"/>
              <a:t>‹#›</a:t>
            </a:fld>
            <a:endParaRPr lang="zh-CN" altLang="en-US"/>
          </a:p>
        </p:txBody>
      </p:sp>
    </p:spTree>
    <p:extLst>
      <p:ext uri="{BB962C8B-B14F-4D97-AF65-F5344CB8AC3E}">
        <p14:creationId xmlns:p14="http://schemas.microsoft.com/office/powerpoint/2010/main" val="289690883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52B1662-F56A-4CC6-AA73-5A7363F7ED46}"/>
              </a:ext>
            </a:extLst>
          </p:cNvPr>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3E531AA4-2E43-4637-9407-87B33F620D3A}"/>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编辑母版文本样式</a:t>
            </a:r>
          </a:p>
        </p:txBody>
      </p:sp>
      <p:sp>
        <p:nvSpPr>
          <p:cNvPr id="4" name="日期占位符 3">
            <a:extLst>
              <a:ext uri="{FF2B5EF4-FFF2-40B4-BE49-F238E27FC236}">
                <a16:creationId xmlns:a16="http://schemas.microsoft.com/office/drawing/2014/main" id="{D962047A-E827-4DC3-9D70-3F203C4C8BD3}"/>
              </a:ext>
            </a:extLst>
          </p:cNvPr>
          <p:cNvSpPr>
            <a:spLocks noGrp="1"/>
          </p:cNvSpPr>
          <p:nvPr>
            <p:ph type="dt" sz="half" idx="10"/>
          </p:nvPr>
        </p:nvSpPr>
        <p:spPr/>
        <p:txBody>
          <a:bodyPr/>
          <a:lstStyle/>
          <a:p>
            <a:fld id="{41694B5F-8832-4421-ABC5-E631FE43226D}" type="datetimeFigureOut">
              <a:rPr lang="zh-CN" altLang="en-US" smtClean="0"/>
              <a:t>2024/1/8</a:t>
            </a:fld>
            <a:endParaRPr lang="zh-CN" altLang="en-US"/>
          </a:p>
        </p:txBody>
      </p:sp>
      <p:sp>
        <p:nvSpPr>
          <p:cNvPr id="5" name="页脚占位符 4">
            <a:extLst>
              <a:ext uri="{FF2B5EF4-FFF2-40B4-BE49-F238E27FC236}">
                <a16:creationId xmlns:a16="http://schemas.microsoft.com/office/drawing/2014/main" id="{F1789867-EA25-47B7-9881-3DCAA15B4983}"/>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59CD3E44-DBE9-40DE-AA45-E66D93A01988}"/>
              </a:ext>
            </a:extLst>
          </p:cNvPr>
          <p:cNvSpPr>
            <a:spLocks noGrp="1"/>
          </p:cNvSpPr>
          <p:nvPr>
            <p:ph type="sldNum" sz="quarter" idx="12"/>
          </p:nvPr>
        </p:nvSpPr>
        <p:spPr/>
        <p:txBody>
          <a:bodyPr/>
          <a:lstStyle/>
          <a:p>
            <a:fld id="{F874138F-2BDB-466E-90D4-11645DD1BAA6}" type="slidenum">
              <a:rPr lang="zh-CN" altLang="en-US" smtClean="0"/>
              <a:t>‹#›</a:t>
            </a:fld>
            <a:endParaRPr lang="zh-CN" altLang="en-US"/>
          </a:p>
        </p:txBody>
      </p:sp>
    </p:spTree>
    <p:extLst>
      <p:ext uri="{BB962C8B-B14F-4D97-AF65-F5344CB8AC3E}">
        <p14:creationId xmlns:p14="http://schemas.microsoft.com/office/powerpoint/2010/main" val="97031959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49E24FC-BBBB-4F82-A3D0-0DAC510618A3}"/>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1D282C9E-8CB0-4849-B579-23C2FA5FC898}"/>
              </a:ext>
            </a:extLst>
          </p:cNvPr>
          <p:cNvSpPr>
            <a:spLocks noGrp="1"/>
          </p:cNvSpPr>
          <p:nvPr>
            <p:ph sz="half" idx="1"/>
          </p:nvPr>
        </p:nvSpPr>
        <p:spPr>
          <a:xfrm>
            <a:off x="838200" y="1825625"/>
            <a:ext cx="51816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a:extLst>
              <a:ext uri="{FF2B5EF4-FFF2-40B4-BE49-F238E27FC236}">
                <a16:creationId xmlns:a16="http://schemas.microsoft.com/office/drawing/2014/main" id="{4D203430-334B-4D4C-BBC8-F5B2FA52E92E}"/>
              </a:ext>
            </a:extLst>
          </p:cNvPr>
          <p:cNvSpPr>
            <a:spLocks noGrp="1"/>
          </p:cNvSpPr>
          <p:nvPr>
            <p:ph sz="half" idx="2"/>
          </p:nvPr>
        </p:nvSpPr>
        <p:spPr>
          <a:xfrm>
            <a:off x="6172200" y="1825625"/>
            <a:ext cx="51816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a:extLst>
              <a:ext uri="{FF2B5EF4-FFF2-40B4-BE49-F238E27FC236}">
                <a16:creationId xmlns:a16="http://schemas.microsoft.com/office/drawing/2014/main" id="{943B377B-C9B5-4730-BDCA-227647B36357}"/>
              </a:ext>
            </a:extLst>
          </p:cNvPr>
          <p:cNvSpPr>
            <a:spLocks noGrp="1"/>
          </p:cNvSpPr>
          <p:nvPr>
            <p:ph type="dt" sz="half" idx="10"/>
          </p:nvPr>
        </p:nvSpPr>
        <p:spPr/>
        <p:txBody>
          <a:bodyPr/>
          <a:lstStyle/>
          <a:p>
            <a:fld id="{41694B5F-8832-4421-ABC5-E631FE43226D}" type="datetimeFigureOut">
              <a:rPr lang="zh-CN" altLang="en-US" smtClean="0"/>
              <a:t>2024/1/8</a:t>
            </a:fld>
            <a:endParaRPr lang="zh-CN" altLang="en-US"/>
          </a:p>
        </p:txBody>
      </p:sp>
      <p:sp>
        <p:nvSpPr>
          <p:cNvPr id="6" name="页脚占位符 5">
            <a:extLst>
              <a:ext uri="{FF2B5EF4-FFF2-40B4-BE49-F238E27FC236}">
                <a16:creationId xmlns:a16="http://schemas.microsoft.com/office/drawing/2014/main" id="{88CF8D02-2760-4B17-8181-73AC57BD2526}"/>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4021FCFC-46B9-4E30-A3BA-7CC2691D15F5}"/>
              </a:ext>
            </a:extLst>
          </p:cNvPr>
          <p:cNvSpPr>
            <a:spLocks noGrp="1"/>
          </p:cNvSpPr>
          <p:nvPr>
            <p:ph type="sldNum" sz="quarter" idx="12"/>
          </p:nvPr>
        </p:nvSpPr>
        <p:spPr/>
        <p:txBody>
          <a:bodyPr/>
          <a:lstStyle/>
          <a:p>
            <a:fld id="{F874138F-2BDB-466E-90D4-11645DD1BAA6}" type="slidenum">
              <a:rPr lang="zh-CN" altLang="en-US" smtClean="0"/>
              <a:t>‹#›</a:t>
            </a:fld>
            <a:endParaRPr lang="zh-CN" altLang="en-US"/>
          </a:p>
        </p:txBody>
      </p:sp>
    </p:spTree>
    <p:extLst>
      <p:ext uri="{BB962C8B-B14F-4D97-AF65-F5344CB8AC3E}">
        <p14:creationId xmlns:p14="http://schemas.microsoft.com/office/powerpoint/2010/main" val="120457061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04FEDAF-BAF0-4AE2-8872-F94FF4CB3118}"/>
              </a:ext>
            </a:extLst>
          </p:cNvPr>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C74BB1DA-CCA1-4EC4-AF59-5ACB5098A83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4" name="内容占位符 3">
            <a:extLst>
              <a:ext uri="{FF2B5EF4-FFF2-40B4-BE49-F238E27FC236}">
                <a16:creationId xmlns:a16="http://schemas.microsoft.com/office/drawing/2014/main" id="{15DAE973-08A1-4620-A83F-058F05EAF686}"/>
              </a:ext>
            </a:extLst>
          </p:cNvPr>
          <p:cNvSpPr>
            <a:spLocks noGrp="1"/>
          </p:cNvSpPr>
          <p:nvPr>
            <p:ph sz="half" idx="2"/>
          </p:nvPr>
        </p:nvSpPr>
        <p:spPr>
          <a:xfrm>
            <a:off x="839788" y="2505075"/>
            <a:ext cx="5157787"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a:extLst>
              <a:ext uri="{FF2B5EF4-FFF2-40B4-BE49-F238E27FC236}">
                <a16:creationId xmlns:a16="http://schemas.microsoft.com/office/drawing/2014/main" id="{6C0CF8EB-341E-4B73-B0F9-77F8ED392E6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6" name="内容占位符 5">
            <a:extLst>
              <a:ext uri="{FF2B5EF4-FFF2-40B4-BE49-F238E27FC236}">
                <a16:creationId xmlns:a16="http://schemas.microsoft.com/office/drawing/2014/main" id="{55E10FFA-1D83-4DA8-BBA5-254D20DBE5D9}"/>
              </a:ext>
            </a:extLst>
          </p:cNvPr>
          <p:cNvSpPr>
            <a:spLocks noGrp="1"/>
          </p:cNvSpPr>
          <p:nvPr>
            <p:ph sz="quarter" idx="4"/>
          </p:nvPr>
        </p:nvSpPr>
        <p:spPr>
          <a:xfrm>
            <a:off x="6172200" y="2505075"/>
            <a:ext cx="5183188"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a:extLst>
              <a:ext uri="{FF2B5EF4-FFF2-40B4-BE49-F238E27FC236}">
                <a16:creationId xmlns:a16="http://schemas.microsoft.com/office/drawing/2014/main" id="{B676C39A-A589-4EF6-A4F1-8DF8BFC9C532}"/>
              </a:ext>
            </a:extLst>
          </p:cNvPr>
          <p:cNvSpPr>
            <a:spLocks noGrp="1"/>
          </p:cNvSpPr>
          <p:nvPr>
            <p:ph type="dt" sz="half" idx="10"/>
          </p:nvPr>
        </p:nvSpPr>
        <p:spPr/>
        <p:txBody>
          <a:bodyPr/>
          <a:lstStyle/>
          <a:p>
            <a:fld id="{41694B5F-8832-4421-ABC5-E631FE43226D}" type="datetimeFigureOut">
              <a:rPr lang="zh-CN" altLang="en-US" smtClean="0"/>
              <a:t>2024/1/8</a:t>
            </a:fld>
            <a:endParaRPr lang="zh-CN" altLang="en-US"/>
          </a:p>
        </p:txBody>
      </p:sp>
      <p:sp>
        <p:nvSpPr>
          <p:cNvPr id="8" name="页脚占位符 7">
            <a:extLst>
              <a:ext uri="{FF2B5EF4-FFF2-40B4-BE49-F238E27FC236}">
                <a16:creationId xmlns:a16="http://schemas.microsoft.com/office/drawing/2014/main" id="{169CCAD4-0514-4AB7-A49B-FBF9778F49F7}"/>
              </a:ext>
            </a:extLst>
          </p:cNvPr>
          <p:cNvSpPr>
            <a:spLocks noGrp="1"/>
          </p:cNvSpPr>
          <p:nvPr>
            <p:ph type="ftr" sz="quarter" idx="11"/>
          </p:nvPr>
        </p:nvSpPr>
        <p:spPr/>
        <p:txBody>
          <a:bodyPr/>
          <a:lstStyle/>
          <a:p>
            <a:endParaRPr lang="zh-CN" altLang="en-US"/>
          </a:p>
        </p:txBody>
      </p:sp>
      <p:sp>
        <p:nvSpPr>
          <p:cNvPr id="9" name="灯片编号占位符 8">
            <a:extLst>
              <a:ext uri="{FF2B5EF4-FFF2-40B4-BE49-F238E27FC236}">
                <a16:creationId xmlns:a16="http://schemas.microsoft.com/office/drawing/2014/main" id="{0E9F5322-D6B0-40EB-B67A-53E2722104B2}"/>
              </a:ext>
            </a:extLst>
          </p:cNvPr>
          <p:cNvSpPr>
            <a:spLocks noGrp="1"/>
          </p:cNvSpPr>
          <p:nvPr>
            <p:ph type="sldNum" sz="quarter" idx="12"/>
          </p:nvPr>
        </p:nvSpPr>
        <p:spPr/>
        <p:txBody>
          <a:bodyPr/>
          <a:lstStyle/>
          <a:p>
            <a:fld id="{F874138F-2BDB-466E-90D4-11645DD1BAA6}" type="slidenum">
              <a:rPr lang="zh-CN" altLang="en-US" smtClean="0"/>
              <a:t>‹#›</a:t>
            </a:fld>
            <a:endParaRPr lang="zh-CN" altLang="en-US"/>
          </a:p>
        </p:txBody>
      </p:sp>
    </p:spTree>
    <p:extLst>
      <p:ext uri="{BB962C8B-B14F-4D97-AF65-F5344CB8AC3E}">
        <p14:creationId xmlns:p14="http://schemas.microsoft.com/office/powerpoint/2010/main" val="381095726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E476788-5077-4DA0-A2FF-D8E646054A11}"/>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038E51E5-B572-447E-8734-61A0912FACEC}"/>
              </a:ext>
            </a:extLst>
          </p:cNvPr>
          <p:cNvSpPr>
            <a:spLocks noGrp="1"/>
          </p:cNvSpPr>
          <p:nvPr>
            <p:ph type="dt" sz="half" idx="10"/>
          </p:nvPr>
        </p:nvSpPr>
        <p:spPr/>
        <p:txBody>
          <a:bodyPr/>
          <a:lstStyle/>
          <a:p>
            <a:fld id="{41694B5F-8832-4421-ABC5-E631FE43226D}" type="datetimeFigureOut">
              <a:rPr lang="zh-CN" altLang="en-US" smtClean="0"/>
              <a:t>2024/1/8</a:t>
            </a:fld>
            <a:endParaRPr lang="zh-CN" altLang="en-US"/>
          </a:p>
        </p:txBody>
      </p:sp>
      <p:sp>
        <p:nvSpPr>
          <p:cNvPr id="4" name="页脚占位符 3">
            <a:extLst>
              <a:ext uri="{FF2B5EF4-FFF2-40B4-BE49-F238E27FC236}">
                <a16:creationId xmlns:a16="http://schemas.microsoft.com/office/drawing/2014/main" id="{C368B9AE-7FB7-42C8-A124-9288E606B41C}"/>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A890479C-F0CB-4471-BB9E-BBC4B4F84F4F}"/>
              </a:ext>
            </a:extLst>
          </p:cNvPr>
          <p:cNvSpPr>
            <a:spLocks noGrp="1"/>
          </p:cNvSpPr>
          <p:nvPr>
            <p:ph type="sldNum" sz="quarter" idx="12"/>
          </p:nvPr>
        </p:nvSpPr>
        <p:spPr/>
        <p:txBody>
          <a:bodyPr/>
          <a:lstStyle/>
          <a:p>
            <a:fld id="{F874138F-2BDB-466E-90D4-11645DD1BAA6}" type="slidenum">
              <a:rPr lang="zh-CN" altLang="en-US" smtClean="0"/>
              <a:t>‹#›</a:t>
            </a:fld>
            <a:endParaRPr lang="zh-CN" altLang="en-US"/>
          </a:p>
        </p:txBody>
      </p:sp>
    </p:spTree>
    <p:extLst>
      <p:ext uri="{BB962C8B-B14F-4D97-AF65-F5344CB8AC3E}">
        <p14:creationId xmlns:p14="http://schemas.microsoft.com/office/powerpoint/2010/main" val="42394778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8CD955C1-543F-4CF5-A0D4-471BCDA1E746}"/>
              </a:ext>
            </a:extLst>
          </p:cNvPr>
          <p:cNvSpPr>
            <a:spLocks noGrp="1"/>
          </p:cNvSpPr>
          <p:nvPr>
            <p:ph type="dt" sz="half" idx="10"/>
          </p:nvPr>
        </p:nvSpPr>
        <p:spPr/>
        <p:txBody>
          <a:bodyPr/>
          <a:lstStyle/>
          <a:p>
            <a:fld id="{41694B5F-8832-4421-ABC5-E631FE43226D}" type="datetimeFigureOut">
              <a:rPr lang="zh-CN" altLang="en-US" smtClean="0"/>
              <a:t>2024/1/8</a:t>
            </a:fld>
            <a:endParaRPr lang="zh-CN" altLang="en-US"/>
          </a:p>
        </p:txBody>
      </p:sp>
      <p:sp>
        <p:nvSpPr>
          <p:cNvPr id="3" name="页脚占位符 2">
            <a:extLst>
              <a:ext uri="{FF2B5EF4-FFF2-40B4-BE49-F238E27FC236}">
                <a16:creationId xmlns:a16="http://schemas.microsoft.com/office/drawing/2014/main" id="{54228C2F-6DCD-454C-9E94-41230E58D208}"/>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CD96CF60-7C2D-40C9-9B5D-E22E090CF50F}"/>
              </a:ext>
            </a:extLst>
          </p:cNvPr>
          <p:cNvSpPr>
            <a:spLocks noGrp="1"/>
          </p:cNvSpPr>
          <p:nvPr>
            <p:ph type="sldNum" sz="quarter" idx="12"/>
          </p:nvPr>
        </p:nvSpPr>
        <p:spPr/>
        <p:txBody>
          <a:bodyPr/>
          <a:lstStyle/>
          <a:p>
            <a:fld id="{F874138F-2BDB-466E-90D4-11645DD1BAA6}" type="slidenum">
              <a:rPr lang="zh-CN" altLang="en-US" smtClean="0"/>
              <a:t>‹#›</a:t>
            </a:fld>
            <a:endParaRPr lang="zh-CN" altLang="en-US"/>
          </a:p>
        </p:txBody>
      </p:sp>
    </p:spTree>
    <p:extLst>
      <p:ext uri="{BB962C8B-B14F-4D97-AF65-F5344CB8AC3E}">
        <p14:creationId xmlns:p14="http://schemas.microsoft.com/office/powerpoint/2010/main" val="154887346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06BC2FD-F4BA-47D4-90B3-62A835F2B154}"/>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FCE9E73E-8890-44DF-88DA-0340B936761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a:extLst>
              <a:ext uri="{FF2B5EF4-FFF2-40B4-BE49-F238E27FC236}">
                <a16:creationId xmlns:a16="http://schemas.microsoft.com/office/drawing/2014/main" id="{AFBE7238-DC77-4403-BF61-9DF009D602F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a:extLst>
              <a:ext uri="{FF2B5EF4-FFF2-40B4-BE49-F238E27FC236}">
                <a16:creationId xmlns:a16="http://schemas.microsoft.com/office/drawing/2014/main" id="{8BD6C3B8-2F97-469A-8DD3-AC0336570EC7}"/>
              </a:ext>
            </a:extLst>
          </p:cNvPr>
          <p:cNvSpPr>
            <a:spLocks noGrp="1"/>
          </p:cNvSpPr>
          <p:nvPr>
            <p:ph type="dt" sz="half" idx="10"/>
          </p:nvPr>
        </p:nvSpPr>
        <p:spPr/>
        <p:txBody>
          <a:bodyPr/>
          <a:lstStyle/>
          <a:p>
            <a:fld id="{41694B5F-8832-4421-ABC5-E631FE43226D}" type="datetimeFigureOut">
              <a:rPr lang="zh-CN" altLang="en-US" smtClean="0"/>
              <a:t>2024/1/8</a:t>
            </a:fld>
            <a:endParaRPr lang="zh-CN" altLang="en-US"/>
          </a:p>
        </p:txBody>
      </p:sp>
      <p:sp>
        <p:nvSpPr>
          <p:cNvPr id="6" name="页脚占位符 5">
            <a:extLst>
              <a:ext uri="{FF2B5EF4-FFF2-40B4-BE49-F238E27FC236}">
                <a16:creationId xmlns:a16="http://schemas.microsoft.com/office/drawing/2014/main" id="{FD49F415-E428-4E9D-A29F-4168CD188DFB}"/>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820E9584-C4B4-4F36-93A5-164A290728C6}"/>
              </a:ext>
            </a:extLst>
          </p:cNvPr>
          <p:cNvSpPr>
            <a:spLocks noGrp="1"/>
          </p:cNvSpPr>
          <p:nvPr>
            <p:ph type="sldNum" sz="quarter" idx="12"/>
          </p:nvPr>
        </p:nvSpPr>
        <p:spPr/>
        <p:txBody>
          <a:bodyPr/>
          <a:lstStyle/>
          <a:p>
            <a:fld id="{F874138F-2BDB-466E-90D4-11645DD1BAA6}" type="slidenum">
              <a:rPr lang="zh-CN" altLang="en-US" smtClean="0"/>
              <a:t>‹#›</a:t>
            </a:fld>
            <a:endParaRPr lang="zh-CN" altLang="en-US"/>
          </a:p>
        </p:txBody>
      </p:sp>
    </p:spTree>
    <p:extLst>
      <p:ext uri="{BB962C8B-B14F-4D97-AF65-F5344CB8AC3E}">
        <p14:creationId xmlns:p14="http://schemas.microsoft.com/office/powerpoint/2010/main" val="277987056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500E7C2-BF77-491E-9318-A59057F7E335}"/>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07CCEFF8-F95B-40C6-BA8E-181C0DA58D8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a:extLst>
              <a:ext uri="{FF2B5EF4-FFF2-40B4-BE49-F238E27FC236}">
                <a16:creationId xmlns:a16="http://schemas.microsoft.com/office/drawing/2014/main" id="{4582CD0A-DB11-4DEB-B5C8-EBD89A5CD3E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a:extLst>
              <a:ext uri="{FF2B5EF4-FFF2-40B4-BE49-F238E27FC236}">
                <a16:creationId xmlns:a16="http://schemas.microsoft.com/office/drawing/2014/main" id="{96E09C88-F8A5-4AD4-8A3A-0EBD6731D315}"/>
              </a:ext>
            </a:extLst>
          </p:cNvPr>
          <p:cNvSpPr>
            <a:spLocks noGrp="1"/>
          </p:cNvSpPr>
          <p:nvPr>
            <p:ph type="dt" sz="half" idx="10"/>
          </p:nvPr>
        </p:nvSpPr>
        <p:spPr/>
        <p:txBody>
          <a:bodyPr/>
          <a:lstStyle/>
          <a:p>
            <a:fld id="{41694B5F-8832-4421-ABC5-E631FE43226D}" type="datetimeFigureOut">
              <a:rPr lang="zh-CN" altLang="en-US" smtClean="0"/>
              <a:t>2024/1/8</a:t>
            </a:fld>
            <a:endParaRPr lang="zh-CN" altLang="en-US"/>
          </a:p>
        </p:txBody>
      </p:sp>
      <p:sp>
        <p:nvSpPr>
          <p:cNvPr id="6" name="页脚占位符 5">
            <a:extLst>
              <a:ext uri="{FF2B5EF4-FFF2-40B4-BE49-F238E27FC236}">
                <a16:creationId xmlns:a16="http://schemas.microsoft.com/office/drawing/2014/main" id="{D9F0E030-87A1-4D39-8BC9-179D5E3715F9}"/>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D0F7E602-D262-479E-AABD-AE2635B2107D}"/>
              </a:ext>
            </a:extLst>
          </p:cNvPr>
          <p:cNvSpPr>
            <a:spLocks noGrp="1"/>
          </p:cNvSpPr>
          <p:nvPr>
            <p:ph type="sldNum" sz="quarter" idx="12"/>
          </p:nvPr>
        </p:nvSpPr>
        <p:spPr/>
        <p:txBody>
          <a:bodyPr/>
          <a:lstStyle/>
          <a:p>
            <a:fld id="{F874138F-2BDB-466E-90D4-11645DD1BAA6}" type="slidenum">
              <a:rPr lang="zh-CN" altLang="en-US" smtClean="0"/>
              <a:t>‹#›</a:t>
            </a:fld>
            <a:endParaRPr lang="zh-CN" altLang="en-US"/>
          </a:p>
        </p:txBody>
      </p:sp>
    </p:spTree>
    <p:extLst>
      <p:ext uri="{BB962C8B-B14F-4D97-AF65-F5344CB8AC3E}">
        <p14:creationId xmlns:p14="http://schemas.microsoft.com/office/powerpoint/2010/main" val="349876868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9D309E7-4548-427F-8A1A-66194B146206}"/>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C6EDB48C-B031-4FE0-B338-13202E6E0953}"/>
              </a:ext>
            </a:extLst>
          </p:cNvPr>
          <p:cNvSpPr>
            <a:spLocks noGrp="1"/>
          </p:cNvSpPr>
          <p:nvPr>
            <p:ph type="body" orient="vert" idx="1"/>
          </p:nvPr>
        </p:nvSpPr>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16FF34A0-5A26-40B5-A986-74D743B9672C}"/>
              </a:ext>
            </a:extLst>
          </p:cNvPr>
          <p:cNvSpPr>
            <a:spLocks noGrp="1"/>
          </p:cNvSpPr>
          <p:nvPr>
            <p:ph type="dt" sz="half" idx="10"/>
          </p:nvPr>
        </p:nvSpPr>
        <p:spPr/>
        <p:txBody>
          <a:bodyPr/>
          <a:lstStyle/>
          <a:p>
            <a:fld id="{41694B5F-8832-4421-ABC5-E631FE43226D}" type="datetimeFigureOut">
              <a:rPr lang="zh-CN" altLang="en-US" smtClean="0"/>
              <a:t>2024/1/8</a:t>
            </a:fld>
            <a:endParaRPr lang="zh-CN" altLang="en-US"/>
          </a:p>
        </p:txBody>
      </p:sp>
      <p:sp>
        <p:nvSpPr>
          <p:cNvPr id="5" name="页脚占位符 4">
            <a:extLst>
              <a:ext uri="{FF2B5EF4-FFF2-40B4-BE49-F238E27FC236}">
                <a16:creationId xmlns:a16="http://schemas.microsoft.com/office/drawing/2014/main" id="{F4A6580A-2482-45D3-BFAB-CB549C5AC071}"/>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12884913-E5C8-4762-8FC4-300727150311}"/>
              </a:ext>
            </a:extLst>
          </p:cNvPr>
          <p:cNvSpPr>
            <a:spLocks noGrp="1"/>
          </p:cNvSpPr>
          <p:nvPr>
            <p:ph type="sldNum" sz="quarter" idx="12"/>
          </p:nvPr>
        </p:nvSpPr>
        <p:spPr/>
        <p:txBody>
          <a:bodyPr/>
          <a:lstStyle/>
          <a:p>
            <a:fld id="{F874138F-2BDB-466E-90D4-11645DD1BAA6}" type="slidenum">
              <a:rPr lang="zh-CN" altLang="en-US" smtClean="0"/>
              <a:t>‹#›</a:t>
            </a:fld>
            <a:endParaRPr lang="zh-CN" altLang="en-US"/>
          </a:p>
        </p:txBody>
      </p:sp>
    </p:spTree>
    <p:extLst>
      <p:ext uri="{BB962C8B-B14F-4D97-AF65-F5344CB8AC3E}">
        <p14:creationId xmlns:p14="http://schemas.microsoft.com/office/powerpoint/2010/main" val="175003648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4F0E9C78-0478-4CAB-9152-999B2955D5CE}"/>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DB8EDC81-2BC3-489B-B434-D1525635D743}"/>
              </a:ext>
            </a:extLst>
          </p:cNvPr>
          <p:cNvSpPr>
            <a:spLocks noGrp="1"/>
          </p:cNvSpPr>
          <p:nvPr>
            <p:ph type="body" orient="vert" idx="1"/>
          </p:nvPr>
        </p:nvSpPr>
        <p:spPr>
          <a:xfrm>
            <a:off x="838200" y="365125"/>
            <a:ext cx="7734300" cy="5811838"/>
          </a:xfr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9A46F35A-C7D5-4EFA-9251-56F987206260}"/>
              </a:ext>
            </a:extLst>
          </p:cNvPr>
          <p:cNvSpPr>
            <a:spLocks noGrp="1"/>
          </p:cNvSpPr>
          <p:nvPr>
            <p:ph type="dt" sz="half" idx="10"/>
          </p:nvPr>
        </p:nvSpPr>
        <p:spPr/>
        <p:txBody>
          <a:bodyPr/>
          <a:lstStyle/>
          <a:p>
            <a:fld id="{41694B5F-8832-4421-ABC5-E631FE43226D}" type="datetimeFigureOut">
              <a:rPr lang="zh-CN" altLang="en-US" smtClean="0"/>
              <a:t>2024/1/8</a:t>
            </a:fld>
            <a:endParaRPr lang="zh-CN" altLang="en-US"/>
          </a:p>
        </p:txBody>
      </p:sp>
      <p:sp>
        <p:nvSpPr>
          <p:cNvPr id="5" name="页脚占位符 4">
            <a:extLst>
              <a:ext uri="{FF2B5EF4-FFF2-40B4-BE49-F238E27FC236}">
                <a16:creationId xmlns:a16="http://schemas.microsoft.com/office/drawing/2014/main" id="{F3E70071-DA41-46A3-82CD-0D03404D0272}"/>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003AADED-DF25-4D86-8CAB-5D998A66749C}"/>
              </a:ext>
            </a:extLst>
          </p:cNvPr>
          <p:cNvSpPr>
            <a:spLocks noGrp="1"/>
          </p:cNvSpPr>
          <p:nvPr>
            <p:ph type="sldNum" sz="quarter" idx="12"/>
          </p:nvPr>
        </p:nvSpPr>
        <p:spPr/>
        <p:txBody>
          <a:bodyPr/>
          <a:lstStyle/>
          <a:p>
            <a:fld id="{F874138F-2BDB-466E-90D4-11645DD1BAA6}" type="slidenum">
              <a:rPr lang="zh-CN" altLang="en-US" smtClean="0"/>
              <a:t>‹#›</a:t>
            </a:fld>
            <a:endParaRPr lang="zh-CN" altLang="en-US"/>
          </a:p>
        </p:txBody>
      </p:sp>
    </p:spTree>
    <p:extLst>
      <p:ext uri="{BB962C8B-B14F-4D97-AF65-F5344CB8AC3E}">
        <p14:creationId xmlns:p14="http://schemas.microsoft.com/office/powerpoint/2010/main" val="300793577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9_标题和内容">
    <p:spTree>
      <p:nvGrpSpPr>
        <p:cNvPr id="1" name=""/>
        <p:cNvGrpSpPr/>
        <p:nvPr/>
      </p:nvGrpSpPr>
      <p:grpSpPr>
        <a:xfrm>
          <a:off x="0" y="0"/>
          <a:ext cx="0" cy="0"/>
          <a:chOff x="0" y="0"/>
          <a:chExt cx="0" cy="0"/>
        </a:xfrm>
      </p:grpSpPr>
      <p:pic>
        <p:nvPicPr>
          <p:cNvPr id="4" name="Picture 1"/>
          <p:cNvPicPr>
            <a:picLocks noChangeAspect="1" noChangeArrowheads="1"/>
          </p:cNvPicPr>
          <p:nvPr userDrawn="1"/>
        </p:nvPicPr>
        <p:blipFill>
          <a:blip r:embed="rId2" cstate="screen">
            <a:extLst>
              <a:ext uri="{28A0092B-C50C-407E-A947-70E740481C1C}">
                <a14:useLocalDpi xmlns:a14="http://schemas.microsoft.com/office/drawing/2010/main"/>
              </a:ext>
            </a:extLst>
          </a:blip>
          <a:stretch>
            <a:fillRect/>
          </a:stretch>
        </p:blipFill>
        <p:spPr bwMode="auto">
          <a:xfrm>
            <a:off x="1298" y="1"/>
            <a:ext cx="12191995" cy="3185158"/>
          </a:xfrm>
          <a:prstGeom prst="rect">
            <a:avLst/>
          </a:prstGeom>
          <a:noFill/>
          <a:ln>
            <a:noFill/>
          </a:ln>
          <a:extLst>
            <a:ext uri="{909E8E84-426E-40dd-AFC4-6F175D3DCCD1}">
              <a14:hiddenFill xmlns:a14="http://schemas.microsoft.com/office/drawing/2010/main" xmlns="">
                <a:solidFill>
                  <a:srgbClr val="FFFFFF">
                    <a:alpha val="29999"/>
                  </a:srgbClr>
                </a:solidFill>
              </a14:hiddenFill>
            </a:ext>
            <a:ext uri="{91240B29-F687-4f45-9708-019B960494DF}">
              <a14:hiddenLine xmlns:a14="http://schemas.microsoft.com/office/drawing/2010/main" xmlns="" w="9525" cap="flat">
                <a:solidFill>
                  <a:schemeClr val="tx1">
                    <a:alpha val="29999"/>
                  </a:schemeClr>
                </a:solidFill>
                <a:round/>
                <a:headEnd/>
                <a:tailEnd/>
              </a14:hiddenLine>
            </a:ext>
          </a:extLst>
        </p:spPr>
      </p:pic>
      <p:sp>
        <p:nvSpPr>
          <p:cNvPr id="9" name="副标题 2"/>
          <p:cNvSpPr txBox="1">
            <a:spLocks/>
          </p:cNvSpPr>
          <p:nvPr userDrawn="1"/>
        </p:nvSpPr>
        <p:spPr bwMode="auto">
          <a:xfrm>
            <a:off x="3662892" y="6301781"/>
            <a:ext cx="4866216" cy="391582"/>
          </a:xfrm>
          <a:prstGeom prst="rect">
            <a:avLst/>
          </a:prstGeom>
        </p:spPr>
        <p:txBody>
          <a:bodyPr/>
          <a:lstStyle>
            <a:lvl1pPr marL="342900" indent="-342900" algn="l" rtl="0" eaLnBrk="1" fontAlgn="base" hangingPunct="1">
              <a:spcBef>
                <a:spcPct val="20000"/>
              </a:spcBef>
              <a:spcAft>
                <a:spcPct val="0"/>
              </a:spcAft>
              <a:buClr>
                <a:srgbClr val="990000"/>
              </a:buClr>
              <a:buChar char="•"/>
              <a:defRPr sz="2400" b="1">
                <a:solidFill>
                  <a:schemeClr val="tx1"/>
                </a:solidFill>
                <a:latin typeface="+mn-lt"/>
                <a:ea typeface="+mn-ea"/>
                <a:cs typeface="+mn-cs"/>
              </a:defRPr>
            </a:lvl1pPr>
            <a:lvl2pPr marL="742950" indent="-285750" algn="l" rtl="0" eaLnBrk="1" fontAlgn="base" hangingPunct="1">
              <a:spcBef>
                <a:spcPct val="20000"/>
              </a:spcBef>
              <a:spcAft>
                <a:spcPct val="0"/>
              </a:spcAft>
              <a:buFont typeface="Arial" charset="0"/>
              <a:buChar char="›"/>
              <a:defRPr sz="2000">
                <a:solidFill>
                  <a:schemeClr val="tx1"/>
                </a:solidFill>
                <a:latin typeface="+mn-lt"/>
                <a:ea typeface="+mn-ea"/>
              </a:defRPr>
            </a:lvl2pPr>
            <a:lvl3pPr marL="1143000" indent="-228600" algn="l" rtl="0" eaLnBrk="1" fontAlgn="base" hangingPunct="1">
              <a:spcBef>
                <a:spcPct val="20000"/>
              </a:spcBef>
              <a:spcAft>
                <a:spcPct val="0"/>
              </a:spcAft>
              <a:buFont typeface="FrutigerNext LT Medium" pitchFamily="34" charset="0"/>
              <a:buChar char="»"/>
              <a:defRPr>
                <a:solidFill>
                  <a:schemeClr val="tx1"/>
                </a:solidFill>
                <a:latin typeface="+mn-lt"/>
                <a:ea typeface="+mn-ea"/>
              </a:defRPr>
            </a:lvl3pPr>
            <a:lvl4pPr marL="1600200" indent="-228600" algn="l" rtl="0" eaLnBrk="1" fontAlgn="base" hangingPunct="1">
              <a:spcBef>
                <a:spcPct val="20000"/>
              </a:spcBef>
              <a:spcAft>
                <a:spcPct val="0"/>
              </a:spcAft>
              <a:buChar char="–"/>
              <a:defRPr sz="1600">
                <a:solidFill>
                  <a:schemeClr val="tx1"/>
                </a:solidFill>
                <a:latin typeface="+mn-lt"/>
                <a:ea typeface="+mn-ea"/>
              </a:defRPr>
            </a:lvl4pPr>
            <a:lvl5pPr marL="2057400" indent="-228600" algn="l" rtl="0" eaLnBrk="1" fontAlgn="base" hangingPunct="1">
              <a:spcBef>
                <a:spcPct val="20000"/>
              </a:spcBef>
              <a:spcAft>
                <a:spcPct val="0"/>
              </a:spcAft>
              <a:buFont typeface="Arial" charset="0"/>
              <a:buChar char="~"/>
              <a:defRPr sz="1600">
                <a:solidFill>
                  <a:schemeClr val="tx1"/>
                </a:solidFill>
                <a:latin typeface="+mn-lt"/>
                <a:ea typeface="+mn-ea"/>
              </a:defRPr>
            </a:lvl5pPr>
            <a:lvl6pPr marL="2514600" indent="-228600" algn="l" rtl="0" eaLnBrk="1" fontAlgn="base" hangingPunct="1">
              <a:spcBef>
                <a:spcPct val="20000"/>
              </a:spcBef>
              <a:spcAft>
                <a:spcPct val="0"/>
              </a:spcAft>
              <a:buFont typeface="Arial" charset="0"/>
              <a:buChar char="~"/>
              <a:defRPr sz="1600">
                <a:solidFill>
                  <a:schemeClr val="tx1"/>
                </a:solidFill>
                <a:latin typeface="+mn-lt"/>
                <a:ea typeface="+mn-ea"/>
              </a:defRPr>
            </a:lvl6pPr>
            <a:lvl7pPr marL="2971800" indent="-228600" algn="l" rtl="0" eaLnBrk="1" fontAlgn="base" hangingPunct="1">
              <a:spcBef>
                <a:spcPct val="20000"/>
              </a:spcBef>
              <a:spcAft>
                <a:spcPct val="0"/>
              </a:spcAft>
              <a:buFont typeface="Arial" charset="0"/>
              <a:buChar char="~"/>
              <a:defRPr sz="1600">
                <a:solidFill>
                  <a:schemeClr val="tx1"/>
                </a:solidFill>
                <a:latin typeface="+mn-lt"/>
                <a:ea typeface="+mn-ea"/>
              </a:defRPr>
            </a:lvl7pPr>
            <a:lvl8pPr marL="3429000" indent="-228600" algn="l" rtl="0" eaLnBrk="1" fontAlgn="base" hangingPunct="1">
              <a:spcBef>
                <a:spcPct val="20000"/>
              </a:spcBef>
              <a:spcAft>
                <a:spcPct val="0"/>
              </a:spcAft>
              <a:buFont typeface="Arial" charset="0"/>
              <a:buChar char="~"/>
              <a:defRPr sz="1600">
                <a:solidFill>
                  <a:schemeClr val="tx1"/>
                </a:solidFill>
                <a:latin typeface="+mn-lt"/>
                <a:ea typeface="+mn-ea"/>
              </a:defRPr>
            </a:lvl8pPr>
            <a:lvl9pPr marL="3886200" indent="-228600" algn="l" rtl="0" eaLnBrk="1" fontAlgn="base" hangingPunct="1">
              <a:spcBef>
                <a:spcPct val="20000"/>
              </a:spcBef>
              <a:spcAft>
                <a:spcPct val="0"/>
              </a:spcAft>
              <a:buFont typeface="Arial" charset="0"/>
              <a:buChar char="~"/>
              <a:defRPr sz="1600">
                <a:solidFill>
                  <a:schemeClr val="tx1"/>
                </a:solidFill>
                <a:latin typeface="+mn-lt"/>
                <a:ea typeface="+mn-ea"/>
              </a:defRPr>
            </a:lvl9pPr>
          </a:lstStyle>
          <a:p>
            <a:pPr marL="0" indent="0" algn="ctr">
              <a:buFontTx/>
              <a:buNone/>
              <a:defRPr/>
            </a:pPr>
            <a:r>
              <a:rPr lang="en-US" altLang="zh-CN" sz="1600" b="0" dirty="0">
                <a:solidFill>
                  <a:srgbClr val="FFFFFF">
                    <a:lumMod val="50000"/>
                  </a:srgbClr>
                </a:solidFill>
              </a:rPr>
              <a:t>www.huawei.com</a:t>
            </a:r>
            <a:endParaRPr lang="zh-CN" altLang="en-US" sz="1600" b="0" dirty="0">
              <a:solidFill>
                <a:srgbClr val="FFFFFF">
                  <a:lumMod val="50000"/>
                </a:srgbClr>
              </a:solidFill>
            </a:endParaRPr>
          </a:p>
        </p:txBody>
      </p:sp>
      <p:pic>
        <p:nvPicPr>
          <p:cNvPr id="10" name="Picture 2"/>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239350" y="6208647"/>
            <a:ext cx="3113617" cy="577849"/>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pic>
        <p:nvPicPr>
          <p:cNvPr id="11" name="图片 154"/>
          <p:cNvPicPr>
            <a:picLocks noChangeAspect="1"/>
          </p:cNvPicPr>
          <p:nvPr userDrawn="1"/>
        </p:nvPicPr>
        <p:blipFill>
          <a:blip r:embed="rId4"/>
          <a:stretch>
            <a:fillRect/>
          </a:stretch>
        </p:blipFill>
        <p:spPr>
          <a:xfrm>
            <a:off x="0" y="1412777"/>
            <a:ext cx="12192000" cy="2962761"/>
          </a:xfrm>
          <a:prstGeom prst="rect">
            <a:avLst/>
          </a:prstGeom>
        </p:spPr>
      </p:pic>
      <p:pic>
        <p:nvPicPr>
          <p:cNvPr id="12" name="Picture 87" descr="图片3副本"/>
          <p:cNvPicPr>
            <a:picLocks noChangeAspect="1" noChangeArrowheads="1"/>
          </p:cNvPicPr>
          <p:nvPr userDrawn="1"/>
        </p:nvPicPr>
        <p:blipFill>
          <a:blip r:embed="rId5" cstate="screen">
            <a:extLst>
              <a:ext uri="{28A0092B-C50C-407E-A947-70E740481C1C}">
                <a14:useLocalDpi xmlns:a14="http://schemas.microsoft.com/office/drawing/2010/main"/>
              </a:ext>
            </a:extLst>
          </a:blip>
          <a:srcRect/>
          <a:stretch>
            <a:fillRect/>
          </a:stretch>
        </p:blipFill>
        <p:spPr bwMode="auto">
          <a:xfrm>
            <a:off x="9767450" y="6151271"/>
            <a:ext cx="1938827" cy="461066"/>
          </a:xfrm>
          <a:prstGeom prst="rect">
            <a:avLst/>
          </a:prstGeom>
          <a:noFill/>
        </p:spPr>
      </p:pic>
      <p:sp>
        <p:nvSpPr>
          <p:cNvPr id="13" name="副标题 2"/>
          <p:cNvSpPr>
            <a:spLocks noGrp="1"/>
          </p:cNvSpPr>
          <p:nvPr>
            <p:ph type="subTitle" idx="11"/>
          </p:nvPr>
        </p:nvSpPr>
        <p:spPr>
          <a:xfrm>
            <a:off x="911423" y="5160736"/>
            <a:ext cx="10223824" cy="960107"/>
          </a:xfrm>
          <a:prstGeom prst="rect">
            <a:avLst/>
          </a:prstGeom>
        </p:spPr>
        <p:txBody>
          <a:bodyPr/>
          <a:lstStyle>
            <a:lvl1pPr marL="0" indent="0" algn="l" fontAlgn="t">
              <a:buNone/>
              <a:defRPr sz="1600" b="0">
                <a:solidFill>
                  <a:schemeClr val="tx1">
                    <a:lumMod val="75000"/>
                    <a:lumOff val="25000"/>
                  </a:schemeClr>
                </a:solidFill>
                <a:latin typeface="+mj-lt"/>
              </a:defRPr>
            </a:lvl1pPr>
            <a:lvl2pPr marL="609539" indent="0" algn="ctr">
              <a:buNone/>
              <a:defRPr>
                <a:solidFill>
                  <a:schemeClr val="tx1">
                    <a:tint val="75000"/>
                  </a:schemeClr>
                </a:solidFill>
              </a:defRPr>
            </a:lvl2pPr>
            <a:lvl3pPr marL="1219078" indent="0" algn="ctr">
              <a:buNone/>
              <a:defRPr>
                <a:solidFill>
                  <a:schemeClr val="tx1">
                    <a:tint val="75000"/>
                  </a:schemeClr>
                </a:solidFill>
              </a:defRPr>
            </a:lvl3pPr>
            <a:lvl4pPr marL="1828617" indent="0" algn="ctr">
              <a:buNone/>
              <a:defRPr>
                <a:solidFill>
                  <a:schemeClr val="tx1">
                    <a:tint val="75000"/>
                  </a:schemeClr>
                </a:solidFill>
              </a:defRPr>
            </a:lvl4pPr>
            <a:lvl5pPr marL="2438156" indent="0" algn="ctr">
              <a:buNone/>
              <a:defRPr>
                <a:solidFill>
                  <a:schemeClr val="tx1">
                    <a:tint val="75000"/>
                  </a:schemeClr>
                </a:solidFill>
              </a:defRPr>
            </a:lvl5pPr>
            <a:lvl6pPr marL="3047695" indent="0" algn="ctr">
              <a:buNone/>
              <a:defRPr>
                <a:solidFill>
                  <a:schemeClr val="tx1">
                    <a:tint val="75000"/>
                  </a:schemeClr>
                </a:solidFill>
              </a:defRPr>
            </a:lvl6pPr>
            <a:lvl7pPr marL="3657235" indent="0" algn="ctr">
              <a:buNone/>
              <a:defRPr>
                <a:solidFill>
                  <a:schemeClr val="tx1">
                    <a:tint val="75000"/>
                  </a:schemeClr>
                </a:solidFill>
              </a:defRPr>
            </a:lvl7pPr>
            <a:lvl8pPr marL="4266773" indent="0" algn="ctr">
              <a:buNone/>
              <a:defRPr>
                <a:solidFill>
                  <a:schemeClr val="tx1">
                    <a:tint val="75000"/>
                  </a:schemeClr>
                </a:solidFill>
              </a:defRPr>
            </a:lvl8pPr>
            <a:lvl9pPr marL="4876312" indent="0" algn="ctr">
              <a:buNone/>
              <a:defRPr>
                <a:solidFill>
                  <a:schemeClr val="tx1">
                    <a:tint val="75000"/>
                  </a:schemeClr>
                </a:solidFill>
              </a:defRPr>
            </a:lvl9pPr>
          </a:lstStyle>
          <a:p>
            <a:r>
              <a:rPr lang="zh-CN" altLang="en-US"/>
              <a:t>单击此处编辑母版副标题样式</a:t>
            </a:r>
            <a:endParaRPr lang="zh-CN" altLang="zh-CN" dirty="0"/>
          </a:p>
        </p:txBody>
      </p:sp>
      <p:sp>
        <p:nvSpPr>
          <p:cNvPr id="15" name="标题 1"/>
          <p:cNvSpPr>
            <a:spLocks noGrp="1"/>
          </p:cNvSpPr>
          <p:nvPr>
            <p:ph type="title"/>
          </p:nvPr>
        </p:nvSpPr>
        <p:spPr>
          <a:xfrm>
            <a:off x="911423" y="3621022"/>
            <a:ext cx="10223824" cy="1536170"/>
          </a:xfrm>
          <a:prstGeom prst="rect">
            <a:avLst/>
          </a:prstGeom>
        </p:spPr>
        <p:txBody>
          <a:bodyPr/>
          <a:lstStyle>
            <a:lvl1pPr>
              <a:lnSpc>
                <a:spcPts val="5332"/>
              </a:lnSpc>
              <a:defRPr sz="3999">
                <a:solidFill>
                  <a:schemeClr val="accent1"/>
                </a:solidFill>
                <a:latin typeface="+mj-lt"/>
              </a:defRPr>
            </a:lvl1pPr>
          </a:lstStyle>
          <a:p>
            <a:r>
              <a:rPr lang="zh-CN" altLang="en-US"/>
              <a:t>单击此处编辑母版标题样式</a:t>
            </a:r>
            <a:endParaRPr lang="zh-CN" altLang="en-US" dirty="0"/>
          </a:p>
        </p:txBody>
      </p:sp>
    </p:spTree>
    <p:extLst>
      <p:ext uri="{BB962C8B-B14F-4D97-AF65-F5344CB8AC3E}">
        <p14:creationId xmlns:p14="http://schemas.microsoft.com/office/powerpoint/2010/main" val="390311688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3_标题和内容">
    <p:spTree>
      <p:nvGrpSpPr>
        <p:cNvPr id="1" name=""/>
        <p:cNvGrpSpPr/>
        <p:nvPr/>
      </p:nvGrpSpPr>
      <p:grpSpPr>
        <a:xfrm>
          <a:off x="0" y="0"/>
          <a:ext cx="0" cy="0"/>
          <a:chOff x="0" y="0"/>
          <a:chExt cx="0" cy="0"/>
        </a:xfrm>
      </p:grpSpPr>
      <p:pic>
        <p:nvPicPr>
          <p:cNvPr id="2" name="Picture 87" descr="图片3副本"/>
          <p:cNvPicPr>
            <a:picLocks noChangeAspect="1" noChangeArrowheads="1"/>
          </p:cNvPicPr>
          <p:nvPr userDrawn="1"/>
        </p:nvPicPr>
        <p:blipFill>
          <a:blip r:embed="rId2" cstate="screen">
            <a:extLst>
              <a:ext uri="{28A0092B-C50C-407E-A947-70E740481C1C}">
                <a14:useLocalDpi xmlns:a14="http://schemas.microsoft.com/office/drawing/2010/main"/>
              </a:ext>
            </a:extLst>
          </a:blip>
          <a:srcRect/>
          <a:stretch>
            <a:fillRect/>
          </a:stretch>
        </p:blipFill>
        <p:spPr bwMode="auto">
          <a:xfrm>
            <a:off x="10032437" y="6277945"/>
            <a:ext cx="1747477" cy="415419"/>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pic>
        <p:nvPicPr>
          <p:cNvPr id="6" name="图片 86"/>
          <p:cNvPicPr>
            <a:picLocks noChangeAspect="1"/>
          </p:cNvPicPr>
          <p:nvPr userDrawn="1"/>
        </p:nvPicPr>
        <p:blipFill rotWithShape="1">
          <a:blip r:embed="rId3" cstate="email">
            <a:alphaModFix amt="25000"/>
            <a:extLst>
              <a:ext uri="{28A0092B-C50C-407E-A947-70E740481C1C}">
                <a14:useLocalDpi xmlns:a14="http://schemas.microsoft.com/office/drawing/2010/main"/>
              </a:ext>
            </a:extLst>
          </a:blip>
          <a:srcRect b="39770"/>
          <a:stretch/>
        </p:blipFill>
        <p:spPr>
          <a:xfrm>
            <a:off x="3791743" y="3794235"/>
            <a:ext cx="5031902" cy="3018358"/>
          </a:xfrm>
          <a:prstGeom prst="rect">
            <a:avLst/>
          </a:prstGeom>
        </p:spPr>
      </p:pic>
      <p:pic>
        <p:nvPicPr>
          <p:cNvPr id="7" name="Picture 6"/>
          <p:cNvPicPr>
            <a:picLocks noChangeAspect="1" noChangeArrowheads="1"/>
          </p:cNvPicPr>
          <p:nvPr userDrawn="1"/>
        </p:nvPicPr>
        <p:blipFill>
          <a:blip r:embed="rId4">
            <a:extLst>
              <a:ext uri="{28A0092B-C50C-407E-A947-70E740481C1C}">
                <a14:useLocalDpi xmlns:a14="http://schemas.microsoft.com/office/drawing/2010/main" val="0"/>
              </a:ext>
            </a:extLst>
          </a:blip>
          <a:stretch>
            <a:fillRect/>
          </a:stretch>
        </p:blipFill>
        <p:spPr bwMode="auto">
          <a:xfrm>
            <a:off x="2352559" y="1094340"/>
            <a:ext cx="7502413" cy="3751207"/>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pic>
      <p:sp>
        <p:nvSpPr>
          <p:cNvPr id="8" name="TextBox 7"/>
          <p:cNvSpPr txBox="1"/>
          <p:nvPr userDrawn="1"/>
        </p:nvSpPr>
        <p:spPr>
          <a:xfrm>
            <a:off x="3403600" y="3717032"/>
            <a:ext cx="5487688" cy="1128515"/>
          </a:xfrm>
          <a:prstGeom prst="rect">
            <a:avLst/>
          </a:prstGeom>
          <a:noFill/>
        </p:spPr>
        <p:txBody>
          <a:bodyPr wrap="square" lIns="121912" tIns="60956" rIns="121912" bIns="60956">
            <a:spAutoFit/>
          </a:bodyPr>
          <a:lstStyle/>
          <a:p>
            <a:pPr algn="just" defTabSz="1219078" fontAlgn="auto">
              <a:spcBef>
                <a:spcPts val="0"/>
              </a:spcBef>
              <a:spcAft>
                <a:spcPts val="0"/>
              </a:spcAft>
              <a:defRPr/>
            </a:pPr>
            <a:r>
              <a:rPr lang="en-US" altLang="zh-CN" sz="900" b="1" dirty="0">
                <a:solidFill>
                  <a:prstClr val="black">
                    <a:lumMod val="65000"/>
                    <a:lumOff val="35000"/>
                  </a:prstClr>
                </a:solidFill>
                <a:latin typeface="Arial"/>
                <a:ea typeface="微软雅黑"/>
              </a:rPr>
              <a:t>Copyright©2015 Huawei Technologies Co., Ltd. All Rights Reserved.</a:t>
            </a:r>
            <a:endParaRPr lang="zh-CN" altLang="zh-CN" sz="900" dirty="0">
              <a:solidFill>
                <a:prstClr val="black">
                  <a:lumMod val="65000"/>
                  <a:lumOff val="35000"/>
                </a:prstClr>
              </a:solidFill>
              <a:latin typeface="Arial"/>
              <a:ea typeface="微软雅黑"/>
            </a:endParaRPr>
          </a:p>
          <a:p>
            <a:pPr algn="just" defTabSz="1219078" fontAlgn="auto">
              <a:spcBef>
                <a:spcPts val="0"/>
              </a:spcBef>
              <a:spcAft>
                <a:spcPts val="0"/>
              </a:spcAft>
              <a:defRPr/>
            </a:pPr>
            <a:r>
              <a:rPr lang="en-US" altLang="zh-CN" sz="900" dirty="0">
                <a:solidFill>
                  <a:prstClr val="black">
                    <a:lumMod val="65000"/>
                    <a:lumOff val="35000"/>
                  </a:prstClr>
                </a:solidFill>
                <a:latin typeface="Arial"/>
                <a:ea typeface="微软雅黑"/>
              </a:rPr>
              <a:t>The information in this document may contain predictive statements including, without limitation, statements regarding the future financial and operating results, future product portfolio, new technology, etc. There are a number of factors that could cause actual results and developments to differ materially from those expressed or implied in the predictive statements. Therefore, such information is provided for reference purpose only and constitutes neither an offer nor an acceptance. Huawei may change the information at any time without notice. </a:t>
            </a:r>
            <a:endParaRPr lang="zh-CN" altLang="zh-CN" sz="900" dirty="0">
              <a:solidFill>
                <a:prstClr val="black">
                  <a:lumMod val="65000"/>
                  <a:lumOff val="35000"/>
                </a:prstClr>
              </a:solidFill>
              <a:latin typeface="Arial"/>
              <a:ea typeface="微软雅黑"/>
            </a:endParaRPr>
          </a:p>
        </p:txBody>
      </p:sp>
    </p:spTree>
    <p:extLst>
      <p:ext uri="{BB962C8B-B14F-4D97-AF65-F5344CB8AC3E}">
        <p14:creationId xmlns:p14="http://schemas.microsoft.com/office/powerpoint/2010/main" val="328422782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F2D8F12D-314F-4B9F-8560-1DA95E70BE9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id="{FAABBEB2-37AD-4C8F-8869-01AA33482E2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83312001-51E6-4A4F-883B-A87A6795084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1694B5F-8832-4421-ABC5-E631FE43226D}" type="datetimeFigureOut">
              <a:rPr lang="zh-CN" altLang="en-US" smtClean="0"/>
              <a:t>2024/1/8</a:t>
            </a:fld>
            <a:endParaRPr lang="zh-CN" altLang="en-US"/>
          </a:p>
        </p:txBody>
      </p:sp>
      <p:sp>
        <p:nvSpPr>
          <p:cNvPr id="5" name="页脚占位符 4">
            <a:extLst>
              <a:ext uri="{FF2B5EF4-FFF2-40B4-BE49-F238E27FC236}">
                <a16:creationId xmlns:a16="http://schemas.microsoft.com/office/drawing/2014/main" id="{C70E29B1-5776-429A-94CC-D9C003E93C1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a:extLst>
              <a:ext uri="{FF2B5EF4-FFF2-40B4-BE49-F238E27FC236}">
                <a16:creationId xmlns:a16="http://schemas.microsoft.com/office/drawing/2014/main" id="{C085289B-1125-499D-9593-EB06DE272A8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874138F-2BDB-466E-90D4-11645DD1BAA6}" type="slidenum">
              <a:rPr lang="zh-CN" altLang="en-US" smtClean="0"/>
              <a:t>‹#›</a:t>
            </a:fld>
            <a:endParaRPr lang="zh-CN" altLang="en-US"/>
          </a:p>
        </p:txBody>
      </p:sp>
    </p:spTree>
    <p:extLst>
      <p:ext uri="{BB962C8B-B14F-4D97-AF65-F5344CB8AC3E}">
        <p14:creationId xmlns:p14="http://schemas.microsoft.com/office/powerpoint/2010/main" val="303779909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zh-CN" altLang="en-US" b="1" dirty="0">
                <a:latin typeface="+mn-ea"/>
                <a:ea typeface="+mn-ea"/>
              </a:rPr>
              <a:t>现代</a:t>
            </a:r>
            <a:r>
              <a:rPr lang="en-US" altLang="zh-CN" b="1" dirty="0">
                <a:latin typeface="+mn-ea"/>
                <a:ea typeface="+mn-ea"/>
              </a:rPr>
              <a:t>C++</a:t>
            </a:r>
            <a:r>
              <a:rPr lang="zh-CN" altLang="en-US" b="1" dirty="0">
                <a:latin typeface="+mn-ea"/>
                <a:ea typeface="+mn-ea"/>
              </a:rPr>
              <a:t>新特性</a:t>
            </a:r>
            <a:br>
              <a:rPr lang="en-US" altLang="zh-CN" b="1" dirty="0">
                <a:latin typeface="+mn-ea"/>
                <a:ea typeface="+mn-ea"/>
              </a:rPr>
            </a:br>
            <a:r>
              <a:rPr lang="en-US" altLang="zh-CN" b="1" dirty="0">
                <a:latin typeface="+mn-ea"/>
                <a:ea typeface="+mn-ea"/>
              </a:rPr>
              <a:t>		          </a:t>
            </a:r>
            <a:r>
              <a:rPr lang="en-US" altLang="zh-CN" sz="3200" dirty="0">
                <a:latin typeface="+mn-ea"/>
                <a:ea typeface="+mn-ea"/>
              </a:rPr>
              <a:t>---- </a:t>
            </a:r>
            <a:r>
              <a:rPr lang="zh-CN" altLang="en-US" sz="3200" dirty="0">
                <a:latin typeface="+mn-ea"/>
                <a:ea typeface="+mn-ea"/>
              </a:rPr>
              <a:t>面向对象语法改进</a:t>
            </a:r>
          </a:p>
        </p:txBody>
      </p:sp>
    </p:spTree>
    <p:extLst>
      <p:ext uri="{BB962C8B-B14F-4D97-AF65-F5344CB8AC3E}">
        <p14:creationId xmlns:p14="http://schemas.microsoft.com/office/powerpoint/2010/main" val="1886208384"/>
      </p:ext>
    </p:extLst>
  </p:cSld>
  <p:clrMapOvr>
    <a:masterClrMapping/>
  </p:clrMapOvr>
  <mc:AlternateContent xmlns:mc="http://schemas.openxmlformats.org/markup-compatibility/2006" xmlns:p14="http://schemas.microsoft.com/office/powerpoint/2010/main">
    <mc:Choice Requires="p14">
      <p:transition p14:dur="0" advClick="0" advTm="8000"/>
    </mc:Choice>
    <mc:Fallback xmlns="">
      <p:transition advClick="0" advTm="8000"/>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p:nvPr/>
        </p:nvSpPr>
        <p:spPr>
          <a:xfrm>
            <a:off x="1232300" y="1054215"/>
            <a:ext cx="9801225" cy="369332"/>
          </a:xfrm>
          <a:prstGeom prst="rect">
            <a:avLst/>
          </a:prstGeom>
        </p:spPr>
        <p:txBody>
          <a:bodyPr wrap="square">
            <a:spAutoFit/>
          </a:bodyPr>
          <a:lstStyle/>
          <a:p>
            <a:r>
              <a:rPr lang="en-US" altLang="zh-CN" dirty="0" err="1">
                <a:latin typeface="微软雅黑" panose="020B0503020204020204" pitchFamily="34" charset="-122"/>
                <a:ea typeface="微软雅黑" panose="020B0503020204020204" pitchFamily="34" charset="-122"/>
              </a:rPr>
              <a:t>typedef</a:t>
            </a:r>
            <a:r>
              <a:rPr lang="zh-CN" altLang="en-US" dirty="0">
                <a:latin typeface="微软雅黑" panose="020B0503020204020204" pitchFamily="34" charset="-122"/>
                <a:ea typeface="微软雅黑" panose="020B0503020204020204" pitchFamily="34" charset="-122"/>
              </a:rPr>
              <a:t>定义类型时，语法并不是很直观，容易搞错类型名所在的位置。</a:t>
            </a:r>
            <a:endParaRPr lang="en-US" altLang="zh-CN" dirty="0">
              <a:latin typeface="微软雅黑" panose="020B0503020204020204" pitchFamily="34" charset="-122"/>
              <a:ea typeface="微软雅黑" panose="020B0503020204020204" pitchFamily="34" charset="-122"/>
            </a:endParaRPr>
          </a:p>
        </p:txBody>
      </p:sp>
      <p:sp>
        <p:nvSpPr>
          <p:cNvPr id="3" name="矩形 2"/>
          <p:cNvSpPr/>
          <p:nvPr/>
        </p:nvSpPr>
        <p:spPr>
          <a:xfrm>
            <a:off x="2299098" y="1507000"/>
            <a:ext cx="7667625" cy="646331"/>
          </a:xfrm>
          <a:prstGeom prst="rect">
            <a:avLst/>
          </a:prstGeom>
          <a:solidFill>
            <a:schemeClr val="tx1"/>
          </a:solidFill>
        </p:spPr>
        <p:txBody>
          <a:bodyPr wrap="square">
            <a:spAutoFit/>
          </a:bodyPr>
          <a:lstStyle/>
          <a:p>
            <a:r>
              <a:rPr lang="en-US" altLang="zh-CN" dirty="0" err="1">
                <a:solidFill>
                  <a:srgbClr val="569CD6"/>
                </a:solidFill>
                <a:latin typeface="Lucida Console" panose="020B0609040504020204" pitchFamily="49" charset="0"/>
              </a:rPr>
              <a:t>typedef</a:t>
            </a:r>
            <a:r>
              <a:rPr lang="en-US" altLang="zh-CN" dirty="0">
                <a:solidFill>
                  <a:srgbClr val="D4D4D4"/>
                </a:solidFill>
                <a:latin typeface="Lucida Console" panose="020B0609040504020204" pitchFamily="49" charset="0"/>
              </a:rPr>
              <a:t> </a:t>
            </a:r>
            <a:r>
              <a:rPr lang="en-US" altLang="zh-CN" dirty="0">
                <a:solidFill>
                  <a:srgbClr val="569CD6"/>
                </a:solidFill>
                <a:latin typeface="Lucida Console" panose="020B0609040504020204" pitchFamily="49" charset="0"/>
              </a:rPr>
              <a:t>unsigned</a:t>
            </a:r>
            <a:r>
              <a:rPr lang="en-US" altLang="zh-CN" dirty="0">
                <a:solidFill>
                  <a:srgbClr val="D4D4D4"/>
                </a:solidFill>
                <a:latin typeface="Lucida Console" panose="020B0609040504020204" pitchFamily="49" charset="0"/>
              </a:rPr>
              <a:t> </a:t>
            </a:r>
            <a:r>
              <a:rPr lang="en-US" altLang="zh-CN" dirty="0">
                <a:solidFill>
                  <a:srgbClr val="569CD6"/>
                </a:solidFill>
                <a:latin typeface="Lucida Console" panose="020B0609040504020204" pitchFamily="49" charset="0"/>
              </a:rPr>
              <a:t>long</a:t>
            </a:r>
            <a:r>
              <a:rPr lang="en-US" altLang="zh-CN" dirty="0">
                <a:solidFill>
                  <a:srgbClr val="D4D4D4"/>
                </a:solidFill>
                <a:latin typeface="Lucida Console" panose="020B0609040504020204" pitchFamily="49" charset="0"/>
              </a:rPr>
              <a:t> DWORD;</a:t>
            </a:r>
          </a:p>
          <a:p>
            <a:r>
              <a:rPr lang="en-US" altLang="zh-CN" dirty="0" err="1">
                <a:solidFill>
                  <a:srgbClr val="569CD6"/>
                </a:solidFill>
                <a:latin typeface="Lucida Console" panose="020B0609040504020204" pitchFamily="49" charset="0"/>
              </a:rPr>
              <a:t>typedef</a:t>
            </a:r>
            <a:r>
              <a:rPr lang="en-US" altLang="zh-CN" dirty="0">
                <a:solidFill>
                  <a:srgbClr val="D4D4D4"/>
                </a:solidFill>
                <a:latin typeface="Lucida Console" panose="020B0609040504020204" pitchFamily="49" charset="0"/>
              </a:rPr>
              <a:t> </a:t>
            </a:r>
            <a:r>
              <a:rPr lang="en-US" altLang="zh-CN" dirty="0">
                <a:solidFill>
                  <a:srgbClr val="569CD6"/>
                </a:solidFill>
                <a:latin typeface="Lucida Console" panose="020B0609040504020204" pitchFamily="49" charset="0"/>
              </a:rPr>
              <a:t>void</a:t>
            </a:r>
            <a:r>
              <a:rPr lang="en-US" altLang="zh-CN" dirty="0">
                <a:solidFill>
                  <a:srgbClr val="D4D4D4"/>
                </a:solidFill>
                <a:latin typeface="Lucida Console" panose="020B0609040504020204" pitchFamily="49" charset="0"/>
              </a:rPr>
              <a:t> (*</a:t>
            </a:r>
            <a:r>
              <a:rPr lang="en-US" altLang="zh-CN" dirty="0">
                <a:solidFill>
                  <a:srgbClr val="9CDCFE"/>
                </a:solidFill>
                <a:latin typeface="Lucida Console" panose="020B0609040504020204" pitchFamily="49" charset="0"/>
              </a:rPr>
              <a:t>FP</a:t>
            </a:r>
            <a:r>
              <a:rPr lang="en-US" altLang="zh-CN" dirty="0">
                <a:solidFill>
                  <a:srgbClr val="D4D4D4"/>
                </a:solidFill>
                <a:latin typeface="Lucida Console" panose="020B0609040504020204" pitchFamily="49" charset="0"/>
              </a:rPr>
              <a:t>)(</a:t>
            </a:r>
            <a:r>
              <a:rPr lang="en-US" altLang="zh-CN" dirty="0" err="1">
                <a:solidFill>
                  <a:srgbClr val="569CD6"/>
                </a:solidFill>
                <a:latin typeface="Lucida Console" panose="020B0609040504020204" pitchFamily="49" charset="0"/>
              </a:rPr>
              <a:t>int</a:t>
            </a:r>
            <a:r>
              <a:rPr lang="en-US" altLang="zh-CN" dirty="0">
                <a:solidFill>
                  <a:srgbClr val="D4D4D4"/>
                </a:solidFill>
                <a:latin typeface="Lucida Console" panose="020B0609040504020204" pitchFamily="49" charset="0"/>
              </a:rPr>
              <a:t>, </a:t>
            </a:r>
            <a:r>
              <a:rPr lang="en-US" altLang="zh-CN" dirty="0" err="1">
                <a:solidFill>
                  <a:srgbClr val="569CD6"/>
                </a:solidFill>
                <a:latin typeface="Lucida Console" panose="020B0609040504020204" pitchFamily="49" charset="0"/>
              </a:rPr>
              <a:t>const</a:t>
            </a:r>
            <a:r>
              <a:rPr lang="en-US" altLang="zh-CN" dirty="0">
                <a:solidFill>
                  <a:srgbClr val="D4D4D4"/>
                </a:solidFill>
                <a:latin typeface="Lucida Console" panose="020B0609040504020204" pitchFamily="49" charset="0"/>
              </a:rPr>
              <a:t> </a:t>
            </a:r>
            <a:r>
              <a:rPr lang="en-US" altLang="zh-CN" dirty="0" err="1">
                <a:solidFill>
                  <a:srgbClr val="4EC9B0"/>
                </a:solidFill>
                <a:latin typeface="Lucida Console" panose="020B0609040504020204" pitchFamily="49" charset="0"/>
              </a:rPr>
              <a:t>std</a:t>
            </a:r>
            <a:r>
              <a:rPr lang="en-US" altLang="zh-CN" dirty="0">
                <a:solidFill>
                  <a:srgbClr val="D4D4D4"/>
                </a:solidFill>
                <a:latin typeface="Lucida Console" panose="020B0609040504020204" pitchFamily="49" charset="0"/>
              </a:rPr>
              <a:t>::</a:t>
            </a:r>
            <a:r>
              <a:rPr lang="en-US" altLang="zh-CN" dirty="0">
                <a:solidFill>
                  <a:srgbClr val="4EC9B0"/>
                </a:solidFill>
                <a:latin typeface="Lucida Console" panose="020B0609040504020204" pitchFamily="49" charset="0"/>
              </a:rPr>
              <a:t>string</a:t>
            </a:r>
            <a:r>
              <a:rPr lang="en-US" altLang="zh-CN" dirty="0">
                <a:solidFill>
                  <a:srgbClr val="569CD6"/>
                </a:solidFill>
                <a:latin typeface="Lucida Console" panose="020B0609040504020204" pitchFamily="49" charset="0"/>
              </a:rPr>
              <a:t>&amp;</a:t>
            </a:r>
            <a:r>
              <a:rPr lang="en-US" altLang="zh-CN" dirty="0">
                <a:solidFill>
                  <a:srgbClr val="D4D4D4"/>
                </a:solidFill>
                <a:latin typeface="Lucida Console" panose="020B0609040504020204" pitchFamily="49" charset="0"/>
              </a:rPr>
              <a:t>);</a:t>
            </a:r>
          </a:p>
        </p:txBody>
      </p:sp>
      <p:sp>
        <p:nvSpPr>
          <p:cNvPr id="7" name="矩形 6"/>
          <p:cNvSpPr/>
          <p:nvPr/>
        </p:nvSpPr>
        <p:spPr>
          <a:xfrm>
            <a:off x="1232297" y="2308326"/>
            <a:ext cx="9801225" cy="369332"/>
          </a:xfrm>
          <a:prstGeom prst="rect">
            <a:avLst/>
          </a:prstGeom>
        </p:spPr>
        <p:txBody>
          <a:bodyPr wrap="square">
            <a:spAutoFit/>
          </a:bodyPr>
          <a:lstStyle/>
          <a:p>
            <a:r>
              <a:rPr lang="en-US" altLang="zh-CN" dirty="0">
                <a:latin typeface="微软雅黑" panose="020B0503020204020204" pitchFamily="34" charset="-122"/>
                <a:ea typeface="微软雅黑" panose="020B0503020204020204" pitchFamily="34" charset="-122"/>
              </a:rPr>
              <a:t>using</a:t>
            </a:r>
            <a:r>
              <a:rPr lang="zh-CN" altLang="en-US" dirty="0">
                <a:latin typeface="微软雅黑" panose="020B0503020204020204" pitchFamily="34" charset="-122"/>
                <a:ea typeface="微软雅黑" panose="020B0503020204020204" pitchFamily="34" charset="-122"/>
              </a:rPr>
              <a:t>在</a:t>
            </a:r>
            <a:r>
              <a:rPr lang="en-US" altLang="zh-CN" dirty="0">
                <a:latin typeface="微软雅黑" panose="020B0503020204020204" pitchFamily="34" charset="-122"/>
                <a:ea typeface="微软雅黑" panose="020B0503020204020204" pitchFamily="34" charset="-122"/>
              </a:rPr>
              <a:t>C++98/03</a:t>
            </a:r>
            <a:r>
              <a:rPr lang="zh-CN" altLang="en-US" dirty="0">
                <a:latin typeface="微软雅黑" panose="020B0503020204020204" pitchFamily="34" charset="-122"/>
                <a:ea typeface="微软雅黑" panose="020B0503020204020204" pitchFamily="34" charset="-122"/>
              </a:rPr>
              <a:t>中只用于引入符号，在</a:t>
            </a:r>
            <a:r>
              <a:rPr lang="en-US" altLang="zh-CN" dirty="0">
                <a:latin typeface="微软雅黑" panose="020B0503020204020204" pitchFamily="34" charset="-122"/>
                <a:ea typeface="微软雅黑" panose="020B0503020204020204" pitchFamily="34" charset="-122"/>
              </a:rPr>
              <a:t>C++11</a:t>
            </a:r>
            <a:r>
              <a:rPr lang="zh-CN" altLang="en-US" dirty="0">
                <a:latin typeface="微软雅黑" panose="020B0503020204020204" pitchFamily="34" charset="-122"/>
                <a:ea typeface="微软雅黑" panose="020B0503020204020204" pitchFamily="34" charset="-122"/>
              </a:rPr>
              <a:t>中，</a:t>
            </a:r>
            <a:r>
              <a:rPr lang="en-US" altLang="zh-CN" dirty="0">
                <a:latin typeface="微软雅黑" panose="020B0503020204020204" pitchFamily="34" charset="-122"/>
                <a:ea typeface="微软雅黑" panose="020B0503020204020204" pitchFamily="34" charset="-122"/>
              </a:rPr>
              <a:t>using</a:t>
            </a:r>
            <a:r>
              <a:rPr lang="zh-CN" altLang="en-US" dirty="0">
                <a:latin typeface="微软雅黑" panose="020B0503020204020204" pitchFamily="34" charset="-122"/>
                <a:ea typeface="微软雅黑" panose="020B0503020204020204" pitchFamily="34" charset="-122"/>
              </a:rPr>
              <a:t>可以定义新类型，取代</a:t>
            </a:r>
            <a:r>
              <a:rPr lang="en-US" altLang="zh-CN" dirty="0" err="1">
                <a:latin typeface="微软雅黑" panose="020B0503020204020204" pitchFamily="34" charset="-122"/>
                <a:ea typeface="微软雅黑" panose="020B0503020204020204" pitchFamily="34" charset="-122"/>
              </a:rPr>
              <a:t>typedef</a:t>
            </a:r>
            <a:endParaRPr lang="en-US" altLang="zh-CN" dirty="0">
              <a:latin typeface="微软雅黑" panose="020B0503020204020204" pitchFamily="34" charset="-122"/>
              <a:ea typeface="微软雅黑" panose="020B0503020204020204" pitchFamily="34" charset="-122"/>
            </a:endParaRPr>
          </a:p>
        </p:txBody>
      </p:sp>
      <p:sp>
        <p:nvSpPr>
          <p:cNvPr id="5" name="矩形 4"/>
          <p:cNvSpPr/>
          <p:nvPr/>
        </p:nvSpPr>
        <p:spPr>
          <a:xfrm>
            <a:off x="2541983" y="2714944"/>
            <a:ext cx="7181851" cy="646331"/>
          </a:xfrm>
          <a:prstGeom prst="rect">
            <a:avLst/>
          </a:prstGeom>
          <a:solidFill>
            <a:schemeClr val="tx1"/>
          </a:solidFill>
        </p:spPr>
        <p:txBody>
          <a:bodyPr wrap="square">
            <a:spAutoFit/>
          </a:bodyPr>
          <a:lstStyle/>
          <a:p>
            <a:r>
              <a:rPr lang="en-US" altLang="zh-CN" dirty="0">
                <a:solidFill>
                  <a:srgbClr val="C586C0"/>
                </a:solidFill>
                <a:latin typeface="Lucida Console" panose="020B0609040504020204" pitchFamily="49" charset="0"/>
              </a:rPr>
              <a:t>using</a:t>
            </a:r>
            <a:r>
              <a:rPr lang="en-US" altLang="zh-CN" dirty="0">
                <a:solidFill>
                  <a:srgbClr val="D4D4D4"/>
                </a:solidFill>
                <a:latin typeface="Lucida Console" panose="020B0609040504020204" pitchFamily="49" charset="0"/>
              </a:rPr>
              <a:t> </a:t>
            </a:r>
            <a:r>
              <a:rPr lang="en-US" altLang="zh-CN" dirty="0">
                <a:solidFill>
                  <a:srgbClr val="4EC9B0"/>
                </a:solidFill>
                <a:latin typeface="Lucida Console" panose="020B0609040504020204" pitchFamily="49" charset="0"/>
              </a:rPr>
              <a:t>DWORD</a:t>
            </a:r>
            <a:r>
              <a:rPr lang="en-US" altLang="zh-CN" dirty="0">
                <a:solidFill>
                  <a:srgbClr val="D4D4D4"/>
                </a:solidFill>
                <a:latin typeface="Lucida Console" panose="020B0609040504020204" pitchFamily="49" charset="0"/>
              </a:rPr>
              <a:t> = </a:t>
            </a:r>
            <a:r>
              <a:rPr lang="en-US" altLang="zh-CN" dirty="0">
                <a:solidFill>
                  <a:srgbClr val="569CD6"/>
                </a:solidFill>
                <a:latin typeface="Lucida Console" panose="020B0609040504020204" pitchFamily="49" charset="0"/>
              </a:rPr>
              <a:t>unsigned</a:t>
            </a:r>
            <a:r>
              <a:rPr lang="en-US" altLang="zh-CN" dirty="0">
                <a:solidFill>
                  <a:srgbClr val="D4D4D4"/>
                </a:solidFill>
                <a:latin typeface="Lucida Console" panose="020B0609040504020204" pitchFamily="49" charset="0"/>
              </a:rPr>
              <a:t> </a:t>
            </a:r>
            <a:r>
              <a:rPr lang="en-US" altLang="zh-CN" dirty="0">
                <a:solidFill>
                  <a:srgbClr val="569CD6"/>
                </a:solidFill>
                <a:latin typeface="Lucida Console" panose="020B0609040504020204" pitchFamily="49" charset="0"/>
              </a:rPr>
              <a:t>long</a:t>
            </a:r>
            <a:r>
              <a:rPr lang="en-US" altLang="zh-CN" dirty="0">
                <a:solidFill>
                  <a:srgbClr val="D4D4D4"/>
                </a:solidFill>
                <a:latin typeface="Lucida Console" panose="020B0609040504020204" pitchFamily="49" charset="0"/>
              </a:rPr>
              <a:t>;</a:t>
            </a:r>
          </a:p>
          <a:p>
            <a:r>
              <a:rPr lang="en-US" altLang="zh-CN" dirty="0">
                <a:solidFill>
                  <a:srgbClr val="C586C0"/>
                </a:solidFill>
                <a:latin typeface="Lucida Console" panose="020B0609040504020204" pitchFamily="49" charset="0"/>
              </a:rPr>
              <a:t>using</a:t>
            </a:r>
            <a:r>
              <a:rPr lang="en-US" altLang="zh-CN" dirty="0">
                <a:solidFill>
                  <a:srgbClr val="D4D4D4"/>
                </a:solidFill>
                <a:latin typeface="Lucida Console" panose="020B0609040504020204" pitchFamily="49" charset="0"/>
              </a:rPr>
              <a:t> </a:t>
            </a:r>
            <a:r>
              <a:rPr lang="en-US" altLang="zh-CN" dirty="0">
                <a:solidFill>
                  <a:srgbClr val="4EC9B0"/>
                </a:solidFill>
                <a:latin typeface="Lucida Console" panose="020B0609040504020204" pitchFamily="49" charset="0"/>
              </a:rPr>
              <a:t>FP</a:t>
            </a:r>
            <a:r>
              <a:rPr lang="en-US" altLang="zh-CN" dirty="0">
                <a:solidFill>
                  <a:srgbClr val="D4D4D4"/>
                </a:solidFill>
                <a:latin typeface="Lucida Console" panose="020B0609040504020204" pitchFamily="49" charset="0"/>
              </a:rPr>
              <a:t> = </a:t>
            </a:r>
            <a:r>
              <a:rPr lang="en-US" altLang="zh-CN" dirty="0">
                <a:solidFill>
                  <a:srgbClr val="569CD6"/>
                </a:solidFill>
                <a:latin typeface="Lucida Console" panose="020B0609040504020204" pitchFamily="49" charset="0"/>
              </a:rPr>
              <a:t>void</a:t>
            </a:r>
            <a:r>
              <a:rPr lang="en-US" altLang="zh-CN" dirty="0">
                <a:solidFill>
                  <a:srgbClr val="D4D4D4"/>
                </a:solidFill>
                <a:latin typeface="Lucida Console" panose="020B0609040504020204" pitchFamily="49" charset="0"/>
              </a:rPr>
              <a:t> (*)(</a:t>
            </a:r>
            <a:r>
              <a:rPr lang="en-US" altLang="zh-CN" dirty="0" err="1">
                <a:solidFill>
                  <a:srgbClr val="569CD6"/>
                </a:solidFill>
                <a:latin typeface="Lucida Console" panose="020B0609040504020204" pitchFamily="49" charset="0"/>
              </a:rPr>
              <a:t>int</a:t>
            </a:r>
            <a:r>
              <a:rPr lang="en-US" altLang="zh-CN" dirty="0">
                <a:solidFill>
                  <a:srgbClr val="D4D4D4"/>
                </a:solidFill>
                <a:latin typeface="Lucida Console" panose="020B0609040504020204" pitchFamily="49" charset="0"/>
              </a:rPr>
              <a:t>, </a:t>
            </a:r>
            <a:r>
              <a:rPr lang="en-US" altLang="zh-CN" dirty="0" err="1">
                <a:solidFill>
                  <a:srgbClr val="569CD6"/>
                </a:solidFill>
                <a:latin typeface="Lucida Console" panose="020B0609040504020204" pitchFamily="49" charset="0"/>
              </a:rPr>
              <a:t>const</a:t>
            </a:r>
            <a:r>
              <a:rPr lang="en-US" altLang="zh-CN" dirty="0">
                <a:solidFill>
                  <a:srgbClr val="D4D4D4"/>
                </a:solidFill>
                <a:latin typeface="Lucida Console" panose="020B0609040504020204" pitchFamily="49" charset="0"/>
              </a:rPr>
              <a:t> </a:t>
            </a:r>
            <a:r>
              <a:rPr lang="en-US" altLang="zh-CN" dirty="0" err="1">
                <a:solidFill>
                  <a:srgbClr val="4EC9B0"/>
                </a:solidFill>
                <a:latin typeface="Lucida Console" panose="020B0609040504020204" pitchFamily="49" charset="0"/>
              </a:rPr>
              <a:t>std</a:t>
            </a:r>
            <a:r>
              <a:rPr lang="en-US" altLang="zh-CN" dirty="0">
                <a:solidFill>
                  <a:srgbClr val="D4D4D4"/>
                </a:solidFill>
                <a:latin typeface="Lucida Console" panose="020B0609040504020204" pitchFamily="49" charset="0"/>
              </a:rPr>
              <a:t>::string&amp;);</a:t>
            </a:r>
          </a:p>
        </p:txBody>
      </p:sp>
      <p:sp>
        <p:nvSpPr>
          <p:cNvPr id="8" name="矩形 7"/>
          <p:cNvSpPr/>
          <p:nvPr/>
        </p:nvSpPr>
        <p:spPr>
          <a:xfrm>
            <a:off x="962621" y="5003097"/>
            <a:ext cx="10340575" cy="923330"/>
          </a:xfrm>
          <a:prstGeom prst="rect">
            <a:avLst/>
          </a:prstGeom>
          <a:solidFill>
            <a:schemeClr val="tx1"/>
          </a:solidFill>
        </p:spPr>
        <p:txBody>
          <a:bodyPr wrap="square">
            <a:spAutoFit/>
          </a:bodyPr>
          <a:lstStyle/>
          <a:p>
            <a:r>
              <a:rPr lang="en-US" altLang="zh-CN" dirty="0">
                <a:solidFill>
                  <a:srgbClr val="D4D4D4"/>
                </a:solidFill>
                <a:latin typeface="Lucida Console" panose="020B0609040504020204" pitchFamily="49" charset="0"/>
              </a:rPr>
              <a:t>    template&lt;</a:t>
            </a:r>
            <a:r>
              <a:rPr lang="en-US" altLang="zh-CN" dirty="0" err="1">
                <a:solidFill>
                  <a:srgbClr val="569CD6"/>
                </a:solidFill>
                <a:latin typeface="Lucida Console" panose="020B0609040504020204" pitchFamily="49" charset="0"/>
              </a:rPr>
              <a:t>typename</a:t>
            </a:r>
            <a:r>
              <a:rPr lang="en-US" altLang="zh-CN" dirty="0">
                <a:solidFill>
                  <a:srgbClr val="D4D4D4"/>
                </a:solidFill>
                <a:latin typeface="Lucida Console" panose="020B0609040504020204" pitchFamily="49" charset="0"/>
              </a:rPr>
              <a:t> </a:t>
            </a:r>
            <a:r>
              <a:rPr lang="en-US" altLang="zh-CN" dirty="0">
                <a:solidFill>
                  <a:srgbClr val="4EC9B0"/>
                </a:solidFill>
                <a:latin typeface="Lucida Console" panose="020B0609040504020204" pitchFamily="49" charset="0"/>
              </a:rPr>
              <a:t>T</a:t>
            </a:r>
            <a:r>
              <a:rPr lang="en-US" altLang="zh-CN" dirty="0">
                <a:solidFill>
                  <a:srgbClr val="D4D4D4"/>
                </a:solidFill>
                <a:latin typeface="Lucida Console" panose="020B0609040504020204" pitchFamily="49" charset="0"/>
              </a:rPr>
              <a:t>&gt;</a:t>
            </a:r>
          </a:p>
          <a:p>
            <a:r>
              <a:rPr lang="en-US" altLang="zh-CN" dirty="0">
                <a:solidFill>
                  <a:srgbClr val="D4D4D4"/>
                </a:solidFill>
                <a:latin typeface="Lucida Console" panose="020B0609040504020204" pitchFamily="49" charset="0"/>
              </a:rPr>
              <a:t>    </a:t>
            </a:r>
            <a:r>
              <a:rPr lang="en-US" altLang="zh-CN" dirty="0">
                <a:solidFill>
                  <a:srgbClr val="C586C0"/>
                </a:solidFill>
                <a:latin typeface="Lucida Console" panose="020B0609040504020204" pitchFamily="49" charset="0"/>
              </a:rPr>
              <a:t>using</a:t>
            </a:r>
            <a:r>
              <a:rPr lang="en-US" altLang="zh-CN" dirty="0">
                <a:solidFill>
                  <a:srgbClr val="D4D4D4"/>
                </a:solidFill>
                <a:latin typeface="Lucida Console" panose="020B0609040504020204" pitchFamily="49" charset="0"/>
              </a:rPr>
              <a:t> </a:t>
            </a:r>
            <a:r>
              <a:rPr lang="en-US" altLang="zh-CN" dirty="0" err="1">
                <a:solidFill>
                  <a:srgbClr val="4EC9B0"/>
                </a:solidFill>
                <a:latin typeface="Lucida Console" panose="020B0609040504020204" pitchFamily="49" charset="0"/>
              </a:rPr>
              <a:t>MyAllocList</a:t>
            </a:r>
            <a:r>
              <a:rPr lang="en-US" altLang="zh-CN" dirty="0">
                <a:solidFill>
                  <a:srgbClr val="D4D4D4"/>
                </a:solidFill>
                <a:latin typeface="Lucida Console" panose="020B0609040504020204" pitchFamily="49" charset="0"/>
              </a:rPr>
              <a:t> = </a:t>
            </a:r>
            <a:r>
              <a:rPr lang="en-US" altLang="zh-CN" dirty="0" err="1">
                <a:solidFill>
                  <a:srgbClr val="4EC9B0"/>
                </a:solidFill>
                <a:latin typeface="Lucida Console" panose="020B0609040504020204" pitchFamily="49" charset="0"/>
              </a:rPr>
              <a:t>std</a:t>
            </a:r>
            <a:r>
              <a:rPr lang="en-US" altLang="zh-CN" dirty="0">
                <a:solidFill>
                  <a:srgbClr val="D4D4D4"/>
                </a:solidFill>
                <a:latin typeface="Lucida Console" panose="020B0609040504020204" pitchFamily="49" charset="0"/>
              </a:rPr>
              <a:t>::</a:t>
            </a:r>
            <a:r>
              <a:rPr lang="en-US" altLang="zh-CN" dirty="0">
                <a:solidFill>
                  <a:srgbClr val="4EC9B0"/>
                </a:solidFill>
                <a:latin typeface="Lucida Console" panose="020B0609040504020204" pitchFamily="49" charset="0"/>
              </a:rPr>
              <a:t>list</a:t>
            </a:r>
            <a:r>
              <a:rPr lang="en-US" altLang="zh-CN" dirty="0">
                <a:solidFill>
                  <a:srgbClr val="D4D4D4"/>
                </a:solidFill>
                <a:latin typeface="Lucida Console" panose="020B0609040504020204" pitchFamily="49" charset="0"/>
              </a:rPr>
              <a:t>&lt;</a:t>
            </a:r>
            <a:r>
              <a:rPr lang="en-US" altLang="zh-CN" dirty="0">
                <a:solidFill>
                  <a:srgbClr val="4EC9B0"/>
                </a:solidFill>
                <a:latin typeface="Lucida Console" panose="020B0609040504020204" pitchFamily="49" charset="0"/>
              </a:rPr>
              <a:t>T</a:t>
            </a:r>
            <a:r>
              <a:rPr lang="en-US" altLang="zh-CN" dirty="0">
                <a:solidFill>
                  <a:srgbClr val="D4D4D4"/>
                </a:solidFill>
                <a:latin typeface="Lucida Console" panose="020B0609040504020204" pitchFamily="49" charset="0"/>
              </a:rPr>
              <a:t>, </a:t>
            </a:r>
            <a:r>
              <a:rPr lang="en-US" altLang="zh-CN" dirty="0" err="1">
                <a:solidFill>
                  <a:srgbClr val="4EC9B0"/>
                </a:solidFill>
                <a:latin typeface="Lucida Console" panose="020B0609040504020204" pitchFamily="49" charset="0"/>
              </a:rPr>
              <a:t>MyAlloc</a:t>
            </a:r>
            <a:r>
              <a:rPr lang="en-US" altLang="zh-CN" dirty="0">
                <a:solidFill>
                  <a:srgbClr val="D4D4D4"/>
                </a:solidFill>
                <a:latin typeface="Lucida Console" panose="020B0609040504020204" pitchFamily="49" charset="0"/>
              </a:rPr>
              <a:t>&lt;</a:t>
            </a:r>
            <a:r>
              <a:rPr lang="en-US" altLang="zh-CN" dirty="0">
                <a:solidFill>
                  <a:srgbClr val="4EC9B0"/>
                </a:solidFill>
                <a:latin typeface="Lucida Console" panose="020B0609040504020204" pitchFamily="49" charset="0"/>
              </a:rPr>
              <a:t>T</a:t>
            </a:r>
            <a:r>
              <a:rPr lang="en-US" altLang="zh-CN" dirty="0">
                <a:solidFill>
                  <a:srgbClr val="D4D4D4"/>
                </a:solidFill>
                <a:latin typeface="Lucida Console" panose="020B0609040504020204" pitchFamily="49" charset="0"/>
              </a:rPr>
              <a:t>&gt;&gt;;</a:t>
            </a:r>
          </a:p>
          <a:p>
            <a:r>
              <a:rPr lang="en-US" altLang="zh-CN" dirty="0">
                <a:solidFill>
                  <a:srgbClr val="D4D4D4"/>
                </a:solidFill>
                <a:latin typeface="Lucida Console" panose="020B0609040504020204" pitchFamily="49" charset="0"/>
              </a:rPr>
              <a:t>    </a:t>
            </a:r>
            <a:r>
              <a:rPr lang="en-US" altLang="zh-CN" dirty="0" err="1">
                <a:solidFill>
                  <a:srgbClr val="D4D4D4"/>
                </a:solidFill>
                <a:latin typeface="Lucida Console" panose="020B0609040504020204" pitchFamily="49" charset="0"/>
              </a:rPr>
              <a:t>MyAllocList</a:t>
            </a:r>
            <a:r>
              <a:rPr lang="en-US" altLang="zh-CN" dirty="0">
                <a:solidFill>
                  <a:srgbClr val="D4D4D4"/>
                </a:solidFill>
                <a:latin typeface="Lucida Console" panose="020B0609040504020204" pitchFamily="49" charset="0"/>
              </a:rPr>
              <a:t>&lt;Widget&gt; lw;</a:t>
            </a:r>
            <a:r>
              <a:rPr lang="en-US" altLang="zh-CN" dirty="0">
                <a:solidFill>
                  <a:srgbClr val="6A9955"/>
                </a:solidFill>
                <a:latin typeface="Lucida Console" panose="020B0609040504020204" pitchFamily="49" charset="0"/>
              </a:rPr>
              <a:t> // </a:t>
            </a:r>
            <a:r>
              <a:rPr lang="zh-CN" altLang="en-US" dirty="0">
                <a:solidFill>
                  <a:srgbClr val="6A9955"/>
                </a:solidFill>
                <a:latin typeface="Lucida Console" panose="020B0609040504020204" pitchFamily="49" charset="0"/>
              </a:rPr>
              <a:t>等同于</a:t>
            </a:r>
            <a:r>
              <a:rPr lang="en-US" altLang="zh-CN" dirty="0" err="1">
                <a:solidFill>
                  <a:srgbClr val="6A9955"/>
                </a:solidFill>
                <a:latin typeface="Lucida Console" panose="020B0609040504020204" pitchFamily="49" charset="0"/>
              </a:rPr>
              <a:t>std</a:t>
            </a:r>
            <a:r>
              <a:rPr lang="en-US" altLang="zh-CN" dirty="0">
                <a:solidFill>
                  <a:srgbClr val="6A9955"/>
                </a:solidFill>
                <a:latin typeface="Lucida Console" panose="020B0609040504020204" pitchFamily="49" charset="0"/>
              </a:rPr>
              <a:t>::list&lt;Widget, </a:t>
            </a:r>
            <a:r>
              <a:rPr lang="en-US" altLang="zh-CN" dirty="0" err="1">
                <a:solidFill>
                  <a:srgbClr val="6A9955"/>
                </a:solidFill>
                <a:latin typeface="Lucida Console" panose="020B0609040504020204" pitchFamily="49" charset="0"/>
              </a:rPr>
              <a:t>MyAlloc</a:t>
            </a:r>
            <a:r>
              <a:rPr lang="en-US" altLang="zh-CN" dirty="0">
                <a:solidFill>
                  <a:srgbClr val="6A9955"/>
                </a:solidFill>
                <a:latin typeface="Lucida Console" panose="020B0609040504020204" pitchFamily="49" charset="0"/>
              </a:rPr>
              <a:t>&lt;Widget&gt;&gt;</a:t>
            </a:r>
            <a:endParaRPr lang="en-US" altLang="zh-CN" dirty="0">
              <a:solidFill>
                <a:srgbClr val="D4D4D4"/>
              </a:solidFill>
              <a:latin typeface="Lucida Console" panose="020B0609040504020204" pitchFamily="49" charset="0"/>
            </a:endParaRPr>
          </a:p>
        </p:txBody>
      </p:sp>
      <p:sp>
        <p:nvSpPr>
          <p:cNvPr id="9" name="矩形 8"/>
          <p:cNvSpPr/>
          <p:nvPr/>
        </p:nvSpPr>
        <p:spPr>
          <a:xfrm>
            <a:off x="1232297" y="3969851"/>
            <a:ext cx="9801225" cy="369332"/>
          </a:xfrm>
          <a:prstGeom prst="rect">
            <a:avLst/>
          </a:prstGeom>
        </p:spPr>
        <p:txBody>
          <a:bodyPr wrap="square">
            <a:spAutoFit/>
          </a:bodyPr>
          <a:lstStyle/>
          <a:p>
            <a:r>
              <a:rPr lang="en-US" altLang="zh-CN" dirty="0">
                <a:latin typeface="微软雅黑" panose="020B0503020204020204" pitchFamily="34" charset="-122"/>
                <a:ea typeface="微软雅黑" panose="020B0503020204020204" pitchFamily="34" charset="-122"/>
              </a:rPr>
              <a:t>using</a:t>
            </a:r>
            <a:r>
              <a:rPr lang="zh-CN" altLang="en-US" dirty="0">
                <a:latin typeface="微软雅黑" panose="020B0503020204020204" pitchFamily="34" charset="-122"/>
                <a:ea typeface="微软雅黑" panose="020B0503020204020204" pitchFamily="34" charset="-122"/>
              </a:rPr>
              <a:t>不光可以取代</a:t>
            </a:r>
            <a:r>
              <a:rPr lang="en-US" altLang="zh-CN" dirty="0" err="1">
                <a:latin typeface="微软雅黑" panose="020B0503020204020204" pitchFamily="34" charset="-122"/>
                <a:ea typeface="微软雅黑" panose="020B0503020204020204" pitchFamily="34" charset="-122"/>
              </a:rPr>
              <a:t>typedef</a:t>
            </a:r>
            <a:r>
              <a:rPr lang="zh-CN" altLang="en-US" dirty="0">
                <a:latin typeface="微软雅黑" panose="020B0503020204020204" pitchFamily="34" charset="-122"/>
                <a:ea typeface="微软雅黑" panose="020B0503020204020204" pitchFamily="34" charset="-122"/>
              </a:rPr>
              <a:t>，还能完成</a:t>
            </a:r>
            <a:r>
              <a:rPr lang="en-US" altLang="zh-CN" dirty="0" err="1">
                <a:latin typeface="微软雅黑" panose="020B0503020204020204" pitchFamily="34" charset="-122"/>
                <a:ea typeface="微软雅黑" panose="020B0503020204020204" pitchFamily="34" charset="-122"/>
              </a:rPr>
              <a:t>typedef</a:t>
            </a:r>
            <a:r>
              <a:rPr lang="zh-CN" altLang="en-US" dirty="0">
                <a:latin typeface="微软雅黑" panose="020B0503020204020204" pitchFamily="34" charset="-122"/>
                <a:ea typeface="微软雅黑" panose="020B0503020204020204" pitchFamily="34" charset="-122"/>
              </a:rPr>
              <a:t>做不到的事</a:t>
            </a:r>
            <a:r>
              <a:rPr lang="en-US" altLang="zh-CN" dirty="0">
                <a:latin typeface="微软雅黑" panose="020B0503020204020204" pitchFamily="34" charset="-122"/>
                <a:ea typeface="微软雅黑" panose="020B0503020204020204" pitchFamily="34" charset="-122"/>
              </a:rPr>
              <a:t>——</a:t>
            </a:r>
            <a:r>
              <a:rPr lang="zh-CN" altLang="en-US" dirty="0">
                <a:latin typeface="微软雅黑" panose="020B0503020204020204" pitchFamily="34" charset="-122"/>
                <a:ea typeface="微软雅黑" panose="020B0503020204020204" pitchFamily="34" charset="-122"/>
              </a:rPr>
              <a:t>定义模板</a:t>
            </a:r>
            <a:endParaRPr lang="en-US" altLang="zh-CN" dirty="0">
              <a:latin typeface="微软雅黑" panose="020B0503020204020204" pitchFamily="34" charset="-122"/>
              <a:ea typeface="微软雅黑" panose="020B0503020204020204" pitchFamily="34" charset="-122"/>
            </a:endParaRPr>
          </a:p>
        </p:txBody>
      </p:sp>
      <p:sp>
        <p:nvSpPr>
          <p:cNvPr id="10" name="矩形 9"/>
          <p:cNvSpPr/>
          <p:nvPr/>
        </p:nvSpPr>
        <p:spPr>
          <a:xfrm>
            <a:off x="7380682" y="5324803"/>
            <a:ext cx="315519" cy="266700"/>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1" name="直接箭头连接符 10"/>
          <p:cNvCxnSpPr/>
          <p:nvPr/>
        </p:nvCxnSpPr>
        <p:spPr>
          <a:xfrm>
            <a:off x="7538441" y="4982598"/>
            <a:ext cx="0" cy="342205"/>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2" name="文本框 11"/>
          <p:cNvSpPr txBox="1"/>
          <p:nvPr/>
        </p:nvSpPr>
        <p:spPr>
          <a:xfrm>
            <a:off x="4051955" y="4603017"/>
            <a:ext cx="7444720" cy="369332"/>
          </a:xfrm>
          <a:prstGeom prst="rect">
            <a:avLst/>
          </a:prstGeom>
          <a:noFill/>
        </p:spPr>
        <p:txBody>
          <a:bodyPr wrap="square" rtlCol="0">
            <a:spAutoFit/>
          </a:bodyPr>
          <a:lstStyle/>
          <a:p>
            <a:r>
              <a:rPr lang="zh-CN" altLang="en-US" dirty="0">
                <a:solidFill>
                  <a:srgbClr val="FF0000"/>
                </a:solidFill>
                <a:latin typeface="微软雅黑" panose="020B0503020204020204" pitchFamily="34" charset="-122"/>
                <a:ea typeface="微软雅黑" panose="020B0503020204020204" pitchFamily="34" charset="-122"/>
              </a:rPr>
              <a:t>在</a:t>
            </a:r>
            <a:r>
              <a:rPr lang="en-US" altLang="zh-CN" dirty="0">
                <a:solidFill>
                  <a:srgbClr val="FF0000"/>
                </a:solidFill>
                <a:latin typeface="微软雅黑" panose="020B0503020204020204" pitchFamily="34" charset="-122"/>
                <a:ea typeface="微软雅黑" panose="020B0503020204020204" pitchFamily="34" charset="-122"/>
              </a:rPr>
              <a:t>C++11</a:t>
            </a:r>
            <a:r>
              <a:rPr lang="zh-CN" altLang="en-US" dirty="0">
                <a:solidFill>
                  <a:srgbClr val="FF0000"/>
                </a:solidFill>
                <a:latin typeface="微软雅黑" panose="020B0503020204020204" pitchFamily="34" charset="-122"/>
                <a:ea typeface="微软雅黑" panose="020B0503020204020204" pitchFamily="34" charset="-122"/>
              </a:rPr>
              <a:t>中模板参数周围的</a:t>
            </a:r>
            <a:r>
              <a:rPr lang="en-US" altLang="zh-CN" dirty="0">
                <a:solidFill>
                  <a:srgbClr val="FF0000"/>
                </a:solidFill>
                <a:latin typeface="微软雅黑" panose="020B0503020204020204" pitchFamily="34" charset="-122"/>
                <a:ea typeface="微软雅黑" panose="020B0503020204020204" pitchFamily="34" charset="-122"/>
              </a:rPr>
              <a:t>&gt;&gt;</a:t>
            </a:r>
            <a:r>
              <a:rPr lang="zh-CN" altLang="en-US" dirty="0">
                <a:solidFill>
                  <a:srgbClr val="FF0000"/>
                </a:solidFill>
                <a:latin typeface="微软雅黑" panose="020B0503020204020204" pitchFamily="34" charset="-122"/>
                <a:ea typeface="微软雅黑" panose="020B0503020204020204" pitchFamily="34" charset="-122"/>
              </a:rPr>
              <a:t>不会被解析为移位操作，可以不加空格</a:t>
            </a:r>
          </a:p>
        </p:txBody>
      </p:sp>
      <p:grpSp>
        <p:nvGrpSpPr>
          <p:cNvPr id="13" name="组合 12"/>
          <p:cNvGrpSpPr/>
          <p:nvPr/>
        </p:nvGrpSpPr>
        <p:grpSpPr>
          <a:xfrm>
            <a:off x="429014" y="234192"/>
            <a:ext cx="6915125" cy="505969"/>
            <a:chOff x="321760" y="175643"/>
            <a:chExt cx="5186344" cy="379477"/>
          </a:xfrm>
        </p:grpSpPr>
        <p:sp>
          <p:nvSpPr>
            <p:cNvPr id="14" name="Title 1">
              <a:extLst>
                <a:ext uri="{FF2B5EF4-FFF2-40B4-BE49-F238E27FC236}">
                  <a16:creationId xmlns:a16="http://schemas.microsoft.com/office/drawing/2014/main" id="{6892040A-94F3-474F-8198-4204E9168CEC}"/>
                </a:ext>
              </a:extLst>
            </p:cNvPr>
            <p:cNvSpPr txBox="1">
              <a:spLocks/>
            </p:cNvSpPr>
            <p:nvPr/>
          </p:nvSpPr>
          <p:spPr>
            <a:xfrm>
              <a:off x="611560" y="175643"/>
              <a:ext cx="4896544" cy="379477"/>
            </a:xfrm>
            <a:prstGeom prst="rect">
              <a:avLst/>
            </a:prstGeom>
          </p:spPr>
          <p:txBody>
            <a:bodyPr lIns="0" rIns="0"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itchFamily="2" charset="0"/>
                  <a:cs typeface="Open Sans Light" panose="020B0306030504020204" pitchFamily="34" charset="0"/>
                </a:defRPr>
              </a:lvl1pPr>
            </a:lstStyle>
            <a:p>
              <a:pPr algn="l"/>
              <a:r>
                <a:rPr lang="en-US" altLang="zh-CN" sz="2400" dirty="0">
                  <a:solidFill>
                    <a:schemeClr val="tx1">
                      <a:lumMod val="65000"/>
                      <a:lumOff val="35000"/>
                    </a:schemeClr>
                  </a:solidFill>
                  <a:latin typeface="+mn-lt"/>
                  <a:ea typeface="+mn-ea"/>
                  <a:cs typeface="+mn-ea"/>
                  <a:sym typeface="+mn-lt"/>
                </a:rPr>
                <a:t>using</a:t>
              </a:r>
              <a:r>
                <a:rPr lang="zh-CN" altLang="en-US" sz="2400" dirty="0">
                  <a:solidFill>
                    <a:schemeClr val="tx1">
                      <a:lumMod val="65000"/>
                      <a:lumOff val="35000"/>
                    </a:schemeClr>
                  </a:solidFill>
                  <a:latin typeface="+mn-lt"/>
                  <a:ea typeface="+mn-ea"/>
                  <a:cs typeface="+mn-ea"/>
                  <a:sym typeface="+mn-lt"/>
                </a:rPr>
                <a:t>与</a:t>
              </a:r>
              <a:r>
                <a:rPr lang="en-US" altLang="zh-CN" sz="2400" dirty="0" err="1">
                  <a:solidFill>
                    <a:schemeClr val="tx1">
                      <a:lumMod val="65000"/>
                      <a:lumOff val="35000"/>
                    </a:schemeClr>
                  </a:solidFill>
                  <a:latin typeface="+mn-lt"/>
                  <a:ea typeface="+mn-ea"/>
                  <a:cs typeface="+mn-ea"/>
                  <a:sym typeface="+mn-lt"/>
                </a:rPr>
                <a:t>typedef</a:t>
              </a:r>
              <a:endParaRPr lang="en-US" altLang="zh-CN" sz="2400" dirty="0">
                <a:solidFill>
                  <a:schemeClr val="tx1">
                    <a:lumMod val="65000"/>
                    <a:lumOff val="35000"/>
                  </a:schemeClr>
                </a:solidFill>
                <a:latin typeface="+mn-lt"/>
                <a:ea typeface="+mn-ea"/>
                <a:cs typeface="+mn-ea"/>
                <a:sym typeface="+mn-lt"/>
              </a:endParaRPr>
            </a:p>
          </p:txBody>
        </p:sp>
        <p:sp>
          <p:nvSpPr>
            <p:cNvPr id="15" name="Diamond 33">
              <a:extLst>
                <a:ext uri="{FF2B5EF4-FFF2-40B4-BE49-F238E27FC236}">
                  <a16:creationId xmlns:a16="http://schemas.microsoft.com/office/drawing/2014/main" id="{88651C82-D860-43A5-951F-058DAA88FBBC}"/>
                </a:ext>
              </a:extLst>
            </p:cNvPr>
            <p:cNvSpPr/>
            <p:nvPr/>
          </p:nvSpPr>
          <p:spPr>
            <a:xfrm>
              <a:off x="321760" y="254774"/>
              <a:ext cx="250083" cy="250083"/>
            </a:xfrm>
            <a:prstGeom prst="diamond">
              <a:avLst/>
            </a:prstGeom>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anchor="ctr">
              <a:normAutofit fontScale="55000" lnSpcReduction="20000"/>
            </a:bodyPr>
            <a:lstStyle/>
            <a:p>
              <a:pPr algn="ctr"/>
              <a:endParaRPr lang="en-US" altLang="zh-CN" sz="2400" dirty="0">
                <a:solidFill>
                  <a:schemeClr val="bg1"/>
                </a:solidFill>
                <a:cs typeface="+mn-ea"/>
                <a:sym typeface="+mn-lt"/>
              </a:endParaRPr>
            </a:p>
          </p:txBody>
        </p:sp>
      </p:grpSp>
    </p:spTree>
    <p:extLst>
      <p:ext uri="{BB962C8B-B14F-4D97-AF65-F5344CB8AC3E}">
        <p14:creationId xmlns:p14="http://schemas.microsoft.com/office/powerpoint/2010/main" val="1788397502"/>
      </p:ext>
    </p:extLst>
  </p:cSld>
  <p:clrMapOvr>
    <a:masterClrMapping/>
  </p:clrMapOvr>
  <p:transition advClick="0" advTm="8000"/>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500"/>
                                        <p:tgtEl>
                                          <p:spTgt spid="5"/>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fade">
                                      <p:cBhvr>
                                        <p:cTn id="15" dur="500"/>
                                        <p:tgtEl>
                                          <p:spTgt spid="9"/>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8"/>
                                        </p:tgtEl>
                                        <p:attrNameLst>
                                          <p:attrName>style.visibility</p:attrName>
                                        </p:attrNameLst>
                                      </p:cBhvr>
                                      <p:to>
                                        <p:strVal val="visible"/>
                                      </p:to>
                                    </p:set>
                                    <p:animEffect transition="in" filter="fade">
                                      <p:cBhvr>
                                        <p:cTn id="18" dur="500"/>
                                        <p:tgtEl>
                                          <p:spTgt spid="8"/>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10"/>
                                        </p:tgtEl>
                                        <p:attrNameLst>
                                          <p:attrName>style.visibility</p:attrName>
                                        </p:attrNameLst>
                                      </p:cBhvr>
                                      <p:to>
                                        <p:strVal val="visible"/>
                                      </p:to>
                                    </p:set>
                                    <p:animEffect transition="in" filter="fade">
                                      <p:cBhvr>
                                        <p:cTn id="23" dur="500"/>
                                        <p:tgtEl>
                                          <p:spTgt spid="10"/>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12"/>
                                        </p:tgtEl>
                                        <p:attrNameLst>
                                          <p:attrName>style.visibility</p:attrName>
                                        </p:attrNameLst>
                                      </p:cBhvr>
                                      <p:to>
                                        <p:strVal val="visible"/>
                                      </p:to>
                                    </p:set>
                                    <p:animEffect transition="in" filter="fade">
                                      <p:cBhvr>
                                        <p:cTn id="26" dur="500"/>
                                        <p:tgtEl>
                                          <p:spTgt spid="12"/>
                                        </p:tgtEl>
                                      </p:cBhvr>
                                    </p:animEffect>
                                  </p:childTnLst>
                                </p:cTn>
                              </p:par>
                              <p:par>
                                <p:cTn id="27" presetID="10" presetClass="entr" presetSubtype="0" fill="hold" nodeType="withEffect">
                                  <p:stCondLst>
                                    <p:cond delay="0"/>
                                  </p:stCondLst>
                                  <p:childTnLst>
                                    <p:set>
                                      <p:cBhvr>
                                        <p:cTn id="28" dur="1" fill="hold">
                                          <p:stCondLst>
                                            <p:cond delay="0"/>
                                          </p:stCondLst>
                                        </p:cTn>
                                        <p:tgtEl>
                                          <p:spTgt spid="11"/>
                                        </p:tgtEl>
                                        <p:attrNameLst>
                                          <p:attrName>style.visibility</p:attrName>
                                        </p:attrNameLst>
                                      </p:cBhvr>
                                      <p:to>
                                        <p:strVal val="visible"/>
                                      </p:to>
                                    </p:set>
                                    <p:animEffect transition="in" filter="fade">
                                      <p:cBhvr>
                                        <p:cTn id="29"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5" grpId="0" animBg="1"/>
      <p:bldP spid="8" grpId="0" animBg="1"/>
      <p:bldP spid="9" grpId="0"/>
      <p:bldP spid="10" grpId="0" animBg="1"/>
      <p:bldP spid="12"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p:nvPr/>
        </p:nvSpPr>
        <p:spPr>
          <a:xfrm>
            <a:off x="1232300" y="1054215"/>
            <a:ext cx="9801225" cy="369332"/>
          </a:xfrm>
          <a:prstGeom prst="rect">
            <a:avLst/>
          </a:prstGeom>
        </p:spPr>
        <p:txBody>
          <a:bodyPr wrap="square">
            <a:spAutoFit/>
          </a:bodyPr>
          <a:lstStyle/>
          <a:p>
            <a:r>
              <a:rPr lang="zh-CN" altLang="en-US" dirty="0">
                <a:latin typeface="微软雅黑" panose="020B0503020204020204" pitchFamily="34" charset="-122"/>
                <a:ea typeface="微软雅黑" panose="020B0503020204020204" pitchFamily="34" charset="-122"/>
              </a:rPr>
              <a:t>传统的枚举类型，其值具有全局作用域，类似于全局常量。</a:t>
            </a:r>
            <a:endParaRPr lang="en-US" altLang="zh-CN" dirty="0">
              <a:latin typeface="微软雅黑" panose="020B0503020204020204" pitchFamily="34" charset="-122"/>
              <a:ea typeface="微软雅黑" panose="020B0503020204020204" pitchFamily="34" charset="-122"/>
            </a:endParaRPr>
          </a:p>
        </p:txBody>
      </p:sp>
      <p:sp>
        <p:nvSpPr>
          <p:cNvPr id="2" name="矩形 1"/>
          <p:cNvSpPr/>
          <p:nvPr/>
        </p:nvSpPr>
        <p:spPr>
          <a:xfrm>
            <a:off x="3084911" y="1524685"/>
            <a:ext cx="6096000" cy="646331"/>
          </a:xfrm>
          <a:prstGeom prst="rect">
            <a:avLst/>
          </a:prstGeom>
          <a:solidFill>
            <a:schemeClr val="tx1"/>
          </a:solidFill>
        </p:spPr>
        <p:txBody>
          <a:bodyPr>
            <a:spAutoFit/>
          </a:bodyPr>
          <a:lstStyle/>
          <a:p>
            <a:r>
              <a:rPr lang="en-US" altLang="zh-CN" dirty="0" err="1">
                <a:solidFill>
                  <a:srgbClr val="569CD6"/>
                </a:solidFill>
                <a:latin typeface="Lucida Console" panose="020B0609040504020204" pitchFamily="49" charset="0"/>
              </a:rPr>
              <a:t>enum</a:t>
            </a:r>
            <a:r>
              <a:rPr lang="en-US" altLang="zh-CN" dirty="0">
                <a:solidFill>
                  <a:srgbClr val="D4D4D4"/>
                </a:solidFill>
                <a:latin typeface="Lucida Console" panose="020B0609040504020204" pitchFamily="49" charset="0"/>
              </a:rPr>
              <a:t> </a:t>
            </a:r>
            <a:r>
              <a:rPr lang="en-US" altLang="zh-CN" dirty="0">
                <a:solidFill>
                  <a:srgbClr val="4EC9B0"/>
                </a:solidFill>
                <a:latin typeface="Lucida Console" panose="020B0609040504020204" pitchFamily="49" charset="0"/>
              </a:rPr>
              <a:t>Color</a:t>
            </a:r>
            <a:r>
              <a:rPr lang="en-US" altLang="zh-CN" dirty="0">
                <a:solidFill>
                  <a:srgbClr val="D4D4D4"/>
                </a:solidFill>
                <a:latin typeface="Lucida Console" panose="020B0609040504020204" pitchFamily="49" charset="0"/>
              </a:rPr>
              <a:t> { </a:t>
            </a:r>
            <a:r>
              <a:rPr lang="en-US" altLang="zh-CN" dirty="0">
                <a:solidFill>
                  <a:srgbClr val="4FC1FF"/>
                </a:solidFill>
                <a:latin typeface="Lucida Console" panose="020B0609040504020204" pitchFamily="49" charset="0"/>
              </a:rPr>
              <a:t>black</a:t>
            </a:r>
            <a:r>
              <a:rPr lang="en-US" altLang="zh-CN" dirty="0">
                <a:solidFill>
                  <a:srgbClr val="D4D4D4"/>
                </a:solidFill>
                <a:latin typeface="Lucida Console" panose="020B0609040504020204" pitchFamily="49" charset="0"/>
              </a:rPr>
              <a:t>, </a:t>
            </a:r>
            <a:r>
              <a:rPr lang="en-US" altLang="zh-CN" dirty="0">
                <a:solidFill>
                  <a:srgbClr val="4FC1FF"/>
                </a:solidFill>
                <a:latin typeface="Lucida Console" panose="020B0609040504020204" pitchFamily="49" charset="0"/>
              </a:rPr>
              <a:t>white</a:t>
            </a:r>
            <a:r>
              <a:rPr lang="en-US" altLang="zh-CN" dirty="0">
                <a:solidFill>
                  <a:srgbClr val="D4D4D4"/>
                </a:solidFill>
                <a:latin typeface="Lucida Console" panose="020B0609040504020204" pitchFamily="49" charset="0"/>
              </a:rPr>
              <a:t>, </a:t>
            </a:r>
            <a:r>
              <a:rPr lang="en-US" altLang="zh-CN" dirty="0">
                <a:solidFill>
                  <a:srgbClr val="4FC1FF"/>
                </a:solidFill>
                <a:latin typeface="Lucida Console" panose="020B0609040504020204" pitchFamily="49" charset="0"/>
              </a:rPr>
              <a:t>red</a:t>
            </a:r>
            <a:r>
              <a:rPr lang="en-US" altLang="zh-CN" dirty="0">
                <a:solidFill>
                  <a:srgbClr val="D4D4D4"/>
                </a:solidFill>
                <a:latin typeface="Lucida Console" panose="020B0609040504020204" pitchFamily="49" charset="0"/>
              </a:rPr>
              <a:t> };</a:t>
            </a:r>
          </a:p>
          <a:p>
            <a:r>
              <a:rPr lang="en-US" altLang="zh-CN" dirty="0">
                <a:solidFill>
                  <a:srgbClr val="569CD6"/>
                </a:solidFill>
                <a:latin typeface="Lucida Console" panose="020B0609040504020204" pitchFamily="49" charset="0"/>
              </a:rPr>
              <a:t>auto</a:t>
            </a:r>
            <a:r>
              <a:rPr lang="en-US" altLang="zh-CN" dirty="0">
                <a:solidFill>
                  <a:srgbClr val="D4D4D4"/>
                </a:solidFill>
                <a:latin typeface="Lucida Console" panose="020B0609040504020204" pitchFamily="49" charset="0"/>
              </a:rPr>
              <a:t> white = </a:t>
            </a:r>
            <a:r>
              <a:rPr lang="en-US" altLang="zh-CN" dirty="0">
                <a:solidFill>
                  <a:srgbClr val="569CD6"/>
                </a:solidFill>
                <a:latin typeface="Lucida Console" panose="020B0609040504020204" pitchFamily="49" charset="0"/>
              </a:rPr>
              <a:t>false</a:t>
            </a:r>
            <a:r>
              <a:rPr lang="en-US" altLang="zh-CN" dirty="0">
                <a:solidFill>
                  <a:srgbClr val="D4D4D4"/>
                </a:solidFill>
                <a:latin typeface="Lucida Console" panose="020B0609040504020204" pitchFamily="49" charset="0"/>
              </a:rPr>
              <a:t>;  </a:t>
            </a:r>
            <a:r>
              <a:rPr lang="en-US" altLang="zh-CN" dirty="0">
                <a:solidFill>
                  <a:srgbClr val="6A9955"/>
                </a:solidFill>
                <a:latin typeface="Lucida Console" panose="020B0609040504020204" pitchFamily="49" charset="0"/>
              </a:rPr>
              <a:t>// </a:t>
            </a:r>
            <a:r>
              <a:rPr lang="zh-CN" altLang="en-US" dirty="0">
                <a:solidFill>
                  <a:srgbClr val="6A9955"/>
                </a:solidFill>
                <a:latin typeface="Lucida Console" panose="020B0609040504020204" pitchFamily="49" charset="0"/>
              </a:rPr>
              <a:t>名字冲突</a:t>
            </a:r>
            <a:endParaRPr lang="en-US" altLang="zh-CN" dirty="0">
              <a:solidFill>
                <a:srgbClr val="6A9955"/>
              </a:solidFill>
              <a:latin typeface="Lucida Console" panose="020B0609040504020204" pitchFamily="49" charset="0"/>
            </a:endParaRPr>
          </a:p>
        </p:txBody>
      </p:sp>
      <p:sp>
        <p:nvSpPr>
          <p:cNvPr id="13" name="矩形 12"/>
          <p:cNvSpPr/>
          <p:nvPr/>
        </p:nvSpPr>
        <p:spPr>
          <a:xfrm>
            <a:off x="2975373" y="2807952"/>
            <a:ext cx="6315075" cy="1477328"/>
          </a:xfrm>
          <a:prstGeom prst="rect">
            <a:avLst/>
          </a:prstGeom>
          <a:solidFill>
            <a:schemeClr val="tx1"/>
          </a:solidFill>
        </p:spPr>
        <p:txBody>
          <a:bodyPr wrap="square">
            <a:spAutoFit/>
          </a:bodyPr>
          <a:lstStyle/>
          <a:p>
            <a:r>
              <a:rPr lang="en-US" altLang="zh-CN" dirty="0">
                <a:solidFill>
                  <a:srgbClr val="D4D4D4"/>
                </a:solidFill>
                <a:latin typeface="Lucida Console" panose="020B0609040504020204" pitchFamily="49" charset="0"/>
              </a:rPr>
              <a:t>    </a:t>
            </a:r>
            <a:r>
              <a:rPr lang="en-US" altLang="zh-CN" dirty="0" err="1">
                <a:solidFill>
                  <a:srgbClr val="569CD6"/>
                </a:solidFill>
                <a:latin typeface="Lucida Console" panose="020B0609040504020204" pitchFamily="49" charset="0"/>
              </a:rPr>
              <a:t>enum</a:t>
            </a:r>
            <a:r>
              <a:rPr lang="en-US" altLang="zh-CN" dirty="0">
                <a:solidFill>
                  <a:srgbClr val="D4D4D4"/>
                </a:solidFill>
                <a:latin typeface="Lucida Console" panose="020B0609040504020204" pitchFamily="49" charset="0"/>
              </a:rPr>
              <a:t> </a:t>
            </a:r>
            <a:r>
              <a:rPr lang="en-US" altLang="zh-CN" dirty="0">
                <a:solidFill>
                  <a:srgbClr val="569CD6"/>
                </a:solidFill>
                <a:latin typeface="Lucida Console" panose="020B0609040504020204" pitchFamily="49" charset="0"/>
              </a:rPr>
              <a:t>class</a:t>
            </a:r>
            <a:r>
              <a:rPr lang="en-US" altLang="zh-CN" dirty="0">
                <a:solidFill>
                  <a:srgbClr val="D4D4D4"/>
                </a:solidFill>
                <a:latin typeface="Lucida Console" panose="020B0609040504020204" pitchFamily="49" charset="0"/>
              </a:rPr>
              <a:t> </a:t>
            </a:r>
            <a:r>
              <a:rPr lang="en-US" altLang="zh-CN" dirty="0">
                <a:solidFill>
                  <a:srgbClr val="4EC9B0"/>
                </a:solidFill>
                <a:latin typeface="Lucida Console" panose="020B0609040504020204" pitchFamily="49" charset="0"/>
              </a:rPr>
              <a:t>Color</a:t>
            </a:r>
            <a:r>
              <a:rPr lang="en-US" altLang="zh-CN" dirty="0">
                <a:solidFill>
                  <a:srgbClr val="D4D4D4"/>
                </a:solidFill>
                <a:latin typeface="Lucida Console" panose="020B0609040504020204" pitchFamily="49" charset="0"/>
              </a:rPr>
              <a:t> { </a:t>
            </a:r>
            <a:r>
              <a:rPr lang="en-US" altLang="zh-CN" dirty="0">
                <a:solidFill>
                  <a:srgbClr val="4FC1FF"/>
                </a:solidFill>
                <a:latin typeface="Lucida Console" panose="020B0609040504020204" pitchFamily="49" charset="0"/>
              </a:rPr>
              <a:t>black</a:t>
            </a:r>
            <a:r>
              <a:rPr lang="en-US" altLang="zh-CN" dirty="0">
                <a:solidFill>
                  <a:srgbClr val="D4D4D4"/>
                </a:solidFill>
                <a:latin typeface="Lucida Console" panose="020B0609040504020204" pitchFamily="49" charset="0"/>
              </a:rPr>
              <a:t>, </a:t>
            </a:r>
            <a:r>
              <a:rPr lang="en-US" altLang="zh-CN" dirty="0">
                <a:solidFill>
                  <a:srgbClr val="4FC1FF"/>
                </a:solidFill>
                <a:latin typeface="Lucida Console" panose="020B0609040504020204" pitchFamily="49" charset="0"/>
              </a:rPr>
              <a:t>white</a:t>
            </a:r>
            <a:r>
              <a:rPr lang="en-US" altLang="zh-CN" dirty="0">
                <a:solidFill>
                  <a:srgbClr val="D4D4D4"/>
                </a:solidFill>
                <a:latin typeface="Lucida Console" panose="020B0609040504020204" pitchFamily="49" charset="0"/>
              </a:rPr>
              <a:t>, </a:t>
            </a:r>
            <a:r>
              <a:rPr lang="en-US" altLang="zh-CN" dirty="0">
                <a:solidFill>
                  <a:srgbClr val="4FC1FF"/>
                </a:solidFill>
                <a:latin typeface="Lucida Console" panose="020B0609040504020204" pitchFamily="49" charset="0"/>
              </a:rPr>
              <a:t>red</a:t>
            </a:r>
            <a:r>
              <a:rPr lang="en-US" altLang="zh-CN" dirty="0">
                <a:solidFill>
                  <a:srgbClr val="D4D4D4"/>
                </a:solidFill>
                <a:latin typeface="Lucida Console" panose="020B0609040504020204" pitchFamily="49" charset="0"/>
              </a:rPr>
              <a:t> };</a:t>
            </a:r>
          </a:p>
          <a:p>
            <a:r>
              <a:rPr lang="en-US" altLang="zh-CN" dirty="0">
                <a:solidFill>
                  <a:srgbClr val="D4D4D4"/>
                </a:solidFill>
                <a:latin typeface="Lucida Console" panose="020B0609040504020204" pitchFamily="49" charset="0"/>
              </a:rPr>
              <a:t>    </a:t>
            </a:r>
            <a:r>
              <a:rPr lang="en-US" altLang="zh-CN" dirty="0">
                <a:solidFill>
                  <a:srgbClr val="569CD6"/>
                </a:solidFill>
                <a:latin typeface="Lucida Console" panose="020B0609040504020204" pitchFamily="49" charset="0"/>
              </a:rPr>
              <a:t>auto</a:t>
            </a:r>
            <a:r>
              <a:rPr lang="en-US" altLang="zh-CN" dirty="0">
                <a:solidFill>
                  <a:srgbClr val="D4D4D4"/>
                </a:solidFill>
                <a:latin typeface="Lucida Console" panose="020B0609040504020204" pitchFamily="49" charset="0"/>
              </a:rPr>
              <a:t> white = </a:t>
            </a:r>
            <a:r>
              <a:rPr lang="en-US" altLang="zh-CN" dirty="0">
                <a:solidFill>
                  <a:srgbClr val="569CD6"/>
                </a:solidFill>
                <a:latin typeface="Lucida Console" panose="020B0609040504020204" pitchFamily="49" charset="0"/>
              </a:rPr>
              <a:t>false</a:t>
            </a:r>
            <a:r>
              <a:rPr lang="en-US" altLang="zh-CN" dirty="0">
                <a:solidFill>
                  <a:srgbClr val="D4D4D4"/>
                </a:solidFill>
                <a:latin typeface="Lucida Console" panose="020B0609040504020204" pitchFamily="49" charset="0"/>
              </a:rPr>
              <a:t>;</a:t>
            </a:r>
          </a:p>
          <a:p>
            <a:r>
              <a:rPr lang="en-US" altLang="zh-CN" dirty="0">
                <a:solidFill>
                  <a:srgbClr val="D4D4D4"/>
                </a:solidFill>
                <a:latin typeface="Lucida Console" panose="020B0609040504020204" pitchFamily="49" charset="0"/>
              </a:rPr>
              <a:t>    </a:t>
            </a:r>
            <a:r>
              <a:rPr lang="en-US" altLang="zh-CN" dirty="0">
                <a:solidFill>
                  <a:srgbClr val="4EC9B0"/>
                </a:solidFill>
                <a:latin typeface="Lucida Console" panose="020B0609040504020204" pitchFamily="49" charset="0"/>
              </a:rPr>
              <a:t>Color</a:t>
            </a:r>
            <a:r>
              <a:rPr lang="en-US" altLang="zh-CN" dirty="0">
                <a:solidFill>
                  <a:srgbClr val="D4D4D4"/>
                </a:solidFill>
                <a:latin typeface="Lucida Console" panose="020B0609040504020204" pitchFamily="49" charset="0"/>
              </a:rPr>
              <a:t> a = white;</a:t>
            </a:r>
            <a:r>
              <a:rPr lang="en-US" altLang="zh-CN" dirty="0">
                <a:solidFill>
                  <a:srgbClr val="6A9955"/>
                </a:solidFill>
                <a:latin typeface="Lucida Console" panose="020B0609040504020204" pitchFamily="49" charset="0"/>
              </a:rPr>
              <a:t>  // </a:t>
            </a:r>
            <a:r>
              <a:rPr lang="zh-CN" altLang="en-US" dirty="0">
                <a:solidFill>
                  <a:srgbClr val="6A9955"/>
                </a:solidFill>
                <a:latin typeface="Lucida Console" panose="020B0609040504020204" pitchFamily="49" charset="0"/>
              </a:rPr>
              <a:t>错误，找不到</a:t>
            </a:r>
            <a:r>
              <a:rPr lang="en-US" altLang="zh-CN" dirty="0">
                <a:solidFill>
                  <a:srgbClr val="6A9955"/>
                </a:solidFill>
                <a:latin typeface="Lucida Console" panose="020B0609040504020204" pitchFamily="49" charset="0"/>
              </a:rPr>
              <a:t>white</a:t>
            </a:r>
            <a:endParaRPr lang="en-US" altLang="zh-CN" dirty="0">
              <a:solidFill>
                <a:srgbClr val="D4D4D4"/>
              </a:solidFill>
              <a:latin typeface="Lucida Console" panose="020B0609040504020204" pitchFamily="49" charset="0"/>
            </a:endParaRPr>
          </a:p>
          <a:p>
            <a:r>
              <a:rPr lang="en-US" altLang="zh-CN" dirty="0">
                <a:solidFill>
                  <a:srgbClr val="D4D4D4"/>
                </a:solidFill>
                <a:latin typeface="Lucida Console" panose="020B0609040504020204" pitchFamily="49" charset="0"/>
              </a:rPr>
              <a:t>    </a:t>
            </a:r>
            <a:r>
              <a:rPr lang="en-US" altLang="zh-CN" dirty="0">
                <a:solidFill>
                  <a:srgbClr val="4EC9B0"/>
                </a:solidFill>
                <a:latin typeface="Lucida Console" panose="020B0609040504020204" pitchFamily="49" charset="0"/>
              </a:rPr>
              <a:t>Color</a:t>
            </a:r>
            <a:r>
              <a:rPr lang="en-US" altLang="zh-CN" dirty="0">
                <a:solidFill>
                  <a:srgbClr val="D4D4D4"/>
                </a:solidFill>
                <a:latin typeface="Lucida Console" panose="020B0609040504020204" pitchFamily="49" charset="0"/>
              </a:rPr>
              <a:t> b = </a:t>
            </a:r>
            <a:r>
              <a:rPr lang="en-US" altLang="zh-CN" dirty="0">
                <a:solidFill>
                  <a:srgbClr val="4EC9B0"/>
                </a:solidFill>
                <a:latin typeface="Lucida Console" panose="020B0609040504020204" pitchFamily="49" charset="0"/>
              </a:rPr>
              <a:t>Color</a:t>
            </a:r>
            <a:r>
              <a:rPr lang="en-US" altLang="zh-CN" dirty="0">
                <a:solidFill>
                  <a:srgbClr val="D4D4D4"/>
                </a:solidFill>
                <a:latin typeface="Lucida Console" panose="020B0609040504020204" pitchFamily="49" charset="0"/>
              </a:rPr>
              <a:t>::white;</a:t>
            </a:r>
          </a:p>
          <a:p>
            <a:r>
              <a:rPr lang="en-US" altLang="zh-CN" dirty="0">
                <a:solidFill>
                  <a:srgbClr val="D4D4D4"/>
                </a:solidFill>
                <a:latin typeface="Lucida Console" panose="020B0609040504020204" pitchFamily="49" charset="0"/>
              </a:rPr>
              <a:t>    </a:t>
            </a:r>
            <a:r>
              <a:rPr lang="en-US" altLang="zh-CN" dirty="0">
                <a:solidFill>
                  <a:srgbClr val="569CD6"/>
                </a:solidFill>
                <a:latin typeface="Lucida Console" panose="020B0609040504020204" pitchFamily="49" charset="0"/>
              </a:rPr>
              <a:t>auto</a:t>
            </a:r>
            <a:r>
              <a:rPr lang="en-US" altLang="zh-CN" dirty="0">
                <a:solidFill>
                  <a:srgbClr val="D4D4D4"/>
                </a:solidFill>
                <a:latin typeface="Lucida Console" panose="020B0609040504020204" pitchFamily="49" charset="0"/>
              </a:rPr>
              <a:t> c = </a:t>
            </a:r>
            <a:r>
              <a:rPr lang="en-US" altLang="zh-CN" dirty="0">
                <a:solidFill>
                  <a:srgbClr val="4EC9B0"/>
                </a:solidFill>
                <a:latin typeface="Lucida Console" panose="020B0609040504020204" pitchFamily="49" charset="0"/>
              </a:rPr>
              <a:t>Color</a:t>
            </a:r>
            <a:r>
              <a:rPr lang="en-US" altLang="zh-CN" dirty="0">
                <a:solidFill>
                  <a:srgbClr val="D4D4D4"/>
                </a:solidFill>
                <a:latin typeface="Lucida Console" panose="020B0609040504020204" pitchFamily="49" charset="0"/>
              </a:rPr>
              <a:t>::white;</a:t>
            </a:r>
          </a:p>
        </p:txBody>
      </p:sp>
      <p:sp>
        <p:nvSpPr>
          <p:cNvPr id="14" name="矩形 13"/>
          <p:cNvSpPr/>
          <p:nvPr/>
        </p:nvSpPr>
        <p:spPr>
          <a:xfrm>
            <a:off x="1232300" y="2352442"/>
            <a:ext cx="9801225" cy="369332"/>
          </a:xfrm>
          <a:prstGeom prst="rect">
            <a:avLst/>
          </a:prstGeom>
        </p:spPr>
        <p:txBody>
          <a:bodyPr wrap="square">
            <a:spAutoFit/>
          </a:bodyPr>
          <a:lstStyle/>
          <a:p>
            <a:r>
              <a:rPr lang="en-US" altLang="zh-CN" dirty="0">
                <a:latin typeface="微软雅黑" panose="020B0503020204020204" pitchFamily="34" charset="-122"/>
                <a:ea typeface="微软雅黑" panose="020B0503020204020204" pitchFamily="34" charset="-122"/>
              </a:rPr>
              <a:t>C++11</a:t>
            </a:r>
            <a:r>
              <a:rPr lang="zh-CN" altLang="en-US" dirty="0">
                <a:latin typeface="微软雅黑" panose="020B0503020204020204" pitchFamily="34" charset="-122"/>
                <a:ea typeface="微软雅黑" panose="020B0503020204020204" pitchFamily="34" charset="-122"/>
              </a:rPr>
              <a:t>中新增了带有作用域的枚举类型，它的值只在自己的作用域内有效。</a:t>
            </a:r>
            <a:endParaRPr lang="en-US" altLang="zh-CN" dirty="0">
              <a:latin typeface="微软雅黑" panose="020B0503020204020204" pitchFamily="34" charset="-122"/>
              <a:ea typeface="微软雅黑" panose="020B0503020204020204" pitchFamily="34" charset="-122"/>
            </a:endParaRPr>
          </a:p>
        </p:txBody>
      </p:sp>
      <p:sp>
        <p:nvSpPr>
          <p:cNvPr id="15" name="矩形 14"/>
          <p:cNvSpPr/>
          <p:nvPr/>
        </p:nvSpPr>
        <p:spPr>
          <a:xfrm>
            <a:off x="2651522" y="4961663"/>
            <a:ext cx="6962775" cy="1569660"/>
          </a:xfrm>
          <a:prstGeom prst="rect">
            <a:avLst/>
          </a:prstGeom>
          <a:solidFill>
            <a:schemeClr val="tx1"/>
          </a:solidFill>
        </p:spPr>
        <p:txBody>
          <a:bodyPr wrap="square">
            <a:spAutoFit/>
          </a:bodyPr>
          <a:lstStyle/>
          <a:p>
            <a:r>
              <a:rPr lang="en-US" altLang="zh-CN" sz="1600" dirty="0">
                <a:solidFill>
                  <a:srgbClr val="D4D4D4"/>
                </a:solidFill>
                <a:latin typeface="Lucida Console" panose="020B0609040504020204" pitchFamily="49" charset="0"/>
              </a:rPr>
              <a:t>    </a:t>
            </a:r>
            <a:r>
              <a:rPr lang="en-US" altLang="zh-CN" sz="1600" dirty="0" err="1">
                <a:solidFill>
                  <a:srgbClr val="569CD6"/>
                </a:solidFill>
                <a:latin typeface="Lucida Console" panose="020B0609040504020204" pitchFamily="49" charset="0"/>
              </a:rPr>
              <a:t>enum</a:t>
            </a:r>
            <a:r>
              <a:rPr lang="en-US" altLang="zh-CN" sz="1600" dirty="0">
                <a:solidFill>
                  <a:srgbClr val="D4D4D4"/>
                </a:solidFill>
                <a:latin typeface="Lucida Console" panose="020B0609040504020204" pitchFamily="49" charset="0"/>
              </a:rPr>
              <a:t> </a:t>
            </a:r>
            <a:r>
              <a:rPr lang="en-US" altLang="zh-CN" sz="1600" dirty="0">
                <a:solidFill>
                  <a:srgbClr val="569CD6"/>
                </a:solidFill>
                <a:latin typeface="Lucida Console" panose="020B0609040504020204" pitchFamily="49" charset="0"/>
              </a:rPr>
              <a:t>class</a:t>
            </a:r>
            <a:r>
              <a:rPr lang="en-US" altLang="zh-CN" sz="1600" dirty="0">
                <a:solidFill>
                  <a:srgbClr val="D4D4D4"/>
                </a:solidFill>
                <a:latin typeface="Lucida Console" panose="020B0609040504020204" pitchFamily="49" charset="0"/>
              </a:rPr>
              <a:t> </a:t>
            </a:r>
            <a:r>
              <a:rPr lang="en-US" altLang="zh-CN" sz="1600" dirty="0">
                <a:solidFill>
                  <a:srgbClr val="4EC9B0"/>
                </a:solidFill>
                <a:latin typeface="Lucida Console" panose="020B0609040504020204" pitchFamily="49" charset="0"/>
              </a:rPr>
              <a:t>Color</a:t>
            </a:r>
            <a:r>
              <a:rPr lang="en-US" altLang="zh-CN" sz="1600" dirty="0">
                <a:solidFill>
                  <a:srgbClr val="D4D4D4"/>
                </a:solidFill>
                <a:latin typeface="Lucida Console" panose="020B0609040504020204" pitchFamily="49" charset="0"/>
              </a:rPr>
              <a:t> { </a:t>
            </a:r>
            <a:r>
              <a:rPr lang="en-US" altLang="zh-CN" sz="1600" dirty="0">
                <a:solidFill>
                  <a:srgbClr val="4FC1FF"/>
                </a:solidFill>
                <a:latin typeface="Lucida Console" panose="020B0609040504020204" pitchFamily="49" charset="0"/>
              </a:rPr>
              <a:t>black</a:t>
            </a:r>
            <a:r>
              <a:rPr lang="en-US" altLang="zh-CN" sz="1600" dirty="0">
                <a:solidFill>
                  <a:srgbClr val="D4D4D4"/>
                </a:solidFill>
                <a:latin typeface="Lucida Console" panose="020B0609040504020204" pitchFamily="49" charset="0"/>
              </a:rPr>
              <a:t>, </a:t>
            </a:r>
            <a:r>
              <a:rPr lang="en-US" altLang="zh-CN" sz="1600" dirty="0">
                <a:solidFill>
                  <a:srgbClr val="4FC1FF"/>
                </a:solidFill>
                <a:latin typeface="Lucida Console" panose="020B0609040504020204" pitchFamily="49" charset="0"/>
              </a:rPr>
              <a:t>white</a:t>
            </a:r>
            <a:r>
              <a:rPr lang="en-US" altLang="zh-CN" sz="1600" dirty="0">
                <a:solidFill>
                  <a:srgbClr val="D4D4D4"/>
                </a:solidFill>
                <a:latin typeface="Lucida Console" panose="020B0609040504020204" pitchFamily="49" charset="0"/>
              </a:rPr>
              <a:t>, </a:t>
            </a:r>
            <a:r>
              <a:rPr lang="en-US" altLang="zh-CN" sz="1600" dirty="0">
                <a:solidFill>
                  <a:srgbClr val="4FC1FF"/>
                </a:solidFill>
                <a:latin typeface="Lucida Console" panose="020B0609040504020204" pitchFamily="49" charset="0"/>
              </a:rPr>
              <a:t>red</a:t>
            </a:r>
            <a:r>
              <a:rPr lang="en-US" altLang="zh-CN" sz="1600" dirty="0">
                <a:solidFill>
                  <a:srgbClr val="D4D4D4"/>
                </a:solidFill>
                <a:latin typeface="Lucida Console" panose="020B0609040504020204" pitchFamily="49" charset="0"/>
              </a:rPr>
              <a:t> };</a:t>
            </a:r>
          </a:p>
          <a:p>
            <a:r>
              <a:rPr lang="en-US" altLang="zh-CN" sz="1600" dirty="0">
                <a:solidFill>
                  <a:srgbClr val="D4D4D4"/>
                </a:solidFill>
                <a:latin typeface="Lucida Console" panose="020B0609040504020204" pitchFamily="49" charset="0"/>
              </a:rPr>
              <a:t>    </a:t>
            </a:r>
            <a:r>
              <a:rPr lang="en-US" altLang="zh-CN" sz="1600" dirty="0" err="1">
                <a:solidFill>
                  <a:srgbClr val="569CD6"/>
                </a:solidFill>
                <a:latin typeface="Lucida Console" panose="020B0609040504020204" pitchFamily="49" charset="0"/>
              </a:rPr>
              <a:t>int</a:t>
            </a:r>
            <a:r>
              <a:rPr lang="en-US" altLang="zh-CN" sz="1600" dirty="0">
                <a:solidFill>
                  <a:srgbClr val="D4D4D4"/>
                </a:solidFill>
                <a:latin typeface="Lucida Console" panose="020B0609040504020204" pitchFamily="49" charset="0"/>
              </a:rPr>
              <a:t> x = </a:t>
            </a:r>
            <a:r>
              <a:rPr lang="en-US" altLang="zh-CN" sz="1600" dirty="0">
                <a:solidFill>
                  <a:srgbClr val="4EC9B0"/>
                </a:solidFill>
                <a:latin typeface="Lucida Console" panose="020B0609040504020204" pitchFamily="49" charset="0"/>
              </a:rPr>
              <a:t>Color</a:t>
            </a:r>
            <a:r>
              <a:rPr lang="en-US" altLang="zh-CN" sz="1600" dirty="0">
                <a:solidFill>
                  <a:srgbClr val="D4D4D4"/>
                </a:solidFill>
                <a:latin typeface="Lucida Console" panose="020B0609040504020204" pitchFamily="49" charset="0"/>
              </a:rPr>
              <a:t>::white;</a:t>
            </a:r>
          </a:p>
          <a:p>
            <a:r>
              <a:rPr lang="en-US" altLang="zh-CN" sz="1600" dirty="0">
                <a:solidFill>
                  <a:srgbClr val="D4D4D4"/>
                </a:solidFill>
                <a:latin typeface="Lucida Console" panose="020B0609040504020204" pitchFamily="49" charset="0"/>
              </a:rPr>
              <a:t>    </a:t>
            </a:r>
            <a:r>
              <a:rPr lang="en-US" altLang="zh-CN" sz="1600" dirty="0">
                <a:solidFill>
                  <a:srgbClr val="C586C0"/>
                </a:solidFill>
                <a:latin typeface="Lucida Console" panose="020B0609040504020204" pitchFamily="49" charset="0"/>
              </a:rPr>
              <a:t>if</a:t>
            </a:r>
            <a:r>
              <a:rPr lang="en-US" altLang="zh-CN" sz="1600" dirty="0">
                <a:solidFill>
                  <a:srgbClr val="D4D4D4"/>
                </a:solidFill>
                <a:latin typeface="Lucida Console" panose="020B0609040504020204" pitchFamily="49" charset="0"/>
              </a:rPr>
              <a:t> (</a:t>
            </a:r>
            <a:r>
              <a:rPr lang="en-US" altLang="zh-CN" sz="1600" dirty="0">
                <a:solidFill>
                  <a:srgbClr val="4EC9B0"/>
                </a:solidFill>
                <a:latin typeface="Lucida Console" panose="020B0609040504020204" pitchFamily="49" charset="0"/>
              </a:rPr>
              <a:t>Color</a:t>
            </a:r>
            <a:r>
              <a:rPr lang="en-US" altLang="zh-CN" sz="1600" dirty="0">
                <a:solidFill>
                  <a:srgbClr val="D4D4D4"/>
                </a:solidFill>
                <a:latin typeface="Lucida Console" panose="020B0609040504020204" pitchFamily="49" charset="0"/>
              </a:rPr>
              <a:t>::white &lt; </a:t>
            </a:r>
            <a:r>
              <a:rPr lang="en-US" altLang="zh-CN" sz="1600" dirty="0">
                <a:solidFill>
                  <a:srgbClr val="B5CEA8"/>
                </a:solidFill>
                <a:latin typeface="Lucida Console" panose="020B0609040504020204" pitchFamily="49" charset="0"/>
              </a:rPr>
              <a:t>5</a:t>
            </a:r>
            <a:r>
              <a:rPr lang="en-US" altLang="zh-CN" sz="1600" dirty="0">
                <a:solidFill>
                  <a:srgbClr val="D4D4D4"/>
                </a:solidFill>
                <a:latin typeface="Lucida Console" panose="020B0609040504020204" pitchFamily="49" charset="0"/>
              </a:rPr>
              <a:t>) {</a:t>
            </a:r>
          </a:p>
          <a:p>
            <a:r>
              <a:rPr lang="en-US" altLang="zh-CN" sz="1600" dirty="0">
                <a:solidFill>
                  <a:srgbClr val="6A9955"/>
                </a:solidFill>
                <a:latin typeface="Lucida Console" panose="020B0609040504020204" pitchFamily="49" charset="0"/>
              </a:rPr>
              <a:t>        // ...</a:t>
            </a:r>
            <a:endParaRPr lang="en-US" altLang="zh-CN" sz="1600" dirty="0">
              <a:solidFill>
                <a:srgbClr val="D4D4D4"/>
              </a:solidFill>
              <a:latin typeface="Lucida Console" panose="020B0609040504020204" pitchFamily="49" charset="0"/>
            </a:endParaRPr>
          </a:p>
          <a:p>
            <a:r>
              <a:rPr lang="en-US" altLang="zh-CN" sz="1600" dirty="0">
                <a:solidFill>
                  <a:srgbClr val="D4D4D4"/>
                </a:solidFill>
                <a:latin typeface="Lucida Console" panose="020B0609040504020204" pitchFamily="49" charset="0"/>
              </a:rPr>
              <a:t>    }</a:t>
            </a:r>
          </a:p>
          <a:p>
            <a:r>
              <a:rPr lang="en-US" altLang="zh-CN" sz="1600" dirty="0">
                <a:solidFill>
                  <a:srgbClr val="D4D4D4"/>
                </a:solidFill>
                <a:latin typeface="Lucida Console" panose="020B0609040504020204" pitchFamily="49" charset="0"/>
              </a:rPr>
              <a:t>    </a:t>
            </a:r>
            <a:r>
              <a:rPr lang="en-US" altLang="zh-CN" sz="1600" dirty="0" err="1">
                <a:solidFill>
                  <a:srgbClr val="569CD6"/>
                </a:solidFill>
                <a:latin typeface="Lucida Console" panose="020B0609040504020204" pitchFamily="49" charset="0"/>
              </a:rPr>
              <a:t>int</a:t>
            </a:r>
            <a:r>
              <a:rPr lang="en-US" altLang="zh-CN" sz="1600" dirty="0">
                <a:solidFill>
                  <a:srgbClr val="D4D4D4"/>
                </a:solidFill>
                <a:latin typeface="Lucida Console" panose="020B0609040504020204" pitchFamily="49" charset="0"/>
              </a:rPr>
              <a:t> y = </a:t>
            </a:r>
            <a:r>
              <a:rPr lang="en-US" altLang="zh-CN" sz="1600" dirty="0" err="1">
                <a:solidFill>
                  <a:srgbClr val="569CD6"/>
                </a:solidFill>
                <a:latin typeface="Lucida Console" panose="020B0609040504020204" pitchFamily="49" charset="0"/>
              </a:rPr>
              <a:t>static_cast</a:t>
            </a:r>
            <a:r>
              <a:rPr lang="en-US" altLang="zh-CN" sz="1600" dirty="0">
                <a:solidFill>
                  <a:srgbClr val="D4D4D4"/>
                </a:solidFill>
                <a:latin typeface="Lucida Console" panose="020B0609040504020204" pitchFamily="49" charset="0"/>
              </a:rPr>
              <a:t>&lt;</a:t>
            </a:r>
            <a:r>
              <a:rPr lang="en-US" altLang="zh-CN" sz="1600" dirty="0" err="1">
                <a:solidFill>
                  <a:srgbClr val="569CD6"/>
                </a:solidFill>
                <a:latin typeface="Lucida Console" panose="020B0609040504020204" pitchFamily="49" charset="0"/>
              </a:rPr>
              <a:t>int</a:t>
            </a:r>
            <a:r>
              <a:rPr lang="en-US" altLang="zh-CN" sz="1600" dirty="0">
                <a:solidFill>
                  <a:srgbClr val="D4D4D4"/>
                </a:solidFill>
                <a:latin typeface="Lucida Console" panose="020B0609040504020204" pitchFamily="49" charset="0"/>
              </a:rPr>
              <a:t>&gt;(</a:t>
            </a:r>
            <a:r>
              <a:rPr lang="en-US" altLang="zh-CN" sz="1600" dirty="0">
                <a:solidFill>
                  <a:srgbClr val="4EC9B0"/>
                </a:solidFill>
                <a:latin typeface="Lucida Console" panose="020B0609040504020204" pitchFamily="49" charset="0"/>
              </a:rPr>
              <a:t>Color</a:t>
            </a:r>
            <a:r>
              <a:rPr lang="en-US" altLang="zh-CN" sz="1600" dirty="0">
                <a:solidFill>
                  <a:srgbClr val="D4D4D4"/>
                </a:solidFill>
                <a:latin typeface="Lucida Console" panose="020B0609040504020204" pitchFamily="49" charset="0"/>
              </a:rPr>
              <a:t>::white);</a:t>
            </a:r>
          </a:p>
        </p:txBody>
      </p:sp>
      <p:sp>
        <p:nvSpPr>
          <p:cNvPr id="16" name="矩形 15"/>
          <p:cNvSpPr/>
          <p:nvPr/>
        </p:nvSpPr>
        <p:spPr>
          <a:xfrm>
            <a:off x="1232297" y="4455865"/>
            <a:ext cx="9801225" cy="369332"/>
          </a:xfrm>
          <a:prstGeom prst="rect">
            <a:avLst/>
          </a:prstGeom>
        </p:spPr>
        <p:txBody>
          <a:bodyPr wrap="square">
            <a:spAutoFit/>
          </a:bodyPr>
          <a:lstStyle/>
          <a:p>
            <a:r>
              <a:rPr lang="en-US" altLang="zh-CN" dirty="0" err="1">
                <a:latin typeface="微软雅黑" panose="020B0503020204020204" pitchFamily="34" charset="-122"/>
                <a:ea typeface="微软雅黑" panose="020B0503020204020204" pitchFamily="34" charset="-122"/>
              </a:rPr>
              <a:t>enum</a:t>
            </a:r>
            <a:r>
              <a:rPr lang="en-US" altLang="zh-CN" dirty="0">
                <a:latin typeface="微软雅黑" panose="020B0503020204020204" pitchFamily="34" charset="-122"/>
                <a:ea typeface="微软雅黑" panose="020B0503020204020204" pitchFamily="34" charset="-122"/>
              </a:rPr>
              <a:t> class</a:t>
            </a:r>
            <a:r>
              <a:rPr lang="zh-CN" altLang="en-US" dirty="0">
                <a:latin typeface="微软雅黑" panose="020B0503020204020204" pitchFamily="34" charset="-122"/>
                <a:ea typeface="微软雅黑" panose="020B0503020204020204" pitchFamily="34" charset="-122"/>
              </a:rPr>
              <a:t>的值不允许隐式的转换为整型，相比起传统枚举更加安全。</a:t>
            </a:r>
            <a:endParaRPr lang="en-US" altLang="zh-CN" dirty="0">
              <a:latin typeface="微软雅黑" panose="020B0503020204020204" pitchFamily="34" charset="-122"/>
              <a:ea typeface="微软雅黑" panose="020B0503020204020204" pitchFamily="34" charset="-122"/>
            </a:endParaRPr>
          </a:p>
        </p:txBody>
      </p:sp>
      <p:sp>
        <p:nvSpPr>
          <p:cNvPr id="17" name="矩形 16"/>
          <p:cNvSpPr/>
          <p:nvPr/>
        </p:nvSpPr>
        <p:spPr>
          <a:xfrm>
            <a:off x="3686176" y="5234089"/>
            <a:ext cx="2257425" cy="266700"/>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8" name="直接箭头连接符 17"/>
          <p:cNvCxnSpPr/>
          <p:nvPr/>
        </p:nvCxnSpPr>
        <p:spPr>
          <a:xfrm flipH="1" flipV="1">
            <a:off x="5943599" y="5367439"/>
            <a:ext cx="752476" cy="85148"/>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9" name="文本框 18"/>
          <p:cNvSpPr txBox="1"/>
          <p:nvPr/>
        </p:nvSpPr>
        <p:spPr>
          <a:xfrm>
            <a:off x="6696075" y="5316121"/>
            <a:ext cx="1676731" cy="369332"/>
          </a:xfrm>
          <a:prstGeom prst="rect">
            <a:avLst/>
          </a:prstGeom>
          <a:noFill/>
        </p:spPr>
        <p:txBody>
          <a:bodyPr wrap="square" rtlCol="0">
            <a:spAutoFit/>
          </a:bodyPr>
          <a:lstStyle/>
          <a:p>
            <a:r>
              <a:rPr lang="zh-CN" altLang="en-US" dirty="0">
                <a:solidFill>
                  <a:srgbClr val="FF0000"/>
                </a:solidFill>
                <a:latin typeface="微软雅黑" panose="020B0503020204020204" pitchFamily="34" charset="-122"/>
                <a:ea typeface="微软雅黑" panose="020B0503020204020204" pitchFamily="34" charset="-122"/>
              </a:rPr>
              <a:t>编译失败</a:t>
            </a:r>
          </a:p>
        </p:txBody>
      </p:sp>
      <p:sp>
        <p:nvSpPr>
          <p:cNvPr id="24" name="矩形 23"/>
          <p:cNvSpPr/>
          <p:nvPr/>
        </p:nvSpPr>
        <p:spPr>
          <a:xfrm>
            <a:off x="3686176" y="5506515"/>
            <a:ext cx="2257425" cy="266700"/>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25" name="直接箭头连接符 24"/>
          <p:cNvCxnSpPr>
            <a:stCxn id="19" idx="1"/>
          </p:cNvCxnSpPr>
          <p:nvPr/>
        </p:nvCxnSpPr>
        <p:spPr>
          <a:xfrm flipH="1">
            <a:off x="5943603" y="5500787"/>
            <a:ext cx="752472" cy="184668"/>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8" name="矩形 27"/>
          <p:cNvSpPr/>
          <p:nvPr/>
        </p:nvSpPr>
        <p:spPr>
          <a:xfrm>
            <a:off x="4143374" y="6214317"/>
            <a:ext cx="3895727" cy="266700"/>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 name="文本框 28"/>
          <p:cNvSpPr txBox="1"/>
          <p:nvPr/>
        </p:nvSpPr>
        <p:spPr>
          <a:xfrm>
            <a:off x="8534400" y="6130049"/>
            <a:ext cx="1676731" cy="369332"/>
          </a:xfrm>
          <a:prstGeom prst="rect">
            <a:avLst/>
          </a:prstGeom>
          <a:noFill/>
        </p:spPr>
        <p:txBody>
          <a:bodyPr wrap="square" rtlCol="0">
            <a:spAutoFit/>
          </a:bodyPr>
          <a:lstStyle/>
          <a:p>
            <a:r>
              <a:rPr lang="zh-CN" altLang="en-US" dirty="0">
                <a:solidFill>
                  <a:srgbClr val="FF0000"/>
                </a:solidFill>
                <a:latin typeface="微软雅黑" panose="020B0503020204020204" pitchFamily="34" charset="-122"/>
                <a:ea typeface="微软雅黑" panose="020B0503020204020204" pitchFamily="34" charset="-122"/>
              </a:rPr>
              <a:t>编译成功</a:t>
            </a:r>
          </a:p>
        </p:txBody>
      </p:sp>
      <p:cxnSp>
        <p:nvCxnSpPr>
          <p:cNvPr id="30" name="直接箭头连接符 29"/>
          <p:cNvCxnSpPr/>
          <p:nvPr/>
        </p:nvCxnSpPr>
        <p:spPr>
          <a:xfrm flipH="1">
            <a:off x="8039101" y="6347667"/>
            <a:ext cx="495300" cy="0"/>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nvGrpSpPr>
          <p:cNvPr id="20" name="组合 19"/>
          <p:cNvGrpSpPr/>
          <p:nvPr/>
        </p:nvGrpSpPr>
        <p:grpSpPr>
          <a:xfrm>
            <a:off x="429014" y="234192"/>
            <a:ext cx="6915125" cy="505969"/>
            <a:chOff x="321760" y="175643"/>
            <a:chExt cx="5186344" cy="379477"/>
          </a:xfrm>
        </p:grpSpPr>
        <p:sp>
          <p:nvSpPr>
            <p:cNvPr id="21" name="Title 1">
              <a:extLst>
                <a:ext uri="{FF2B5EF4-FFF2-40B4-BE49-F238E27FC236}">
                  <a16:creationId xmlns:a16="http://schemas.microsoft.com/office/drawing/2014/main" id="{6892040A-94F3-474F-8198-4204E9168CEC}"/>
                </a:ext>
              </a:extLst>
            </p:cNvPr>
            <p:cNvSpPr txBox="1">
              <a:spLocks/>
            </p:cNvSpPr>
            <p:nvPr/>
          </p:nvSpPr>
          <p:spPr>
            <a:xfrm>
              <a:off x="611560" y="175643"/>
              <a:ext cx="4896544" cy="379477"/>
            </a:xfrm>
            <a:prstGeom prst="rect">
              <a:avLst/>
            </a:prstGeom>
          </p:spPr>
          <p:txBody>
            <a:bodyPr lIns="0" rIns="0"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itchFamily="2" charset="0"/>
                  <a:cs typeface="Open Sans Light" panose="020B0306030504020204" pitchFamily="34" charset="0"/>
                </a:defRPr>
              </a:lvl1pPr>
            </a:lstStyle>
            <a:p>
              <a:pPr algn="l"/>
              <a:r>
                <a:rPr lang="zh-CN" altLang="en-US" sz="2400" dirty="0">
                  <a:solidFill>
                    <a:schemeClr val="tx1">
                      <a:lumMod val="65000"/>
                      <a:lumOff val="35000"/>
                    </a:schemeClr>
                  </a:solidFill>
                  <a:latin typeface="+mn-lt"/>
                  <a:ea typeface="+mn-ea"/>
                  <a:cs typeface="+mn-ea"/>
                  <a:sym typeface="+mn-lt"/>
                </a:rPr>
                <a:t>带有作用域的</a:t>
              </a:r>
              <a:r>
                <a:rPr lang="en-US" altLang="zh-CN" sz="2400" dirty="0" err="1">
                  <a:solidFill>
                    <a:schemeClr val="tx1">
                      <a:lumMod val="65000"/>
                      <a:lumOff val="35000"/>
                    </a:schemeClr>
                  </a:solidFill>
                  <a:latin typeface="+mn-lt"/>
                  <a:ea typeface="+mn-ea"/>
                  <a:cs typeface="+mn-ea"/>
                  <a:sym typeface="+mn-lt"/>
                </a:rPr>
                <a:t>enum</a:t>
              </a:r>
              <a:endParaRPr lang="en-US" altLang="zh-CN" sz="2400" dirty="0">
                <a:solidFill>
                  <a:schemeClr val="tx1">
                    <a:lumMod val="65000"/>
                    <a:lumOff val="35000"/>
                  </a:schemeClr>
                </a:solidFill>
                <a:latin typeface="+mn-lt"/>
                <a:ea typeface="+mn-ea"/>
                <a:cs typeface="+mn-ea"/>
                <a:sym typeface="+mn-lt"/>
              </a:endParaRPr>
            </a:p>
          </p:txBody>
        </p:sp>
        <p:sp>
          <p:nvSpPr>
            <p:cNvPr id="22" name="Diamond 33">
              <a:extLst>
                <a:ext uri="{FF2B5EF4-FFF2-40B4-BE49-F238E27FC236}">
                  <a16:creationId xmlns:a16="http://schemas.microsoft.com/office/drawing/2014/main" id="{88651C82-D860-43A5-951F-058DAA88FBBC}"/>
                </a:ext>
              </a:extLst>
            </p:cNvPr>
            <p:cNvSpPr/>
            <p:nvPr/>
          </p:nvSpPr>
          <p:spPr>
            <a:xfrm>
              <a:off x="321760" y="254774"/>
              <a:ext cx="250083" cy="250083"/>
            </a:xfrm>
            <a:prstGeom prst="diamond">
              <a:avLst/>
            </a:prstGeom>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anchor="ctr">
              <a:normAutofit fontScale="55000" lnSpcReduction="20000"/>
            </a:bodyPr>
            <a:lstStyle/>
            <a:p>
              <a:pPr algn="ctr"/>
              <a:endParaRPr lang="en-US" altLang="zh-CN" sz="2400" dirty="0">
                <a:solidFill>
                  <a:schemeClr val="bg1"/>
                </a:solidFill>
                <a:cs typeface="+mn-ea"/>
                <a:sym typeface="+mn-lt"/>
              </a:endParaRPr>
            </a:p>
          </p:txBody>
        </p:sp>
      </p:grpSp>
    </p:spTree>
    <p:extLst>
      <p:ext uri="{BB962C8B-B14F-4D97-AF65-F5344CB8AC3E}">
        <p14:creationId xmlns:p14="http://schemas.microsoft.com/office/powerpoint/2010/main" val="1139890764"/>
      </p:ext>
    </p:extLst>
  </p:cSld>
  <p:clrMapOvr>
    <a:masterClrMapping/>
  </p:clrMapOvr>
  <p:transition advClick="0" advTm="8000"/>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500"/>
                                        <p:tgtEl>
                                          <p:spTgt spid="13"/>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4"/>
                                        </p:tgtEl>
                                        <p:attrNameLst>
                                          <p:attrName>style.visibility</p:attrName>
                                        </p:attrNameLst>
                                      </p:cBhvr>
                                      <p:to>
                                        <p:strVal val="visible"/>
                                      </p:to>
                                    </p:set>
                                    <p:animEffect transition="in" filter="fade">
                                      <p:cBhvr>
                                        <p:cTn id="10" dur="500"/>
                                        <p:tgtEl>
                                          <p:spTgt spid="14"/>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5"/>
                                        </p:tgtEl>
                                        <p:attrNameLst>
                                          <p:attrName>style.visibility</p:attrName>
                                        </p:attrNameLst>
                                      </p:cBhvr>
                                      <p:to>
                                        <p:strVal val="visible"/>
                                      </p:to>
                                    </p:set>
                                    <p:animEffect transition="in" filter="fade">
                                      <p:cBhvr>
                                        <p:cTn id="15" dur="500"/>
                                        <p:tgtEl>
                                          <p:spTgt spid="15"/>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6"/>
                                        </p:tgtEl>
                                        <p:attrNameLst>
                                          <p:attrName>style.visibility</p:attrName>
                                        </p:attrNameLst>
                                      </p:cBhvr>
                                      <p:to>
                                        <p:strVal val="visible"/>
                                      </p:to>
                                    </p:set>
                                    <p:animEffect transition="in" filter="fade">
                                      <p:cBhvr>
                                        <p:cTn id="18" dur="500"/>
                                        <p:tgtEl>
                                          <p:spTgt spid="16"/>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17"/>
                                        </p:tgtEl>
                                        <p:attrNameLst>
                                          <p:attrName>style.visibility</p:attrName>
                                        </p:attrNameLst>
                                      </p:cBhvr>
                                      <p:to>
                                        <p:strVal val="visible"/>
                                      </p:to>
                                    </p:set>
                                    <p:animEffect transition="in" filter="fade">
                                      <p:cBhvr>
                                        <p:cTn id="23" dur="500"/>
                                        <p:tgtEl>
                                          <p:spTgt spid="17"/>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19"/>
                                        </p:tgtEl>
                                        <p:attrNameLst>
                                          <p:attrName>style.visibility</p:attrName>
                                        </p:attrNameLst>
                                      </p:cBhvr>
                                      <p:to>
                                        <p:strVal val="visible"/>
                                      </p:to>
                                    </p:set>
                                    <p:animEffect transition="in" filter="fade">
                                      <p:cBhvr>
                                        <p:cTn id="26" dur="500"/>
                                        <p:tgtEl>
                                          <p:spTgt spid="19"/>
                                        </p:tgtEl>
                                      </p:cBhvr>
                                    </p:animEffect>
                                  </p:childTnLst>
                                </p:cTn>
                              </p:par>
                              <p:par>
                                <p:cTn id="27" presetID="10" presetClass="entr" presetSubtype="0" fill="hold" nodeType="withEffect">
                                  <p:stCondLst>
                                    <p:cond delay="0"/>
                                  </p:stCondLst>
                                  <p:childTnLst>
                                    <p:set>
                                      <p:cBhvr>
                                        <p:cTn id="28" dur="1" fill="hold">
                                          <p:stCondLst>
                                            <p:cond delay="0"/>
                                          </p:stCondLst>
                                        </p:cTn>
                                        <p:tgtEl>
                                          <p:spTgt spid="18"/>
                                        </p:tgtEl>
                                        <p:attrNameLst>
                                          <p:attrName>style.visibility</p:attrName>
                                        </p:attrNameLst>
                                      </p:cBhvr>
                                      <p:to>
                                        <p:strVal val="visible"/>
                                      </p:to>
                                    </p:set>
                                    <p:animEffect transition="in" filter="fade">
                                      <p:cBhvr>
                                        <p:cTn id="29" dur="500"/>
                                        <p:tgtEl>
                                          <p:spTgt spid="18"/>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24"/>
                                        </p:tgtEl>
                                        <p:attrNameLst>
                                          <p:attrName>style.visibility</p:attrName>
                                        </p:attrNameLst>
                                      </p:cBhvr>
                                      <p:to>
                                        <p:strVal val="visible"/>
                                      </p:to>
                                    </p:set>
                                    <p:animEffect transition="in" filter="fade">
                                      <p:cBhvr>
                                        <p:cTn id="32" dur="500"/>
                                        <p:tgtEl>
                                          <p:spTgt spid="24"/>
                                        </p:tgtEl>
                                      </p:cBhvr>
                                    </p:animEffect>
                                  </p:childTnLst>
                                </p:cTn>
                              </p:par>
                              <p:par>
                                <p:cTn id="33" presetID="10" presetClass="entr" presetSubtype="0" fill="hold" nodeType="withEffect">
                                  <p:stCondLst>
                                    <p:cond delay="0"/>
                                  </p:stCondLst>
                                  <p:childTnLst>
                                    <p:set>
                                      <p:cBhvr>
                                        <p:cTn id="34" dur="1" fill="hold">
                                          <p:stCondLst>
                                            <p:cond delay="0"/>
                                          </p:stCondLst>
                                        </p:cTn>
                                        <p:tgtEl>
                                          <p:spTgt spid="25"/>
                                        </p:tgtEl>
                                        <p:attrNameLst>
                                          <p:attrName>style.visibility</p:attrName>
                                        </p:attrNameLst>
                                      </p:cBhvr>
                                      <p:to>
                                        <p:strVal val="visible"/>
                                      </p:to>
                                    </p:set>
                                    <p:animEffect transition="in" filter="fade">
                                      <p:cBhvr>
                                        <p:cTn id="35" dur="500"/>
                                        <p:tgtEl>
                                          <p:spTgt spid="25"/>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28"/>
                                        </p:tgtEl>
                                        <p:attrNameLst>
                                          <p:attrName>style.visibility</p:attrName>
                                        </p:attrNameLst>
                                      </p:cBhvr>
                                      <p:to>
                                        <p:strVal val="visible"/>
                                      </p:to>
                                    </p:set>
                                    <p:animEffect transition="in" filter="fade">
                                      <p:cBhvr>
                                        <p:cTn id="38" dur="500"/>
                                        <p:tgtEl>
                                          <p:spTgt spid="28"/>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29"/>
                                        </p:tgtEl>
                                        <p:attrNameLst>
                                          <p:attrName>style.visibility</p:attrName>
                                        </p:attrNameLst>
                                      </p:cBhvr>
                                      <p:to>
                                        <p:strVal val="visible"/>
                                      </p:to>
                                    </p:set>
                                    <p:animEffect transition="in" filter="fade">
                                      <p:cBhvr>
                                        <p:cTn id="41" dur="500"/>
                                        <p:tgtEl>
                                          <p:spTgt spid="29"/>
                                        </p:tgtEl>
                                      </p:cBhvr>
                                    </p:animEffect>
                                  </p:childTnLst>
                                </p:cTn>
                              </p:par>
                              <p:par>
                                <p:cTn id="42" presetID="10" presetClass="entr" presetSubtype="0" fill="hold" nodeType="withEffect">
                                  <p:stCondLst>
                                    <p:cond delay="0"/>
                                  </p:stCondLst>
                                  <p:childTnLst>
                                    <p:set>
                                      <p:cBhvr>
                                        <p:cTn id="43" dur="1" fill="hold">
                                          <p:stCondLst>
                                            <p:cond delay="0"/>
                                          </p:stCondLst>
                                        </p:cTn>
                                        <p:tgtEl>
                                          <p:spTgt spid="30"/>
                                        </p:tgtEl>
                                        <p:attrNameLst>
                                          <p:attrName>style.visibility</p:attrName>
                                        </p:attrNameLst>
                                      </p:cBhvr>
                                      <p:to>
                                        <p:strVal val="visible"/>
                                      </p:to>
                                    </p:set>
                                    <p:animEffect transition="in" filter="fade">
                                      <p:cBhvr>
                                        <p:cTn id="44" dur="50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4" grpId="0"/>
      <p:bldP spid="15" grpId="0" animBg="1"/>
      <p:bldP spid="16" grpId="0"/>
      <p:bldP spid="17" grpId="0" animBg="1"/>
      <p:bldP spid="19" grpId="0"/>
      <p:bldP spid="24" grpId="0" animBg="1"/>
      <p:bldP spid="28" grpId="0" animBg="1"/>
      <p:bldP spid="29"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p:nvPr/>
        </p:nvSpPr>
        <p:spPr>
          <a:xfrm>
            <a:off x="336948" y="835927"/>
            <a:ext cx="5473301" cy="338554"/>
          </a:xfrm>
          <a:prstGeom prst="rect">
            <a:avLst/>
          </a:prstGeom>
        </p:spPr>
        <p:txBody>
          <a:bodyPr wrap="square">
            <a:spAutoFit/>
          </a:bodyPr>
          <a:lstStyle/>
          <a:p>
            <a:r>
              <a:rPr lang="zh-CN" altLang="en-US" sz="1600" dirty="0">
                <a:latin typeface="微软雅黑" panose="020B0503020204020204" pitchFamily="34" charset="-122"/>
                <a:ea typeface="微软雅黑" panose="020B0503020204020204" pitchFamily="34" charset="-122"/>
              </a:rPr>
              <a:t>在</a:t>
            </a:r>
            <a:r>
              <a:rPr lang="en-US" altLang="zh-CN" sz="1600" dirty="0">
                <a:latin typeface="微软雅黑" panose="020B0503020204020204" pitchFamily="34" charset="-122"/>
                <a:ea typeface="微软雅黑" panose="020B0503020204020204" pitchFamily="34" charset="-122"/>
              </a:rPr>
              <a:t>C++98/03</a:t>
            </a:r>
            <a:r>
              <a:rPr lang="zh-CN" altLang="en-US" sz="1600" dirty="0">
                <a:latin typeface="微软雅黑" panose="020B0503020204020204" pitchFamily="34" charset="-122"/>
                <a:ea typeface="微软雅黑" panose="020B0503020204020204" pitchFamily="34" charset="-122"/>
              </a:rPr>
              <a:t>中，对象只能拷贝，这会产生一些性能开销</a:t>
            </a:r>
            <a:endParaRPr lang="en-US" altLang="zh-CN" sz="1600" dirty="0">
              <a:latin typeface="微软雅黑" panose="020B0503020204020204" pitchFamily="34" charset="-122"/>
              <a:ea typeface="微软雅黑" panose="020B0503020204020204" pitchFamily="34" charset="-122"/>
            </a:endParaRPr>
          </a:p>
        </p:txBody>
      </p:sp>
      <p:sp>
        <p:nvSpPr>
          <p:cNvPr id="3" name="矩形 2"/>
          <p:cNvSpPr/>
          <p:nvPr/>
        </p:nvSpPr>
        <p:spPr>
          <a:xfrm>
            <a:off x="478037" y="1324605"/>
            <a:ext cx="5686425" cy="5262979"/>
          </a:xfrm>
          <a:prstGeom prst="rect">
            <a:avLst/>
          </a:prstGeom>
          <a:solidFill>
            <a:schemeClr val="tx1"/>
          </a:solidFill>
        </p:spPr>
        <p:txBody>
          <a:bodyPr wrap="square">
            <a:spAutoFit/>
          </a:bodyPr>
          <a:lstStyle/>
          <a:p>
            <a:r>
              <a:rPr lang="en-US" altLang="zh-CN" sz="1600" dirty="0">
                <a:solidFill>
                  <a:srgbClr val="569CD6"/>
                </a:solidFill>
                <a:latin typeface="Lucida Console" panose="020B0609040504020204" pitchFamily="49" charset="0"/>
              </a:rPr>
              <a:t>class</a:t>
            </a:r>
            <a:r>
              <a:rPr lang="en-US" altLang="zh-CN" sz="1600" dirty="0">
                <a:solidFill>
                  <a:srgbClr val="D4D4D4"/>
                </a:solidFill>
                <a:latin typeface="Lucida Console" panose="020B0609040504020204" pitchFamily="49" charset="0"/>
              </a:rPr>
              <a:t> </a:t>
            </a:r>
            <a:r>
              <a:rPr lang="en-US" altLang="zh-CN" sz="1600" dirty="0" err="1">
                <a:solidFill>
                  <a:srgbClr val="4EC9B0"/>
                </a:solidFill>
                <a:latin typeface="Lucida Console" panose="020B0609040504020204" pitchFamily="49" charset="0"/>
              </a:rPr>
              <a:t>MyName</a:t>
            </a:r>
            <a:r>
              <a:rPr lang="en-US" altLang="zh-CN" sz="1600" dirty="0">
                <a:solidFill>
                  <a:srgbClr val="D4D4D4"/>
                </a:solidFill>
                <a:latin typeface="Lucida Console" panose="020B0609040504020204" pitchFamily="49" charset="0"/>
              </a:rPr>
              <a:t> {</a:t>
            </a:r>
          </a:p>
          <a:p>
            <a:r>
              <a:rPr lang="en-US" altLang="zh-CN" sz="1600" dirty="0">
                <a:solidFill>
                  <a:srgbClr val="569CD6"/>
                </a:solidFill>
                <a:latin typeface="Lucida Console" panose="020B0609040504020204" pitchFamily="49" charset="0"/>
              </a:rPr>
              <a:t>public:</a:t>
            </a:r>
            <a:endParaRPr lang="en-US" altLang="zh-CN" sz="1600" dirty="0">
              <a:solidFill>
                <a:srgbClr val="D4D4D4"/>
              </a:solidFill>
              <a:latin typeface="Lucida Console" panose="020B0609040504020204" pitchFamily="49" charset="0"/>
            </a:endParaRPr>
          </a:p>
          <a:p>
            <a:r>
              <a:rPr lang="en-US" altLang="zh-CN" sz="1600" dirty="0">
                <a:solidFill>
                  <a:srgbClr val="D4D4D4"/>
                </a:solidFill>
                <a:latin typeface="Lucida Console" panose="020B0609040504020204" pitchFamily="49" charset="0"/>
              </a:rPr>
              <a:t>    </a:t>
            </a:r>
            <a:r>
              <a:rPr lang="en-US" altLang="zh-CN" sz="1600" dirty="0" err="1">
                <a:solidFill>
                  <a:srgbClr val="4EC9B0"/>
                </a:solidFill>
                <a:latin typeface="Lucida Console" panose="020B0609040504020204" pitchFamily="49" charset="0"/>
              </a:rPr>
              <a:t>MyName</a:t>
            </a:r>
            <a:r>
              <a:rPr lang="en-US" altLang="zh-CN" sz="1600" dirty="0">
                <a:solidFill>
                  <a:srgbClr val="569CD6"/>
                </a:solidFill>
                <a:latin typeface="Lucida Console" panose="020B0609040504020204" pitchFamily="49" charset="0"/>
              </a:rPr>
              <a:t>&amp;</a:t>
            </a:r>
            <a:r>
              <a:rPr lang="en-US" altLang="zh-CN" sz="1600" dirty="0">
                <a:solidFill>
                  <a:srgbClr val="D4D4D4"/>
                </a:solidFill>
                <a:latin typeface="Lucida Console" panose="020B0609040504020204" pitchFamily="49" charset="0"/>
              </a:rPr>
              <a:t> </a:t>
            </a:r>
            <a:r>
              <a:rPr lang="en-US" altLang="zh-CN" sz="1600" dirty="0">
                <a:solidFill>
                  <a:srgbClr val="C586C0"/>
                </a:solidFill>
                <a:latin typeface="Lucida Console" panose="020B0609040504020204" pitchFamily="49" charset="0"/>
              </a:rPr>
              <a:t>operator=</a:t>
            </a:r>
            <a:r>
              <a:rPr lang="en-US" altLang="zh-CN" sz="1600" dirty="0">
                <a:solidFill>
                  <a:srgbClr val="D4D4D4"/>
                </a:solidFill>
                <a:latin typeface="Lucida Console" panose="020B0609040504020204" pitchFamily="49" charset="0"/>
              </a:rPr>
              <a:t>(</a:t>
            </a:r>
            <a:r>
              <a:rPr lang="en-US" altLang="zh-CN" sz="1600" dirty="0" err="1">
                <a:solidFill>
                  <a:srgbClr val="569CD6"/>
                </a:solidFill>
                <a:latin typeface="Lucida Console" panose="020B0609040504020204" pitchFamily="49" charset="0"/>
              </a:rPr>
              <a:t>const</a:t>
            </a:r>
            <a:r>
              <a:rPr lang="en-US" altLang="zh-CN" sz="1600" dirty="0">
                <a:solidFill>
                  <a:srgbClr val="D4D4D4"/>
                </a:solidFill>
                <a:latin typeface="Lucida Console" panose="020B0609040504020204" pitchFamily="49" charset="0"/>
              </a:rPr>
              <a:t> </a:t>
            </a:r>
            <a:r>
              <a:rPr lang="en-US" altLang="zh-CN" sz="1600" dirty="0">
                <a:solidFill>
                  <a:srgbClr val="4EC9B0"/>
                </a:solidFill>
                <a:latin typeface="Lucida Console" panose="020B0609040504020204" pitchFamily="49" charset="0"/>
              </a:rPr>
              <a:t>string</a:t>
            </a:r>
            <a:r>
              <a:rPr lang="en-US" altLang="zh-CN" sz="1600" dirty="0">
                <a:solidFill>
                  <a:srgbClr val="569CD6"/>
                </a:solidFill>
                <a:latin typeface="Lucida Console" panose="020B0609040504020204" pitchFamily="49" charset="0"/>
              </a:rPr>
              <a:t>&amp;</a:t>
            </a:r>
            <a:r>
              <a:rPr lang="en-US" altLang="zh-CN" sz="1600" dirty="0">
                <a:solidFill>
                  <a:srgbClr val="D4D4D4"/>
                </a:solidFill>
                <a:latin typeface="Lucida Console" panose="020B0609040504020204" pitchFamily="49" charset="0"/>
              </a:rPr>
              <a:t> </a:t>
            </a:r>
            <a:r>
              <a:rPr lang="en-US" altLang="zh-CN" sz="1600" dirty="0">
                <a:solidFill>
                  <a:srgbClr val="9CDCFE"/>
                </a:solidFill>
                <a:latin typeface="Lucida Console" panose="020B0609040504020204" pitchFamily="49" charset="0"/>
              </a:rPr>
              <a:t>other</a:t>
            </a:r>
            <a:r>
              <a:rPr lang="en-US" altLang="zh-CN" sz="1600" dirty="0">
                <a:solidFill>
                  <a:srgbClr val="D4D4D4"/>
                </a:solidFill>
                <a:latin typeface="Lucida Console" panose="020B0609040504020204" pitchFamily="49" charset="0"/>
              </a:rPr>
              <a:t>)</a:t>
            </a:r>
          </a:p>
          <a:p>
            <a:r>
              <a:rPr lang="en-US" altLang="zh-CN" sz="1600" dirty="0">
                <a:solidFill>
                  <a:srgbClr val="D4D4D4"/>
                </a:solidFill>
                <a:latin typeface="Lucida Console" panose="020B0609040504020204" pitchFamily="49" charset="0"/>
              </a:rPr>
              <a:t>    {</a:t>
            </a:r>
          </a:p>
          <a:p>
            <a:r>
              <a:rPr lang="en-US" altLang="zh-CN" sz="1600" dirty="0">
                <a:solidFill>
                  <a:srgbClr val="D4D4D4"/>
                </a:solidFill>
                <a:latin typeface="Lucida Console" panose="020B0609040504020204" pitchFamily="49" charset="0"/>
              </a:rPr>
              <a:t>        name = other;</a:t>
            </a:r>
          </a:p>
          <a:p>
            <a:r>
              <a:rPr lang="en-US" altLang="zh-CN" sz="1600" dirty="0">
                <a:solidFill>
                  <a:srgbClr val="C586C0"/>
                </a:solidFill>
                <a:latin typeface="Lucida Console" panose="020B0609040504020204" pitchFamily="49" charset="0"/>
              </a:rPr>
              <a:t>        return</a:t>
            </a:r>
            <a:r>
              <a:rPr lang="en-US" altLang="zh-CN" sz="1600" dirty="0">
                <a:solidFill>
                  <a:srgbClr val="D4D4D4"/>
                </a:solidFill>
                <a:latin typeface="Lucida Console" panose="020B0609040504020204" pitchFamily="49" charset="0"/>
              </a:rPr>
              <a:t> *</a:t>
            </a:r>
            <a:r>
              <a:rPr lang="en-US" altLang="zh-CN" sz="1600" dirty="0">
                <a:solidFill>
                  <a:srgbClr val="569CD6"/>
                </a:solidFill>
                <a:latin typeface="Lucida Console" panose="020B0609040504020204" pitchFamily="49" charset="0"/>
              </a:rPr>
              <a:t>this</a:t>
            </a:r>
            <a:r>
              <a:rPr lang="en-US" altLang="zh-CN" sz="1600" dirty="0">
                <a:solidFill>
                  <a:srgbClr val="D4D4D4"/>
                </a:solidFill>
                <a:latin typeface="Lucida Console" panose="020B0609040504020204" pitchFamily="49" charset="0"/>
              </a:rPr>
              <a:t>;</a:t>
            </a:r>
          </a:p>
          <a:p>
            <a:r>
              <a:rPr lang="en-US" altLang="zh-CN" sz="1600" dirty="0">
                <a:solidFill>
                  <a:srgbClr val="D4D4D4"/>
                </a:solidFill>
                <a:latin typeface="Lucida Console" panose="020B0609040504020204" pitchFamily="49" charset="0"/>
              </a:rPr>
              <a:t>    }</a:t>
            </a:r>
          </a:p>
          <a:p>
            <a:br>
              <a:rPr lang="en-US" altLang="zh-CN" sz="1600" dirty="0">
                <a:solidFill>
                  <a:srgbClr val="D4D4D4"/>
                </a:solidFill>
                <a:latin typeface="Lucida Console" panose="020B0609040504020204" pitchFamily="49" charset="0"/>
              </a:rPr>
            </a:br>
            <a:r>
              <a:rPr lang="en-US" altLang="zh-CN" sz="1600" dirty="0">
                <a:solidFill>
                  <a:srgbClr val="569CD6"/>
                </a:solidFill>
                <a:latin typeface="Lucida Console" panose="020B0609040504020204" pitchFamily="49" charset="0"/>
              </a:rPr>
              <a:t>private:</a:t>
            </a:r>
            <a:endParaRPr lang="en-US" altLang="zh-CN" sz="1600" dirty="0">
              <a:solidFill>
                <a:srgbClr val="D4D4D4"/>
              </a:solidFill>
              <a:latin typeface="Lucida Console" panose="020B0609040504020204" pitchFamily="49" charset="0"/>
            </a:endParaRPr>
          </a:p>
          <a:p>
            <a:r>
              <a:rPr lang="en-US" altLang="zh-CN" sz="1600" dirty="0">
                <a:solidFill>
                  <a:srgbClr val="D4D4D4"/>
                </a:solidFill>
                <a:latin typeface="Lucida Console" panose="020B0609040504020204" pitchFamily="49" charset="0"/>
              </a:rPr>
              <a:t>    string name;</a:t>
            </a:r>
          </a:p>
          <a:p>
            <a:r>
              <a:rPr lang="en-US" altLang="zh-CN" sz="1600" dirty="0">
                <a:solidFill>
                  <a:srgbClr val="D4D4D4"/>
                </a:solidFill>
                <a:latin typeface="Lucida Console" panose="020B0609040504020204" pitchFamily="49" charset="0"/>
              </a:rPr>
              <a:t>};</a:t>
            </a:r>
          </a:p>
          <a:p>
            <a:br>
              <a:rPr lang="en-US" altLang="zh-CN" sz="1600" dirty="0">
                <a:solidFill>
                  <a:srgbClr val="D4D4D4"/>
                </a:solidFill>
                <a:latin typeface="Lucida Console" panose="020B0609040504020204" pitchFamily="49" charset="0"/>
              </a:rPr>
            </a:br>
            <a:r>
              <a:rPr lang="en-US" altLang="zh-CN" sz="1600" dirty="0" err="1">
                <a:solidFill>
                  <a:srgbClr val="569CD6"/>
                </a:solidFill>
                <a:latin typeface="Lucida Console" panose="020B0609040504020204" pitchFamily="49" charset="0"/>
              </a:rPr>
              <a:t>int</a:t>
            </a:r>
            <a:r>
              <a:rPr lang="en-US" altLang="zh-CN" sz="1600" dirty="0">
                <a:solidFill>
                  <a:srgbClr val="D4D4D4"/>
                </a:solidFill>
                <a:latin typeface="Lucida Console" panose="020B0609040504020204" pitchFamily="49" charset="0"/>
              </a:rPr>
              <a:t> </a:t>
            </a:r>
            <a:r>
              <a:rPr lang="en-US" altLang="zh-CN" sz="1600" dirty="0">
                <a:solidFill>
                  <a:srgbClr val="DCDCAA"/>
                </a:solidFill>
                <a:latin typeface="Lucida Console" panose="020B0609040504020204" pitchFamily="49" charset="0"/>
              </a:rPr>
              <a:t>main</a:t>
            </a:r>
            <a:r>
              <a:rPr lang="en-US" altLang="zh-CN" sz="1600" dirty="0">
                <a:solidFill>
                  <a:srgbClr val="D4D4D4"/>
                </a:solidFill>
                <a:latin typeface="Lucida Console" panose="020B0609040504020204" pitchFamily="49" charset="0"/>
              </a:rPr>
              <a:t>()</a:t>
            </a:r>
          </a:p>
          <a:p>
            <a:r>
              <a:rPr lang="en-US" altLang="zh-CN" sz="1600" dirty="0">
                <a:solidFill>
                  <a:srgbClr val="D4D4D4"/>
                </a:solidFill>
                <a:latin typeface="Lucida Console" panose="020B0609040504020204" pitchFamily="49" charset="0"/>
              </a:rPr>
              <a:t>{</a:t>
            </a:r>
          </a:p>
          <a:p>
            <a:r>
              <a:rPr lang="en-US" altLang="zh-CN" sz="1600" dirty="0">
                <a:solidFill>
                  <a:srgbClr val="D4D4D4"/>
                </a:solidFill>
                <a:latin typeface="Lucida Console" panose="020B0609040504020204" pitchFamily="49" charset="0"/>
              </a:rPr>
              <a:t>    </a:t>
            </a:r>
            <a:r>
              <a:rPr lang="en-US" altLang="zh-CN" sz="1600" dirty="0" err="1">
                <a:solidFill>
                  <a:srgbClr val="D4D4D4"/>
                </a:solidFill>
                <a:latin typeface="Lucida Console" panose="020B0609040504020204" pitchFamily="49" charset="0"/>
              </a:rPr>
              <a:t>MyName</a:t>
            </a:r>
            <a:r>
              <a:rPr lang="en-US" altLang="zh-CN" sz="1600" dirty="0">
                <a:solidFill>
                  <a:srgbClr val="D4D4D4"/>
                </a:solidFill>
                <a:latin typeface="Lucida Console" panose="020B0609040504020204" pitchFamily="49" charset="0"/>
              </a:rPr>
              <a:t> a;</a:t>
            </a:r>
          </a:p>
          <a:p>
            <a:r>
              <a:rPr lang="en-US" altLang="zh-CN" sz="1600" dirty="0">
                <a:solidFill>
                  <a:srgbClr val="D4D4D4"/>
                </a:solidFill>
                <a:latin typeface="Lucida Console" panose="020B0609040504020204" pitchFamily="49" charset="0"/>
              </a:rPr>
              <a:t>    a = </a:t>
            </a:r>
            <a:r>
              <a:rPr lang="en-US" altLang="zh-CN" sz="1600" dirty="0">
                <a:solidFill>
                  <a:srgbClr val="CE9178"/>
                </a:solidFill>
                <a:latin typeface="Lucida Console" panose="020B0609040504020204" pitchFamily="49" charset="0"/>
              </a:rPr>
              <a:t>"This is a long name"</a:t>
            </a:r>
            <a:r>
              <a:rPr lang="en-US" altLang="zh-CN" sz="1600" dirty="0">
                <a:solidFill>
                  <a:srgbClr val="D4D4D4"/>
                </a:solidFill>
                <a:latin typeface="Lucida Console" panose="020B0609040504020204" pitchFamily="49" charset="0"/>
              </a:rPr>
              <a:t>;</a:t>
            </a:r>
          </a:p>
          <a:p>
            <a:r>
              <a:rPr lang="en-US" altLang="zh-CN" sz="1600" dirty="0">
                <a:solidFill>
                  <a:srgbClr val="D4D4D4"/>
                </a:solidFill>
                <a:latin typeface="Lucida Console" panose="020B0609040504020204" pitchFamily="49" charset="0"/>
              </a:rPr>
              <a:t>    </a:t>
            </a:r>
            <a:r>
              <a:rPr lang="en-US" altLang="zh-CN" sz="1600" dirty="0" err="1">
                <a:solidFill>
                  <a:srgbClr val="D4D4D4"/>
                </a:solidFill>
                <a:latin typeface="Lucida Console" panose="020B0609040504020204" pitchFamily="49" charset="0"/>
              </a:rPr>
              <a:t>MyName</a:t>
            </a:r>
            <a:r>
              <a:rPr lang="en-US" altLang="zh-CN" sz="1600" dirty="0">
                <a:solidFill>
                  <a:srgbClr val="D4D4D4"/>
                </a:solidFill>
                <a:latin typeface="Lucida Console" panose="020B0609040504020204" pitchFamily="49" charset="0"/>
              </a:rPr>
              <a:t> b;</a:t>
            </a:r>
          </a:p>
          <a:p>
            <a:r>
              <a:rPr lang="en-US" altLang="zh-CN" sz="1600" dirty="0">
                <a:solidFill>
                  <a:srgbClr val="D4D4D4"/>
                </a:solidFill>
                <a:latin typeface="Lucida Console" panose="020B0609040504020204" pitchFamily="49" charset="0"/>
              </a:rPr>
              <a:t>    b = a;</a:t>
            </a:r>
          </a:p>
          <a:p>
            <a:r>
              <a:rPr lang="en-US" altLang="zh-CN" sz="1600" dirty="0">
                <a:solidFill>
                  <a:srgbClr val="6A9955"/>
                </a:solidFill>
                <a:latin typeface="Lucida Console" panose="020B0609040504020204" pitchFamily="49" charset="0"/>
              </a:rPr>
              <a:t>    // a</a:t>
            </a:r>
            <a:r>
              <a:rPr lang="zh-CN" altLang="en-US" sz="1600" dirty="0">
                <a:solidFill>
                  <a:srgbClr val="6A9955"/>
                </a:solidFill>
                <a:latin typeface="Lucida Console" panose="020B0609040504020204" pitchFamily="49" charset="0"/>
              </a:rPr>
              <a:t>不再使用，析构</a:t>
            </a:r>
            <a:endParaRPr lang="en-US" altLang="zh-CN" sz="1600" dirty="0">
              <a:solidFill>
                <a:srgbClr val="D4D4D4"/>
              </a:solidFill>
              <a:latin typeface="Lucida Console" panose="020B0609040504020204" pitchFamily="49" charset="0"/>
            </a:endParaRPr>
          </a:p>
          <a:p>
            <a:r>
              <a:rPr lang="en-US" altLang="zh-CN" sz="1600" dirty="0">
                <a:solidFill>
                  <a:srgbClr val="D4D4D4"/>
                </a:solidFill>
                <a:latin typeface="Lucida Console" panose="020B0609040504020204" pitchFamily="49" charset="0"/>
              </a:rPr>
              <a:t>    </a:t>
            </a:r>
            <a:r>
              <a:rPr lang="en-US" altLang="zh-CN" sz="1600" dirty="0">
                <a:solidFill>
                  <a:srgbClr val="C586C0"/>
                </a:solidFill>
                <a:latin typeface="Lucida Console" panose="020B0609040504020204" pitchFamily="49" charset="0"/>
              </a:rPr>
              <a:t>return</a:t>
            </a:r>
            <a:r>
              <a:rPr lang="en-US" altLang="zh-CN" sz="1600" dirty="0">
                <a:solidFill>
                  <a:srgbClr val="D4D4D4"/>
                </a:solidFill>
                <a:latin typeface="Lucida Console" panose="020B0609040504020204" pitchFamily="49" charset="0"/>
              </a:rPr>
              <a:t> </a:t>
            </a:r>
            <a:r>
              <a:rPr lang="en-US" altLang="zh-CN" sz="1600" dirty="0">
                <a:solidFill>
                  <a:srgbClr val="B5CEA8"/>
                </a:solidFill>
                <a:latin typeface="Lucida Console" panose="020B0609040504020204" pitchFamily="49" charset="0"/>
              </a:rPr>
              <a:t>0</a:t>
            </a:r>
            <a:r>
              <a:rPr lang="en-US" altLang="zh-CN" sz="1600" dirty="0">
                <a:solidFill>
                  <a:srgbClr val="D4D4D4"/>
                </a:solidFill>
                <a:latin typeface="Lucida Console" panose="020B0609040504020204" pitchFamily="49" charset="0"/>
              </a:rPr>
              <a:t>;</a:t>
            </a:r>
          </a:p>
          <a:p>
            <a:r>
              <a:rPr lang="en-US" altLang="zh-CN" sz="1600" dirty="0">
                <a:solidFill>
                  <a:srgbClr val="D4D4D4"/>
                </a:solidFill>
                <a:latin typeface="Lucida Console" panose="020B0609040504020204" pitchFamily="49" charset="0"/>
              </a:rPr>
              <a:t>}</a:t>
            </a:r>
          </a:p>
        </p:txBody>
      </p:sp>
      <p:sp>
        <p:nvSpPr>
          <p:cNvPr id="20" name="矩形 19"/>
          <p:cNvSpPr/>
          <p:nvPr/>
        </p:nvSpPr>
        <p:spPr>
          <a:xfrm>
            <a:off x="1504949" y="5007163"/>
            <a:ext cx="2771776" cy="266700"/>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文本框 20"/>
          <p:cNvSpPr txBox="1"/>
          <p:nvPr/>
        </p:nvSpPr>
        <p:spPr>
          <a:xfrm>
            <a:off x="2543175" y="3342581"/>
            <a:ext cx="3267075" cy="584775"/>
          </a:xfrm>
          <a:prstGeom prst="rect">
            <a:avLst/>
          </a:prstGeom>
          <a:noFill/>
        </p:spPr>
        <p:txBody>
          <a:bodyPr wrap="square" rtlCol="0">
            <a:spAutoFit/>
          </a:bodyPr>
          <a:lstStyle/>
          <a:p>
            <a:r>
              <a:rPr lang="zh-CN" altLang="en-US" sz="1600" dirty="0">
                <a:solidFill>
                  <a:srgbClr val="FF0000"/>
                </a:solidFill>
                <a:latin typeface="微软雅黑" panose="020B0503020204020204" pitchFamily="34" charset="-122"/>
                <a:ea typeface="微软雅黑" panose="020B0503020204020204" pitchFamily="34" charset="-122"/>
              </a:rPr>
              <a:t>构造一个临时</a:t>
            </a:r>
            <a:r>
              <a:rPr lang="en-US" altLang="zh-CN" sz="1600" dirty="0">
                <a:solidFill>
                  <a:srgbClr val="FF0000"/>
                </a:solidFill>
                <a:latin typeface="微软雅黑" panose="020B0503020204020204" pitchFamily="34" charset="-122"/>
                <a:ea typeface="微软雅黑" panose="020B0503020204020204" pitchFamily="34" charset="-122"/>
              </a:rPr>
              <a:t>string</a:t>
            </a:r>
            <a:r>
              <a:rPr lang="zh-CN" altLang="en-US" sz="1600" dirty="0">
                <a:solidFill>
                  <a:srgbClr val="FF0000"/>
                </a:solidFill>
                <a:latin typeface="微软雅黑" panose="020B0503020204020204" pitchFamily="34" charset="-122"/>
                <a:ea typeface="微软雅黑" panose="020B0503020204020204" pitchFamily="34" charset="-122"/>
              </a:rPr>
              <a:t>对象，拷贝给</a:t>
            </a:r>
            <a:r>
              <a:rPr lang="en-US" altLang="zh-CN" sz="1600" dirty="0">
                <a:solidFill>
                  <a:srgbClr val="FF0000"/>
                </a:solidFill>
                <a:latin typeface="微软雅黑" panose="020B0503020204020204" pitchFamily="34" charset="-122"/>
                <a:ea typeface="微软雅黑" panose="020B0503020204020204" pitchFamily="34" charset="-122"/>
              </a:rPr>
              <a:t>name</a:t>
            </a:r>
            <a:r>
              <a:rPr lang="zh-CN" altLang="en-US" sz="1600" dirty="0">
                <a:solidFill>
                  <a:srgbClr val="FF0000"/>
                </a:solidFill>
                <a:latin typeface="微软雅黑" panose="020B0503020204020204" pitchFamily="34" charset="-122"/>
                <a:ea typeface="微软雅黑" panose="020B0503020204020204" pitchFamily="34" charset="-122"/>
              </a:rPr>
              <a:t>，然后析构临时对象</a:t>
            </a:r>
          </a:p>
        </p:txBody>
      </p:sp>
      <p:cxnSp>
        <p:nvCxnSpPr>
          <p:cNvPr id="22" name="直接箭头连接符 21"/>
          <p:cNvCxnSpPr/>
          <p:nvPr/>
        </p:nvCxnSpPr>
        <p:spPr>
          <a:xfrm flipH="1">
            <a:off x="3286126" y="3921066"/>
            <a:ext cx="35124" cy="1110087"/>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3" name="矩形 22"/>
          <p:cNvSpPr/>
          <p:nvPr/>
        </p:nvSpPr>
        <p:spPr>
          <a:xfrm>
            <a:off x="1504950" y="2357490"/>
            <a:ext cx="1714501" cy="266700"/>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26" name="直接箭头连接符 25"/>
          <p:cNvCxnSpPr/>
          <p:nvPr/>
        </p:nvCxnSpPr>
        <p:spPr>
          <a:xfrm flipH="1" flipV="1">
            <a:off x="2438400" y="2624190"/>
            <a:ext cx="390525" cy="718391"/>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1" name="矩形 30"/>
          <p:cNvSpPr/>
          <p:nvPr/>
        </p:nvSpPr>
        <p:spPr>
          <a:xfrm>
            <a:off x="966786" y="5519593"/>
            <a:ext cx="862015" cy="266700"/>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2" name="文本框 31"/>
          <p:cNvSpPr txBox="1"/>
          <p:nvPr/>
        </p:nvSpPr>
        <p:spPr>
          <a:xfrm>
            <a:off x="2962275" y="5360555"/>
            <a:ext cx="3038475" cy="584775"/>
          </a:xfrm>
          <a:prstGeom prst="rect">
            <a:avLst/>
          </a:prstGeom>
          <a:noFill/>
        </p:spPr>
        <p:txBody>
          <a:bodyPr wrap="square" rtlCol="0">
            <a:spAutoFit/>
          </a:bodyPr>
          <a:lstStyle/>
          <a:p>
            <a:r>
              <a:rPr lang="zh-CN" altLang="en-US" sz="1600" dirty="0">
                <a:solidFill>
                  <a:srgbClr val="FF0000"/>
                </a:solidFill>
                <a:latin typeface="微软雅黑" panose="020B0503020204020204" pitchFamily="34" charset="-122"/>
                <a:ea typeface="微软雅黑" panose="020B0503020204020204" pitchFamily="34" charset="-122"/>
              </a:rPr>
              <a:t>即使</a:t>
            </a:r>
            <a:r>
              <a:rPr lang="en-US" altLang="zh-CN" sz="1600" dirty="0">
                <a:solidFill>
                  <a:srgbClr val="FF0000"/>
                </a:solidFill>
                <a:latin typeface="微软雅黑" panose="020B0503020204020204" pitchFamily="34" charset="-122"/>
                <a:ea typeface="微软雅黑" panose="020B0503020204020204" pitchFamily="34" charset="-122"/>
              </a:rPr>
              <a:t>a</a:t>
            </a:r>
            <a:r>
              <a:rPr lang="zh-CN" altLang="en-US" sz="1600" dirty="0">
                <a:solidFill>
                  <a:srgbClr val="FF0000"/>
                </a:solidFill>
                <a:latin typeface="微软雅黑" panose="020B0503020204020204" pitchFamily="34" charset="-122"/>
                <a:ea typeface="微软雅黑" panose="020B0503020204020204" pitchFamily="34" charset="-122"/>
              </a:rPr>
              <a:t>不再使用了，也必须先给</a:t>
            </a:r>
            <a:r>
              <a:rPr lang="en-US" altLang="zh-CN" sz="1600" dirty="0">
                <a:solidFill>
                  <a:srgbClr val="FF0000"/>
                </a:solidFill>
                <a:latin typeface="微软雅黑" panose="020B0503020204020204" pitchFamily="34" charset="-122"/>
                <a:ea typeface="微软雅黑" panose="020B0503020204020204" pitchFamily="34" charset="-122"/>
              </a:rPr>
              <a:t>b</a:t>
            </a:r>
            <a:r>
              <a:rPr lang="zh-CN" altLang="en-US" sz="1600" dirty="0">
                <a:solidFill>
                  <a:srgbClr val="FF0000"/>
                </a:solidFill>
                <a:latin typeface="微软雅黑" panose="020B0503020204020204" pitchFamily="34" charset="-122"/>
                <a:ea typeface="微软雅黑" panose="020B0503020204020204" pitchFamily="34" charset="-122"/>
              </a:rPr>
              <a:t>新分配空间，然后拷贝内容</a:t>
            </a:r>
          </a:p>
        </p:txBody>
      </p:sp>
      <p:cxnSp>
        <p:nvCxnSpPr>
          <p:cNvPr id="33" name="直接箭头连接符 32"/>
          <p:cNvCxnSpPr>
            <a:endCxn id="31" idx="3"/>
          </p:cNvCxnSpPr>
          <p:nvPr/>
        </p:nvCxnSpPr>
        <p:spPr>
          <a:xfrm flipH="1">
            <a:off x="1828800" y="5652942"/>
            <a:ext cx="1133475" cy="1"/>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4" name="矩形 33"/>
          <p:cNvSpPr/>
          <p:nvPr/>
        </p:nvSpPr>
        <p:spPr>
          <a:xfrm>
            <a:off x="6553200" y="1146536"/>
            <a:ext cx="5221488" cy="5262979"/>
          </a:xfrm>
          <a:prstGeom prst="rect">
            <a:avLst/>
          </a:prstGeom>
          <a:solidFill>
            <a:schemeClr val="tx1"/>
          </a:solidFill>
        </p:spPr>
        <p:txBody>
          <a:bodyPr wrap="square">
            <a:spAutoFit/>
          </a:bodyPr>
          <a:lstStyle/>
          <a:p>
            <a:r>
              <a:rPr lang="en-US" altLang="zh-CN" sz="1600" dirty="0">
                <a:solidFill>
                  <a:srgbClr val="569CD6"/>
                </a:solidFill>
                <a:latin typeface="Lucida Console" panose="020B0609040504020204" pitchFamily="49" charset="0"/>
              </a:rPr>
              <a:t>class</a:t>
            </a:r>
            <a:r>
              <a:rPr lang="en-US" altLang="zh-CN" sz="1600" dirty="0">
                <a:solidFill>
                  <a:srgbClr val="D4D4D4"/>
                </a:solidFill>
                <a:latin typeface="Lucida Console" panose="020B0609040504020204" pitchFamily="49" charset="0"/>
              </a:rPr>
              <a:t> </a:t>
            </a:r>
            <a:r>
              <a:rPr lang="en-US" altLang="zh-CN" sz="1600" dirty="0" err="1">
                <a:solidFill>
                  <a:srgbClr val="4EC9B0"/>
                </a:solidFill>
                <a:latin typeface="Lucida Console" panose="020B0609040504020204" pitchFamily="49" charset="0"/>
              </a:rPr>
              <a:t>MyName</a:t>
            </a:r>
            <a:r>
              <a:rPr lang="en-US" altLang="zh-CN" sz="1600" dirty="0">
                <a:solidFill>
                  <a:srgbClr val="D4D4D4"/>
                </a:solidFill>
                <a:latin typeface="Lucida Console" panose="020B0609040504020204" pitchFamily="49" charset="0"/>
              </a:rPr>
              <a:t> {</a:t>
            </a:r>
          </a:p>
          <a:p>
            <a:r>
              <a:rPr lang="en-US" altLang="zh-CN" sz="1600" dirty="0">
                <a:solidFill>
                  <a:srgbClr val="569CD6"/>
                </a:solidFill>
                <a:latin typeface="Lucida Console" panose="020B0609040504020204" pitchFamily="49" charset="0"/>
              </a:rPr>
              <a:t>public:</a:t>
            </a:r>
            <a:endParaRPr lang="en-US" altLang="zh-CN" sz="1600" dirty="0">
              <a:solidFill>
                <a:srgbClr val="D4D4D4"/>
              </a:solidFill>
              <a:latin typeface="Lucida Console" panose="020B0609040504020204" pitchFamily="49" charset="0"/>
            </a:endParaRPr>
          </a:p>
          <a:p>
            <a:r>
              <a:rPr lang="en-US" altLang="zh-CN" sz="1600" dirty="0">
                <a:solidFill>
                  <a:srgbClr val="D4D4D4"/>
                </a:solidFill>
                <a:latin typeface="Lucida Console" panose="020B0609040504020204" pitchFamily="49" charset="0"/>
              </a:rPr>
              <a:t>    </a:t>
            </a:r>
            <a:r>
              <a:rPr lang="en-US" altLang="zh-CN" sz="1600" dirty="0" err="1">
                <a:solidFill>
                  <a:srgbClr val="4EC9B0"/>
                </a:solidFill>
                <a:latin typeface="Lucida Console" panose="020B0609040504020204" pitchFamily="49" charset="0"/>
              </a:rPr>
              <a:t>MyName</a:t>
            </a:r>
            <a:r>
              <a:rPr lang="en-US" altLang="zh-CN" sz="1600" dirty="0">
                <a:solidFill>
                  <a:srgbClr val="569CD6"/>
                </a:solidFill>
                <a:latin typeface="Lucida Console" panose="020B0609040504020204" pitchFamily="49" charset="0"/>
              </a:rPr>
              <a:t>&amp;</a:t>
            </a:r>
            <a:r>
              <a:rPr lang="en-US" altLang="zh-CN" sz="1600" dirty="0">
                <a:solidFill>
                  <a:srgbClr val="D4D4D4"/>
                </a:solidFill>
                <a:latin typeface="Lucida Console" panose="020B0609040504020204" pitchFamily="49" charset="0"/>
              </a:rPr>
              <a:t> </a:t>
            </a:r>
            <a:r>
              <a:rPr lang="en-US" altLang="zh-CN" sz="1600" dirty="0">
                <a:solidFill>
                  <a:srgbClr val="C586C0"/>
                </a:solidFill>
                <a:latin typeface="Lucida Console" panose="020B0609040504020204" pitchFamily="49" charset="0"/>
              </a:rPr>
              <a:t>operator=</a:t>
            </a:r>
            <a:r>
              <a:rPr lang="en-US" altLang="zh-CN" sz="1600" dirty="0">
                <a:solidFill>
                  <a:srgbClr val="D4D4D4"/>
                </a:solidFill>
                <a:latin typeface="Lucida Console" panose="020B0609040504020204" pitchFamily="49" charset="0"/>
              </a:rPr>
              <a:t>(</a:t>
            </a:r>
            <a:r>
              <a:rPr lang="en-US" altLang="zh-CN" sz="1600" dirty="0">
                <a:solidFill>
                  <a:srgbClr val="4EC9B0"/>
                </a:solidFill>
                <a:latin typeface="Lucida Console" panose="020B0609040504020204" pitchFamily="49" charset="0"/>
              </a:rPr>
              <a:t>string</a:t>
            </a:r>
            <a:r>
              <a:rPr lang="en-US" altLang="zh-CN" sz="1600" dirty="0">
                <a:solidFill>
                  <a:srgbClr val="569CD6"/>
                </a:solidFill>
                <a:latin typeface="Lucida Console" panose="020B0609040504020204" pitchFamily="49" charset="0"/>
              </a:rPr>
              <a:t>&amp;&amp;</a:t>
            </a:r>
            <a:r>
              <a:rPr lang="en-US" altLang="zh-CN" sz="1600" dirty="0">
                <a:solidFill>
                  <a:srgbClr val="D4D4D4"/>
                </a:solidFill>
                <a:latin typeface="Lucida Console" panose="020B0609040504020204" pitchFamily="49" charset="0"/>
              </a:rPr>
              <a:t> </a:t>
            </a:r>
            <a:r>
              <a:rPr lang="en-US" altLang="zh-CN" sz="1600" dirty="0">
                <a:solidFill>
                  <a:srgbClr val="9CDCFE"/>
                </a:solidFill>
                <a:latin typeface="Lucida Console" panose="020B0609040504020204" pitchFamily="49" charset="0"/>
              </a:rPr>
              <a:t>other</a:t>
            </a:r>
            <a:r>
              <a:rPr lang="en-US" altLang="zh-CN" sz="1600" dirty="0">
                <a:solidFill>
                  <a:srgbClr val="D4D4D4"/>
                </a:solidFill>
                <a:latin typeface="Lucida Console" panose="020B0609040504020204" pitchFamily="49" charset="0"/>
              </a:rPr>
              <a:t>)</a:t>
            </a:r>
          </a:p>
          <a:p>
            <a:r>
              <a:rPr lang="en-US" altLang="zh-CN" sz="1600" dirty="0">
                <a:solidFill>
                  <a:srgbClr val="D4D4D4"/>
                </a:solidFill>
                <a:latin typeface="Lucida Console" panose="020B0609040504020204" pitchFamily="49" charset="0"/>
              </a:rPr>
              <a:t>    {</a:t>
            </a:r>
          </a:p>
          <a:p>
            <a:r>
              <a:rPr lang="en-US" altLang="zh-CN" sz="1600" dirty="0">
                <a:solidFill>
                  <a:srgbClr val="D4D4D4"/>
                </a:solidFill>
                <a:latin typeface="Lucida Console" panose="020B0609040504020204" pitchFamily="49" charset="0"/>
              </a:rPr>
              <a:t>        name = </a:t>
            </a:r>
            <a:r>
              <a:rPr lang="en-US" altLang="zh-CN" sz="1600" dirty="0" err="1">
                <a:solidFill>
                  <a:srgbClr val="4EC9B0"/>
                </a:solidFill>
                <a:latin typeface="Lucida Console" panose="020B0609040504020204" pitchFamily="49" charset="0"/>
              </a:rPr>
              <a:t>std</a:t>
            </a:r>
            <a:r>
              <a:rPr lang="en-US" altLang="zh-CN" sz="1600" dirty="0">
                <a:solidFill>
                  <a:srgbClr val="D4D4D4"/>
                </a:solidFill>
                <a:latin typeface="Lucida Console" panose="020B0609040504020204" pitchFamily="49" charset="0"/>
              </a:rPr>
              <a:t>::</a:t>
            </a:r>
            <a:r>
              <a:rPr lang="en-US" altLang="zh-CN" sz="1600" dirty="0">
                <a:solidFill>
                  <a:srgbClr val="DCDCAA"/>
                </a:solidFill>
                <a:latin typeface="Lucida Console" panose="020B0609040504020204" pitchFamily="49" charset="0"/>
              </a:rPr>
              <a:t>move</a:t>
            </a:r>
            <a:r>
              <a:rPr lang="en-US" altLang="zh-CN" sz="1600" dirty="0">
                <a:solidFill>
                  <a:srgbClr val="D4D4D4"/>
                </a:solidFill>
                <a:latin typeface="Lucida Console" panose="020B0609040504020204" pitchFamily="49" charset="0"/>
              </a:rPr>
              <a:t>(other);</a:t>
            </a:r>
          </a:p>
          <a:p>
            <a:r>
              <a:rPr lang="en-US" altLang="zh-CN" sz="1600" dirty="0">
                <a:solidFill>
                  <a:srgbClr val="D4D4D4"/>
                </a:solidFill>
                <a:latin typeface="Lucida Console" panose="020B0609040504020204" pitchFamily="49" charset="0"/>
              </a:rPr>
              <a:t>        </a:t>
            </a:r>
            <a:r>
              <a:rPr lang="en-US" altLang="zh-CN" sz="1600" dirty="0">
                <a:solidFill>
                  <a:srgbClr val="C586C0"/>
                </a:solidFill>
                <a:latin typeface="Lucida Console" panose="020B0609040504020204" pitchFamily="49" charset="0"/>
              </a:rPr>
              <a:t>return</a:t>
            </a:r>
            <a:r>
              <a:rPr lang="en-US" altLang="zh-CN" sz="1600" dirty="0">
                <a:solidFill>
                  <a:srgbClr val="D4D4D4"/>
                </a:solidFill>
                <a:latin typeface="Lucida Console" panose="020B0609040504020204" pitchFamily="49" charset="0"/>
              </a:rPr>
              <a:t> *</a:t>
            </a:r>
            <a:r>
              <a:rPr lang="en-US" altLang="zh-CN" sz="1600" dirty="0">
                <a:solidFill>
                  <a:srgbClr val="569CD6"/>
                </a:solidFill>
                <a:latin typeface="Lucida Console" panose="020B0609040504020204" pitchFamily="49" charset="0"/>
              </a:rPr>
              <a:t>this</a:t>
            </a:r>
            <a:r>
              <a:rPr lang="en-US" altLang="zh-CN" sz="1600" dirty="0">
                <a:solidFill>
                  <a:srgbClr val="D4D4D4"/>
                </a:solidFill>
                <a:latin typeface="Lucida Console" panose="020B0609040504020204" pitchFamily="49" charset="0"/>
              </a:rPr>
              <a:t>;</a:t>
            </a:r>
          </a:p>
          <a:p>
            <a:r>
              <a:rPr lang="en-US" altLang="zh-CN" sz="1600" dirty="0">
                <a:solidFill>
                  <a:srgbClr val="D4D4D4"/>
                </a:solidFill>
                <a:latin typeface="Lucida Console" panose="020B0609040504020204" pitchFamily="49" charset="0"/>
              </a:rPr>
              <a:t>    }</a:t>
            </a:r>
          </a:p>
          <a:p>
            <a:br>
              <a:rPr lang="en-US" altLang="zh-CN" sz="1600" dirty="0">
                <a:solidFill>
                  <a:srgbClr val="D4D4D4"/>
                </a:solidFill>
                <a:latin typeface="Lucida Console" panose="020B0609040504020204" pitchFamily="49" charset="0"/>
              </a:rPr>
            </a:br>
            <a:r>
              <a:rPr lang="en-US" altLang="zh-CN" sz="1600" dirty="0">
                <a:solidFill>
                  <a:srgbClr val="569CD6"/>
                </a:solidFill>
                <a:latin typeface="Lucida Console" panose="020B0609040504020204" pitchFamily="49" charset="0"/>
              </a:rPr>
              <a:t>private:</a:t>
            </a:r>
            <a:endParaRPr lang="en-US" altLang="zh-CN" sz="1600" dirty="0">
              <a:solidFill>
                <a:srgbClr val="D4D4D4"/>
              </a:solidFill>
              <a:latin typeface="Lucida Console" panose="020B0609040504020204" pitchFamily="49" charset="0"/>
            </a:endParaRPr>
          </a:p>
          <a:p>
            <a:r>
              <a:rPr lang="en-US" altLang="zh-CN" sz="1600" dirty="0">
                <a:solidFill>
                  <a:srgbClr val="D4D4D4"/>
                </a:solidFill>
                <a:latin typeface="Lucida Console" panose="020B0609040504020204" pitchFamily="49" charset="0"/>
              </a:rPr>
              <a:t>    string name;</a:t>
            </a:r>
          </a:p>
          <a:p>
            <a:r>
              <a:rPr lang="en-US" altLang="zh-CN" sz="1600" dirty="0">
                <a:solidFill>
                  <a:srgbClr val="D4D4D4"/>
                </a:solidFill>
                <a:latin typeface="Lucida Console" panose="020B0609040504020204" pitchFamily="49" charset="0"/>
              </a:rPr>
              <a:t>};</a:t>
            </a:r>
          </a:p>
          <a:p>
            <a:br>
              <a:rPr lang="en-US" altLang="zh-CN" sz="1600" dirty="0">
                <a:solidFill>
                  <a:srgbClr val="D4D4D4"/>
                </a:solidFill>
                <a:latin typeface="Lucida Console" panose="020B0609040504020204" pitchFamily="49" charset="0"/>
              </a:rPr>
            </a:br>
            <a:r>
              <a:rPr lang="en-US" altLang="zh-CN" sz="1600" dirty="0" err="1">
                <a:solidFill>
                  <a:srgbClr val="569CD6"/>
                </a:solidFill>
                <a:latin typeface="Lucida Console" panose="020B0609040504020204" pitchFamily="49" charset="0"/>
              </a:rPr>
              <a:t>int</a:t>
            </a:r>
            <a:r>
              <a:rPr lang="en-US" altLang="zh-CN" sz="1600" dirty="0">
                <a:solidFill>
                  <a:srgbClr val="D4D4D4"/>
                </a:solidFill>
                <a:latin typeface="Lucida Console" panose="020B0609040504020204" pitchFamily="49" charset="0"/>
              </a:rPr>
              <a:t> </a:t>
            </a:r>
            <a:r>
              <a:rPr lang="en-US" altLang="zh-CN" sz="1600" dirty="0">
                <a:solidFill>
                  <a:srgbClr val="DCDCAA"/>
                </a:solidFill>
                <a:latin typeface="Lucida Console" panose="020B0609040504020204" pitchFamily="49" charset="0"/>
              </a:rPr>
              <a:t>main</a:t>
            </a:r>
            <a:r>
              <a:rPr lang="en-US" altLang="zh-CN" sz="1600" dirty="0">
                <a:solidFill>
                  <a:srgbClr val="D4D4D4"/>
                </a:solidFill>
                <a:latin typeface="Lucida Console" panose="020B0609040504020204" pitchFamily="49" charset="0"/>
              </a:rPr>
              <a:t>()</a:t>
            </a:r>
          </a:p>
          <a:p>
            <a:r>
              <a:rPr lang="en-US" altLang="zh-CN" sz="1600" dirty="0">
                <a:solidFill>
                  <a:srgbClr val="D4D4D4"/>
                </a:solidFill>
                <a:latin typeface="Lucida Console" panose="020B0609040504020204" pitchFamily="49" charset="0"/>
              </a:rPr>
              <a:t>{</a:t>
            </a:r>
          </a:p>
          <a:p>
            <a:r>
              <a:rPr lang="en-US" altLang="zh-CN" sz="1600" dirty="0">
                <a:solidFill>
                  <a:srgbClr val="D4D4D4"/>
                </a:solidFill>
                <a:latin typeface="Lucida Console" panose="020B0609040504020204" pitchFamily="49" charset="0"/>
              </a:rPr>
              <a:t>    </a:t>
            </a:r>
            <a:r>
              <a:rPr lang="en-US" altLang="zh-CN" sz="1600" dirty="0" err="1">
                <a:solidFill>
                  <a:srgbClr val="D4D4D4"/>
                </a:solidFill>
                <a:latin typeface="Lucida Console" panose="020B0609040504020204" pitchFamily="49" charset="0"/>
              </a:rPr>
              <a:t>MyName</a:t>
            </a:r>
            <a:r>
              <a:rPr lang="en-US" altLang="zh-CN" sz="1600" dirty="0">
                <a:solidFill>
                  <a:srgbClr val="D4D4D4"/>
                </a:solidFill>
                <a:latin typeface="Lucida Console" panose="020B0609040504020204" pitchFamily="49" charset="0"/>
              </a:rPr>
              <a:t> a;</a:t>
            </a:r>
          </a:p>
          <a:p>
            <a:r>
              <a:rPr lang="en-US" altLang="zh-CN" sz="1600" dirty="0">
                <a:solidFill>
                  <a:srgbClr val="D4D4D4"/>
                </a:solidFill>
                <a:latin typeface="Lucida Console" panose="020B0609040504020204" pitchFamily="49" charset="0"/>
              </a:rPr>
              <a:t>    a = </a:t>
            </a:r>
            <a:r>
              <a:rPr lang="en-US" altLang="zh-CN" sz="1600" dirty="0">
                <a:solidFill>
                  <a:srgbClr val="CE9178"/>
                </a:solidFill>
                <a:latin typeface="Lucida Console" panose="020B0609040504020204" pitchFamily="49" charset="0"/>
              </a:rPr>
              <a:t>"This is a long name"</a:t>
            </a:r>
            <a:r>
              <a:rPr lang="en-US" altLang="zh-CN" sz="1600" dirty="0">
                <a:solidFill>
                  <a:srgbClr val="D4D4D4"/>
                </a:solidFill>
                <a:latin typeface="Lucida Console" panose="020B0609040504020204" pitchFamily="49" charset="0"/>
              </a:rPr>
              <a:t>;</a:t>
            </a:r>
          </a:p>
          <a:p>
            <a:r>
              <a:rPr lang="en-US" altLang="zh-CN" sz="1600" dirty="0">
                <a:solidFill>
                  <a:srgbClr val="D4D4D4"/>
                </a:solidFill>
                <a:latin typeface="Lucida Console" panose="020B0609040504020204" pitchFamily="49" charset="0"/>
              </a:rPr>
              <a:t>    </a:t>
            </a:r>
            <a:r>
              <a:rPr lang="en-US" altLang="zh-CN" sz="1600" dirty="0" err="1">
                <a:solidFill>
                  <a:srgbClr val="D4D4D4"/>
                </a:solidFill>
                <a:latin typeface="Lucida Console" panose="020B0609040504020204" pitchFamily="49" charset="0"/>
              </a:rPr>
              <a:t>MyName</a:t>
            </a:r>
            <a:r>
              <a:rPr lang="en-US" altLang="zh-CN" sz="1600" dirty="0">
                <a:solidFill>
                  <a:srgbClr val="D4D4D4"/>
                </a:solidFill>
                <a:latin typeface="Lucida Console" panose="020B0609040504020204" pitchFamily="49" charset="0"/>
              </a:rPr>
              <a:t> b;</a:t>
            </a:r>
          </a:p>
          <a:p>
            <a:r>
              <a:rPr lang="en-US" altLang="zh-CN" sz="1600" dirty="0">
                <a:solidFill>
                  <a:srgbClr val="D4D4D4"/>
                </a:solidFill>
                <a:latin typeface="Lucida Console" panose="020B0609040504020204" pitchFamily="49" charset="0"/>
              </a:rPr>
              <a:t>    b = </a:t>
            </a:r>
            <a:r>
              <a:rPr lang="en-US" altLang="zh-CN" sz="1600" dirty="0" err="1">
                <a:solidFill>
                  <a:srgbClr val="4EC9B0"/>
                </a:solidFill>
                <a:latin typeface="Lucida Console" panose="020B0609040504020204" pitchFamily="49" charset="0"/>
              </a:rPr>
              <a:t>std</a:t>
            </a:r>
            <a:r>
              <a:rPr lang="en-US" altLang="zh-CN" sz="1600" dirty="0">
                <a:solidFill>
                  <a:srgbClr val="D4D4D4"/>
                </a:solidFill>
                <a:latin typeface="Lucida Console" panose="020B0609040504020204" pitchFamily="49" charset="0"/>
              </a:rPr>
              <a:t>::</a:t>
            </a:r>
            <a:r>
              <a:rPr lang="en-US" altLang="zh-CN" sz="1600" dirty="0">
                <a:solidFill>
                  <a:srgbClr val="DCDCAA"/>
                </a:solidFill>
                <a:latin typeface="Lucida Console" panose="020B0609040504020204" pitchFamily="49" charset="0"/>
              </a:rPr>
              <a:t>move</a:t>
            </a:r>
            <a:r>
              <a:rPr lang="en-US" altLang="zh-CN" sz="1600" dirty="0">
                <a:solidFill>
                  <a:srgbClr val="D4D4D4"/>
                </a:solidFill>
                <a:latin typeface="Lucida Console" panose="020B0609040504020204" pitchFamily="49" charset="0"/>
              </a:rPr>
              <a:t>(a);</a:t>
            </a:r>
          </a:p>
          <a:p>
            <a:r>
              <a:rPr lang="en-US" altLang="zh-CN" sz="1600" dirty="0">
                <a:solidFill>
                  <a:srgbClr val="6A9955"/>
                </a:solidFill>
                <a:latin typeface="Lucida Console" panose="020B0609040504020204" pitchFamily="49" charset="0"/>
              </a:rPr>
              <a:t>    // a</a:t>
            </a:r>
            <a:r>
              <a:rPr lang="zh-CN" altLang="en-US" sz="1600" dirty="0">
                <a:solidFill>
                  <a:srgbClr val="6A9955"/>
                </a:solidFill>
                <a:latin typeface="Lucida Console" panose="020B0609040504020204" pitchFamily="49" charset="0"/>
              </a:rPr>
              <a:t>的内容移动给了</a:t>
            </a:r>
            <a:r>
              <a:rPr lang="en-US" altLang="zh-CN" sz="1600" dirty="0">
                <a:solidFill>
                  <a:srgbClr val="6A9955"/>
                </a:solidFill>
                <a:latin typeface="Lucida Console" panose="020B0609040504020204" pitchFamily="49" charset="0"/>
              </a:rPr>
              <a:t>b</a:t>
            </a:r>
            <a:endParaRPr lang="en-US" altLang="zh-CN" sz="1600" dirty="0">
              <a:solidFill>
                <a:srgbClr val="D4D4D4"/>
              </a:solidFill>
              <a:latin typeface="Lucida Console" panose="020B0609040504020204" pitchFamily="49" charset="0"/>
            </a:endParaRPr>
          </a:p>
          <a:p>
            <a:r>
              <a:rPr lang="en-US" altLang="zh-CN" sz="1600" dirty="0">
                <a:solidFill>
                  <a:srgbClr val="D4D4D4"/>
                </a:solidFill>
                <a:latin typeface="Lucida Console" panose="020B0609040504020204" pitchFamily="49" charset="0"/>
              </a:rPr>
              <a:t>    </a:t>
            </a:r>
            <a:r>
              <a:rPr lang="en-US" altLang="zh-CN" sz="1600" dirty="0">
                <a:solidFill>
                  <a:srgbClr val="C586C0"/>
                </a:solidFill>
                <a:latin typeface="Lucida Console" panose="020B0609040504020204" pitchFamily="49" charset="0"/>
              </a:rPr>
              <a:t>return</a:t>
            </a:r>
            <a:r>
              <a:rPr lang="en-US" altLang="zh-CN" sz="1600" dirty="0">
                <a:solidFill>
                  <a:srgbClr val="D4D4D4"/>
                </a:solidFill>
                <a:latin typeface="Lucida Console" panose="020B0609040504020204" pitchFamily="49" charset="0"/>
              </a:rPr>
              <a:t> </a:t>
            </a:r>
            <a:r>
              <a:rPr lang="en-US" altLang="zh-CN" sz="1600" dirty="0">
                <a:solidFill>
                  <a:srgbClr val="B5CEA8"/>
                </a:solidFill>
                <a:latin typeface="Lucida Console" panose="020B0609040504020204" pitchFamily="49" charset="0"/>
              </a:rPr>
              <a:t>0</a:t>
            </a:r>
            <a:r>
              <a:rPr lang="en-US" altLang="zh-CN" sz="1600" dirty="0">
                <a:solidFill>
                  <a:srgbClr val="D4D4D4"/>
                </a:solidFill>
                <a:latin typeface="Lucida Console" panose="020B0609040504020204" pitchFamily="49" charset="0"/>
              </a:rPr>
              <a:t>;</a:t>
            </a:r>
          </a:p>
          <a:p>
            <a:r>
              <a:rPr lang="en-US" altLang="zh-CN" sz="1600" dirty="0">
                <a:solidFill>
                  <a:srgbClr val="D4D4D4"/>
                </a:solidFill>
                <a:latin typeface="Lucida Console" panose="020B0609040504020204" pitchFamily="49" charset="0"/>
              </a:rPr>
              <a:t>}</a:t>
            </a:r>
          </a:p>
        </p:txBody>
      </p:sp>
      <p:sp>
        <p:nvSpPr>
          <p:cNvPr id="36" name="矩形 35"/>
          <p:cNvSpPr/>
          <p:nvPr/>
        </p:nvSpPr>
        <p:spPr>
          <a:xfrm>
            <a:off x="6335913" y="733063"/>
            <a:ext cx="5755185" cy="338554"/>
          </a:xfrm>
          <a:prstGeom prst="rect">
            <a:avLst/>
          </a:prstGeom>
        </p:spPr>
        <p:txBody>
          <a:bodyPr wrap="square">
            <a:spAutoFit/>
          </a:bodyPr>
          <a:lstStyle/>
          <a:p>
            <a:r>
              <a:rPr lang="en-US" altLang="zh-CN" sz="1600" dirty="0">
                <a:latin typeface="微软雅黑" panose="020B0503020204020204" pitchFamily="34" charset="-122"/>
                <a:ea typeface="微软雅黑" panose="020B0503020204020204" pitchFamily="34" charset="-122"/>
              </a:rPr>
              <a:t>C++11</a:t>
            </a:r>
            <a:r>
              <a:rPr lang="zh-CN" altLang="en-US" sz="1600" dirty="0">
                <a:latin typeface="微软雅黑" panose="020B0503020204020204" pitchFamily="34" charset="-122"/>
                <a:ea typeface="微软雅黑" panose="020B0503020204020204" pitchFamily="34" charset="-122"/>
              </a:rPr>
              <a:t>中新增了右值引用，可以将对象内容移动，避免拷贝</a:t>
            </a:r>
            <a:endParaRPr lang="en-US" altLang="zh-CN" sz="1600" dirty="0">
              <a:latin typeface="微软雅黑" panose="020B0503020204020204" pitchFamily="34" charset="-122"/>
              <a:ea typeface="微软雅黑" panose="020B0503020204020204" pitchFamily="34" charset="-122"/>
            </a:endParaRPr>
          </a:p>
        </p:txBody>
      </p:sp>
      <p:sp>
        <p:nvSpPr>
          <p:cNvPr id="37" name="文本框 36"/>
          <p:cNvSpPr txBox="1"/>
          <p:nvPr/>
        </p:nvSpPr>
        <p:spPr>
          <a:xfrm>
            <a:off x="8686800" y="3336291"/>
            <a:ext cx="3267075" cy="584775"/>
          </a:xfrm>
          <a:prstGeom prst="rect">
            <a:avLst/>
          </a:prstGeom>
          <a:noFill/>
        </p:spPr>
        <p:txBody>
          <a:bodyPr wrap="square" rtlCol="0">
            <a:spAutoFit/>
          </a:bodyPr>
          <a:lstStyle/>
          <a:p>
            <a:r>
              <a:rPr lang="zh-CN" altLang="en-US" sz="1600" dirty="0">
                <a:solidFill>
                  <a:srgbClr val="FF0000"/>
                </a:solidFill>
                <a:latin typeface="微软雅黑" panose="020B0503020204020204" pitchFamily="34" charset="-122"/>
                <a:ea typeface="微软雅黑" panose="020B0503020204020204" pitchFamily="34" charset="-122"/>
              </a:rPr>
              <a:t>构造一个临时</a:t>
            </a:r>
            <a:r>
              <a:rPr lang="en-US" altLang="zh-CN" sz="1600" dirty="0">
                <a:solidFill>
                  <a:srgbClr val="FF0000"/>
                </a:solidFill>
                <a:latin typeface="微软雅黑" panose="020B0503020204020204" pitchFamily="34" charset="-122"/>
                <a:ea typeface="微软雅黑" panose="020B0503020204020204" pitchFamily="34" charset="-122"/>
              </a:rPr>
              <a:t>string</a:t>
            </a:r>
            <a:r>
              <a:rPr lang="zh-CN" altLang="en-US" sz="1600" dirty="0">
                <a:solidFill>
                  <a:srgbClr val="FF0000"/>
                </a:solidFill>
                <a:latin typeface="微软雅黑" panose="020B0503020204020204" pitchFamily="34" charset="-122"/>
                <a:ea typeface="微软雅黑" panose="020B0503020204020204" pitchFamily="34" charset="-122"/>
              </a:rPr>
              <a:t>对象，然后把临时对象内容移动给</a:t>
            </a:r>
            <a:r>
              <a:rPr lang="en-US" altLang="zh-CN" sz="1600" dirty="0">
                <a:solidFill>
                  <a:srgbClr val="FF0000"/>
                </a:solidFill>
                <a:latin typeface="微软雅黑" panose="020B0503020204020204" pitchFamily="34" charset="-122"/>
                <a:ea typeface="微软雅黑" panose="020B0503020204020204" pitchFamily="34" charset="-122"/>
              </a:rPr>
              <a:t>name</a:t>
            </a:r>
            <a:endParaRPr lang="zh-CN" altLang="en-US" sz="1600" dirty="0">
              <a:solidFill>
                <a:srgbClr val="FF0000"/>
              </a:solidFill>
              <a:latin typeface="微软雅黑" panose="020B0503020204020204" pitchFamily="34" charset="-122"/>
              <a:ea typeface="微软雅黑" panose="020B0503020204020204" pitchFamily="34" charset="-122"/>
            </a:endParaRPr>
          </a:p>
        </p:txBody>
      </p:sp>
      <p:cxnSp>
        <p:nvCxnSpPr>
          <p:cNvPr id="38" name="直接箭头连接符 37"/>
          <p:cNvCxnSpPr/>
          <p:nvPr/>
        </p:nvCxnSpPr>
        <p:spPr>
          <a:xfrm flipH="1" flipV="1">
            <a:off x="9753601" y="2427790"/>
            <a:ext cx="1" cy="833583"/>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9" name="矩形 38"/>
          <p:cNvSpPr/>
          <p:nvPr/>
        </p:nvSpPr>
        <p:spPr>
          <a:xfrm>
            <a:off x="8413403" y="2161089"/>
            <a:ext cx="2149823" cy="266700"/>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1" name="矩形 40"/>
          <p:cNvSpPr/>
          <p:nvPr/>
        </p:nvSpPr>
        <p:spPr>
          <a:xfrm>
            <a:off x="7603777" y="4838006"/>
            <a:ext cx="2749899" cy="266700"/>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42" name="直接箭头连接符 41"/>
          <p:cNvCxnSpPr/>
          <p:nvPr/>
        </p:nvCxnSpPr>
        <p:spPr>
          <a:xfrm>
            <a:off x="9753600" y="3897077"/>
            <a:ext cx="0" cy="932491"/>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44" name="矩形 43"/>
          <p:cNvSpPr/>
          <p:nvPr/>
        </p:nvSpPr>
        <p:spPr>
          <a:xfrm>
            <a:off x="7584727" y="5331979"/>
            <a:ext cx="1616423" cy="266700"/>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45" name="直接箭头连接符 44"/>
          <p:cNvCxnSpPr/>
          <p:nvPr/>
        </p:nvCxnSpPr>
        <p:spPr>
          <a:xfrm flipH="1">
            <a:off x="9201150" y="5465330"/>
            <a:ext cx="287164" cy="1"/>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47" name="文本框 46"/>
          <p:cNvSpPr txBox="1"/>
          <p:nvPr/>
        </p:nvSpPr>
        <p:spPr>
          <a:xfrm>
            <a:off x="9431165" y="5284355"/>
            <a:ext cx="2286375" cy="338554"/>
          </a:xfrm>
          <a:prstGeom prst="rect">
            <a:avLst/>
          </a:prstGeom>
          <a:noFill/>
        </p:spPr>
        <p:txBody>
          <a:bodyPr wrap="square" rtlCol="0">
            <a:spAutoFit/>
          </a:bodyPr>
          <a:lstStyle/>
          <a:p>
            <a:r>
              <a:rPr lang="zh-CN" altLang="en-US" sz="1600" dirty="0">
                <a:solidFill>
                  <a:srgbClr val="FF0000"/>
                </a:solidFill>
                <a:latin typeface="微软雅黑" panose="020B0503020204020204" pitchFamily="34" charset="-122"/>
                <a:ea typeface="微软雅黑" panose="020B0503020204020204" pitchFamily="34" charset="-122"/>
              </a:rPr>
              <a:t>把</a:t>
            </a:r>
            <a:r>
              <a:rPr lang="en-US" altLang="zh-CN" sz="1600" dirty="0">
                <a:solidFill>
                  <a:srgbClr val="FF0000"/>
                </a:solidFill>
                <a:latin typeface="微软雅黑" panose="020B0503020204020204" pitchFamily="34" charset="-122"/>
                <a:ea typeface="微软雅黑" panose="020B0503020204020204" pitchFamily="34" charset="-122"/>
              </a:rPr>
              <a:t>a</a:t>
            </a:r>
            <a:r>
              <a:rPr lang="zh-CN" altLang="en-US" sz="1600" dirty="0">
                <a:solidFill>
                  <a:srgbClr val="FF0000"/>
                </a:solidFill>
                <a:latin typeface="微软雅黑" panose="020B0503020204020204" pitchFamily="34" charset="-122"/>
                <a:ea typeface="微软雅黑" panose="020B0503020204020204" pitchFamily="34" charset="-122"/>
              </a:rPr>
              <a:t>的内容直接移动给</a:t>
            </a:r>
            <a:r>
              <a:rPr lang="en-US" altLang="zh-CN" sz="1600" dirty="0">
                <a:solidFill>
                  <a:srgbClr val="FF0000"/>
                </a:solidFill>
                <a:latin typeface="微软雅黑" panose="020B0503020204020204" pitchFamily="34" charset="-122"/>
                <a:ea typeface="微软雅黑" panose="020B0503020204020204" pitchFamily="34" charset="-122"/>
              </a:rPr>
              <a:t>b</a:t>
            </a:r>
            <a:endParaRPr lang="zh-CN" altLang="en-US" sz="1600" dirty="0">
              <a:solidFill>
                <a:srgbClr val="FF0000"/>
              </a:solidFill>
              <a:latin typeface="微软雅黑" panose="020B0503020204020204" pitchFamily="34" charset="-122"/>
              <a:ea typeface="微软雅黑" panose="020B0503020204020204" pitchFamily="34" charset="-122"/>
            </a:endParaRPr>
          </a:p>
        </p:txBody>
      </p:sp>
      <p:grpSp>
        <p:nvGrpSpPr>
          <p:cNvPr id="24" name="组合 23"/>
          <p:cNvGrpSpPr/>
          <p:nvPr/>
        </p:nvGrpSpPr>
        <p:grpSpPr>
          <a:xfrm>
            <a:off x="429014" y="234192"/>
            <a:ext cx="6915125" cy="505969"/>
            <a:chOff x="321760" y="175643"/>
            <a:chExt cx="5186344" cy="379477"/>
          </a:xfrm>
        </p:grpSpPr>
        <p:sp>
          <p:nvSpPr>
            <p:cNvPr id="25" name="Title 1">
              <a:extLst>
                <a:ext uri="{FF2B5EF4-FFF2-40B4-BE49-F238E27FC236}">
                  <a16:creationId xmlns:a16="http://schemas.microsoft.com/office/drawing/2014/main" id="{6892040A-94F3-474F-8198-4204E9168CEC}"/>
                </a:ext>
              </a:extLst>
            </p:cNvPr>
            <p:cNvSpPr txBox="1">
              <a:spLocks/>
            </p:cNvSpPr>
            <p:nvPr/>
          </p:nvSpPr>
          <p:spPr>
            <a:xfrm>
              <a:off x="611560" y="175643"/>
              <a:ext cx="4896544" cy="379477"/>
            </a:xfrm>
            <a:prstGeom prst="rect">
              <a:avLst/>
            </a:prstGeom>
          </p:spPr>
          <p:txBody>
            <a:bodyPr lIns="0" rIns="0"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itchFamily="2" charset="0"/>
                  <a:cs typeface="Open Sans Light" panose="020B0306030504020204" pitchFamily="34" charset="0"/>
                </a:defRPr>
              </a:lvl1pPr>
            </a:lstStyle>
            <a:p>
              <a:pPr algn="l"/>
              <a:r>
                <a:rPr lang="zh-CN" altLang="en-US" sz="2400" dirty="0">
                  <a:solidFill>
                    <a:schemeClr val="tx1">
                      <a:lumMod val="65000"/>
                      <a:lumOff val="35000"/>
                    </a:schemeClr>
                  </a:solidFill>
                  <a:latin typeface="+mn-lt"/>
                  <a:ea typeface="+mn-ea"/>
                  <a:cs typeface="+mn-ea"/>
                  <a:sym typeface="+mn-lt"/>
                </a:rPr>
                <a:t>右值引用</a:t>
              </a:r>
            </a:p>
          </p:txBody>
        </p:sp>
        <p:sp>
          <p:nvSpPr>
            <p:cNvPr id="27" name="Diamond 33">
              <a:extLst>
                <a:ext uri="{FF2B5EF4-FFF2-40B4-BE49-F238E27FC236}">
                  <a16:creationId xmlns:a16="http://schemas.microsoft.com/office/drawing/2014/main" id="{88651C82-D860-43A5-951F-058DAA88FBBC}"/>
                </a:ext>
              </a:extLst>
            </p:cNvPr>
            <p:cNvSpPr/>
            <p:nvPr/>
          </p:nvSpPr>
          <p:spPr>
            <a:xfrm>
              <a:off x="321760" y="254774"/>
              <a:ext cx="250083" cy="250083"/>
            </a:xfrm>
            <a:prstGeom prst="diamond">
              <a:avLst/>
            </a:prstGeom>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anchor="ctr">
              <a:normAutofit fontScale="55000" lnSpcReduction="20000"/>
            </a:bodyPr>
            <a:lstStyle/>
            <a:p>
              <a:pPr algn="ctr"/>
              <a:endParaRPr lang="en-US" altLang="zh-CN" sz="2400" dirty="0">
                <a:solidFill>
                  <a:schemeClr val="bg1"/>
                </a:solidFill>
                <a:cs typeface="+mn-ea"/>
                <a:sym typeface="+mn-lt"/>
              </a:endParaRPr>
            </a:p>
          </p:txBody>
        </p:sp>
      </p:grpSp>
    </p:spTree>
    <p:extLst>
      <p:ext uri="{BB962C8B-B14F-4D97-AF65-F5344CB8AC3E}">
        <p14:creationId xmlns:p14="http://schemas.microsoft.com/office/powerpoint/2010/main" val="1761606408"/>
      </p:ext>
    </p:extLst>
  </p:cSld>
  <p:clrMapOvr>
    <a:masterClrMapping/>
  </p:clrMapOvr>
  <p:transition advClick="0" advTm="8000"/>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fade">
                                      <p:cBhvr>
                                        <p:cTn id="7" dur="500"/>
                                        <p:tgtEl>
                                          <p:spTgt spid="20"/>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1"/>
                                        </p:tgtEl>
                                        <p:attrNameLst>
                                          <p:attrName>style.visibility</p:attrName>
                                        </p:attrNameLst>
                                      </p:cBhvr>
                                      <p:to>
                                        <p:strVal val="visible"/>
                                      </p:to>
                                    </p:set>
                                    <p:animEffect transition="in" filter="fade">
                                      <p:cBhvr>
                                        <p:cTn id="10" dur="500"/>
                                        <p:tgtEl>
                                          <p:spTgt spid="21"/>
                                        </p:tgtEl>
                                      </p:cBhvr>
                                    </p:animEffect>
                                  </p:childTnLst>
                                </p:cTn>
                              </p:par>
                              <p:par>
                                <p:cTn id="11" presetID="10" presetClass="entr" presetSubtype="0" fill="hold" nodeType="withEffect">
                                  <p:stCondLst>
                                    <p:cond delay="0"/>
                                  </p:stCondLst>
                                  <p:childTnLst>
                                    <p:set>
                                      <p:cBhvr>
                                        <p:cTn id="12" dur="1" fill="hold">
                                          <p:stCondLst>
                                            <p:cond delay="0"/>
                                          </p:stCondLst>
                                        </p:cTn>
                                        <p:tgtEl>
                                          <p:spTgt spid="22"/>
                                        </p:tgtEl>
                                        <p:attrNameLst>
                                          <p:attrName>style.visibility</p:attrName>
                                        </p:attrNameLst>
                                      </p:cBhvr>
                                      <p:to>
                                        <p:strVal val="visible"/>
                                      </p:to>
                                    </p:set>
                                    <p:animEffect transition="in" filter="fade">
                                      <p:cBhvr>
                                        <p:cTn id="13" dur="500"/>
                                        <p:tgtEl>
                                          <p:spTgt spid="22"/>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23"/>
                                        </p:tgtEl>
                                        <p:attrNameLst>
                                          <p:attrName>style.visibility</p:attrName>
                                        </p:attrNameLst>
                                      </p:cBhvr>
                                      <p:to>
                                        <p:strVal val="visible"/>
                                      </p:to>
                                    </p:set>
                                    <p:animEffect transition="in" filter="fade">
                                      <p:cBhvr>
                                        <p:cTn id="16" dur="500"/>
                                        <p:tgtEl>
                                          <p:spTgt spid="23"/>
                                        </p:tgtEl>
                                      </p:cBhvr>
                                    </p:animEffect>
                                  </p:childTnLst>
                                </p:cTn>
                              </p:par>
                              <p:par>
                                <p:cTn id="17" presetID="10" presetClass="entr" presetSubtype="0" fill="hold" nodeType="withEffect">
                                  <p:stCondLst>
                                    <p:cond delay="0"/>
                                  </p:stCondLst>
                                  <p:childTnLst>
                                    <p:set>
                                      <p:cBhvr>
                                        <p:cTn id="18" dur="1" fill="hold">
                                          <p:stCondLst>
                                            <p:cond delay="0"/>
                                          </p:stCondLst>
                                        </p:cTn>
                                        <p:tgtEl>
                                          <p:spTgt spid="26"/>
                                        </p:tgtEl>
                                        <p:attrNameLst>
                                          <p:attrName>style.visibility</p:attrName>
                                        </p:attrNameLst>
                                      </p:cBhvr>
                                      <p:to>
                                        <p:strVal val="visible"/>
                                      </p:to>
                                    </p:set>
                                    <p:animEffect transition="in" filter="fade">
                                      <p:cBhvr>
                                        <p:cTn id="19" dur="500"/>
                                        <p:tgtEl>
                                          <p:spTgt spid="26"/>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grpId="0" nodeType="clickEffect">
                                  <p:stCondLst>
                                    <p:cond delay="0"/>
                                  </p:stCondLst>
                                  <p:childTnLst>
                                    <p:set>
                                      <p:cBhvr>
                                        <p:cTn id="23" dur="1" fill="hold">
                                          <p:stCondLst>
                                            <p:cond delay="0"/>
                                          </p:stCondLst>
                                        </p:cTn>
                                        <p:tgtEl>
                                          <p:spTgt spid="31"/>
                                        </p:tgtEl>
                                        <p:attrNameLst>
                                          <p:attrName>style.visibility</p:attrName>
                                        </p:attrNameLst>
                                      </p:cBhvr>
                                      <p:to>
                                        <p:strVal val="visible"/>
                                      </p:to>
                                    </p:set>
                                    <p:animEffect transition="in" filter="fade">
                                      <p:cBhvr>
                                        <p:cTn id="24" dur="500"/>
                                        <p:tgtEl>
                                          <p:spTgt spid="31"/>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32"/>
                                        </p:tgtEl>
                                        <p:attrNameLst>
                                          <p:attrName>style.visibility</p:attrName>
                                        </p:attrNameLst>
                                      </p:cBhvr>
                                      <p:to>
                                        <p:strVal val="visible"/>
                                      </p:to>
                                    </p:set>
                                    <p:animEffect transition="in" filter="fade">
                                      <p:cBhvr>
                                        <p:cTn id="27" dur="500"/>
                                        <p:tgtEl>
                                          <p:spTgt spid="32"/>
                                        </p:tgtEl>
                                      </p:cBhvr>
                                    </p:animEffect>
                                  </p:childTnLst>
                                </p:cTn>
                              </p:par>
                              <p:par>
                                <p:cTn id="28" presetID="10" presetClass="entr" presetSubtype="0" fill="hold" nodeType="withEffect">
                                  <p:stCondLst>
                                    <p:cond delay="0"/>
                                  </p:stCondLst>
                                  <p:childTnLst>
                                    <p:set>
                                      <p:cBhvr>
                                        <p:cTn id="29" dur="1" fill="hold">
                                          <p:stCondLst>
                                            <p:cond delay="0"/>
                                          </p:stCondLst>
                                        </p:cTn>
                                        <p:tgtEl>
                                          <p:spTgt spid="33"/>
                                        </p:tgtEl>
                                        <p:attrNameLst>
                                          <p:attrName>style.visibility</p:attrName>
                                        </p:attrNameLst>
                                      </p:cBhvr>
                                      <p:to>
                                        <p:strVal val="visible"/>
                                      </p:to>
                                    </p:set>
                                    <p:animEffect transition="in" filter="fade">
                                      <p:cBhvr>
                                        <p:cTn id="30" dur="500"/>
                                        <p:tgtEl>
                                          <p:spTgt spid="33"/>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36"/>
                                        </p:tgtEl>
                                        <p:attrNameLst>
                                          <p:attrName>style.visibility</p:attrName>
                                        </p:attrNameLst>
                                      </p:cBhvr>
                                      <p:to>
                                        <p:strVal val="visible"/>
                                      </p:to>
                                    </p:set>
                                    <p:animEffect transition="in" filter="fade">
                                      <p:cBhvr>
                                        <p:cTn id="35" dur="500"/>
                                        <p:tgtEl>
                                          <p:spTgt spid="36"/>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34"/>
                                        </p:tgtEl>
                                        <p:attrNameLst>
                                          <p:attrName>style.visibility</p:attrName>
                                        </p:attrNameLst>
                                      </p:cBhvr>
                                      <p:to>
                                        <p:strVal val="visible"/>
                                      </p:to>
                                    </p:set>
                                    <p:animEffect transition="in" filter="fade">
                                      <p:cBhvr>
                                        <p:cTn id="38" dur="500"/>
                                        <p:tgtEl>
                                          <p:spTgt spid="34"/>
                                        </p:tgtEl>
                                      </p:cBhvr>
                                    </p:animEffect>
                                  </p:childTnLst>
                                </p:cTn>
                              </p:par>
                            </p:childTnLst>
                          </p:cTn>
                        </p:par>
                      </p:childTnLst>
                    </p:cTn>
                  </p:par>
                  <p:par>
                    <p:cTn id="39" fill="hold">
                      <p:stCondLst>
                        <p:cond delay="indefinite"/>
                      </p:stCondLst>
                      <p:childTnLst>
                        <p:par>
                          <p:cTn id="40" fill="hold">
                            <p:stCondLst>
                              <p:cond delay="0"/>
                            </p:stCondLst>
                            <p:childTnLst>
                              <p:par>
                                <p:cTn id="41" presetID="10" presetClass="entr" presetSubtype="0" fill="hold" grpId="0" nodeType="clickEffect">
                                  <p:stCondLst>
                                    <p:cond delay="0"/>
                                  </p:stCondLst>
                                  <p:childTnLst>
                                    <p:set>
                                      <p:cBhvr>
                                        <p:cTn id="42" dur="1" fill="hold">
                                          <p:stCondLst>
                                            <p:cond delay="0"/>
                                          </p:stCondLst>
                                        </p:cTn>
                                        <p:tgtEl>
                                          <p:spTgt spid="37"/>
                                        </p:tgtEl>
                                        <p:attrNameLst>
                                          <p:attrName>style.visibility</p:attrName>
                                        </p:attrNameLst>
                                      </p:cBhvr>
                                      <p:to>
                                        <p:strVal val="visible"/>
                                      </p:to>
                                    </p:set>
                                    <p:animEffect transition="in" filter="fade">
                                      <p:cBhvr>
                                        <p:cTn id="43" dur="500"/>
                                        <p:tgtEl>
                                          <p:spTgt spid="37"/>
                                        </p:tgtEl>
                                      </p:cBhvr>
                                    </p:animEffect>
                                  </p:childTnLst>
                                </p:cTn>
                              </p:par>
                              <p:par>
                                <p:cTn id="44" presetID="10" presetClass="entr" presetSubtype="0" fill="hold" nodeType="withEffect">
                                  <p:stCondLst>
                                    <p:cond delay="0"/>
                                  </p:stCondLst>
                                  <p:childTnLst>
                                    <p:set>
                                      <p:cBhvr>
                                        <p:cTn id="45" dur="1" fill="hold">
                                          <p:stCondLst>
                                            <p:cond delay="0"/>
                                          </p:stCondLst>
                                        </p:cTn>
                                        <p:tgtEl>
                                          <p:spTgt spid="38"/>
                                        </p:tgtEl>
                                        <p:attrNameLst>
                                          <p:attrName>style.visibility</p:attrName>
                                        </p:attrNameLst>
                                      </p:cBhvr>
                                      <p:to>
                                        <p:strVal val="visible"/>
                                      </p:to>
                                    </p:set>
                                    <p:animEffect transition="in" filter="fade">
                                      <p:cBhvr>
                                        <p:cTn id="46" dur="500"/>
                                        <p:tgtEl>
                                          <p:spTgt spid="38"/>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39"/>
                                        </p:tgtEl>
                                        <p:attrNameLst>
                                          <p:attrName>style.visibility</p:attrName>
                                        </p:attrNameLst>
                                      </p:cBhvr>
                                      <p:to>
                                        <p:strVal val="visible"/>
                                      </p:to>
                                    </p:set>
                                    <p:animEffect transition="in" filter="fade">
                                      <p:cBhvr>
                                        <p:cTn id="49" dur="500"/>
                                        <p:tgtEl>
                                          <p:spTgt spid="39"/>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41"/>
                                        </p:tgtEl>
                                        <p:attrNameLst>
                                          <p:attrName>style.visibility</p:attrName>
                                        </p:attrNameLst>
                                      </p:cBhvr>
                                      <p:to>
                                        <p:strVal val="visible"/>
                                      </p:to>
                                    </p:set>
                                    <p:animEffect transition="in" filter="fade">
                                      <p:cBhvr>
                                        <p:cTn id="52" dur="500"/>
                                        <p:tgtEl>
                                          <p:spTgt spid="41"/>
                                        </p:tgtEl>
                                      </p:cBhvr>
                                    </p:animEffect>
                                  </p:childTnLst>
                                </p:cTn>
                              </p:par>
                              <p:par>
                                <p:cTn id="53" presetID="10" presetClass="entr" presetSubtype="0" fill="hold" nodeType="withEffect">
                                  <p:stCondLst>
                                    <p:cond delay="0"/>
                                  </p:stCondLst>
                                  <p:childTnLst>
                                    <p:set>
                                      <p:cBhvr>
                                        <p:cTn id="54" dur="1" fill="hold">
                                          <p:stCondLst>
                                            <p:cond delay="0"/>
                                          </p:stCondLst>
                                        </p:cTn>
                                        <p:tgtEl>
                                          <p:spTgt spid="42"/>
                                        </p:tgtEl>
                                        <p:attrNameLst>
                                          <p:attrName>style.visibility</p:attrName>
                                        </p:attrNameLst>
                                      </p:cBhvr>
                                      <p:to>
                                        <p:strVal val="visible"/>
                                      </p:to>
                                    </p:set>
                                    <p:animEffect transition="in" filter="fade">
                                      <p:cBhvr>
                                        <p:cTn id="55" dur="500"/>
                                        <p:tgtEl>
                                          <p:spTgt spid="42"/>
                                        </p:tgtEl>
                                      </p:cBhvr>
                                    </p:animEffect>
                                  </p:childTnLst>
                                </p:cTn>
                              </p:par>
                            </p:childTnLst>
                          </p:cTn>
                        </p:par>
                      </p:childTnLst>
                    </p:cTn>
                  </p:par>
                  <p:par>
                    <p:cTn id="56" fill="hold">
                      <p:stCondLst>
                        <p:cond delay="indefinite"/>
                      </p:stCondLst>
                      <p:childTnLst>
                        <p:par>
                          <p:cTn id="57" fill="hold">
                            <p:stCondLst>
                              <p:cond delay="0"/>
                            </p:stCondLst>
                            <p:childTnLst>
                              <p:par>
                                <p:cTn id="58" presetID="10" presetClass="entr" presetSubtype="0" fill="hold" grpId="0" nodeType="clickEffect">
                                  <p:stCondLst>
                                    <p:cond delay="0"/>
                                  </p:stCondLst>
                                  <p:childTnLst>
                                    <p:set>
                                      <p:cBhvr>
                                        <p:cTn id="59" dur="1" fill="hold">
                                          <p:stCondLst>
                                            <p:cond delay="0"/>
                                          </p:stCondLst>
                                        </p:cTn>
                                        <p:tgtEl>
                                          <p:spTgt spid="44"/>
                                        </p:tgtEl>
                                        <p:attrNameLst>
                                          <p:attrName>style.visibility</p:attrName>
                                        </p:attrNameLst>
                                      </p:cBhvr>
                                      <p:to>
                                        <p:strVal val="visible"/>
                                      </p:to>
                                    </p:set>
                                    <p:animEffect transition="in" filter="fade">
                                      <p:cBhvr>
                                        <p:cTn id="60" dur="500"/>
                                        <p:tgtEl>
                                          <p:spTgt spid="44"/>
                                        </p:tgtEl>
                                      </p:cBhvr>
                                    </p:animEffect>
                                  </p:childTnLst>
                                </p:cTn>
                              </p:par>
                              <p:par>
                                <p:cTn id="61" presetID="10" presetClass="entr" presetSubtype="0" fill="hold" nodeType="withEffect">
                                  <p:stCondLst>
                                    <p:cond delay="0"/>
                                  </p:stCondLst>
                                  <p:childTnLst>
                                    <p:set>
                                      <p:cBhvr>
                                        <p:cTn id="62" dur="1" fill="hold">
                                          <p:stCondLst>
                                            <p:cond delay="0"/>
                                          </p:stCondLst>
                                        </p:cTn>
                                        <p:tgtEl>
                                          <p:spTgt spid="45"/>
                                        </p:tgtEl>
                                        <p:attrNameLst>
                                          <p:attrName>style.visibility</p:attrName>
                                        </p:attrNameLst>
                                      </p:cBhvr>
                                      <p:to>
                                        <p:strVal val="visible"/>
                                      </p:to>
                                    </p:set>
                                    <p:animEffect transition="in" filter="fade">
                                      <p:cBhvr>
                                        <p:cTn id="63" dur="500"/>
                                        <p:tgtEl>
                                          <p:spTgt spid="45"/>
                                        </p:tgtEl>
                                      </p:cBhvr>
                                    </p:animEffect>
                                  </p:childTnLst>
                                </p:cTn>
                              </p:par>
                              <p:par>
                                <p:cTn id="64" presetID="10" presetClass="entr" presetSubtype="0" fill="hold" grpId="0" nodeType="withEffect">
                                  <p:stCondLst>
                                    <p:cond delay="0"/>
                                  </p:stCondLst>
                                  <p:childTnLst>
                                    <p:set>
                                      <p:cBhvr>
                                        <p:cTn id="65" dur="1" fill="hold">
                                          <p:stCondLst>
                                            <p:cond delay="0"/>
                                          </p:stCondLst>
                                        </p:cTn>
                                        <p:tgtEl>
                                          <p:spTgt spid="47"/>
                                        </p:tgtEl>
                                        <p:attrNameLst>
                                          <p:attrName>style.visibility</p:attrName>
                                        </p:attrNameLst>
                                      </p:cBhvr>
                                      <p:to>
                                        <p:strVal val="visible"/>
                                      </p:to>
                                    </p:set>
                                    <p:animEffect transition="in" filter="fade">
                                      <p:cBhvr>
                                        <p:cTn id="66" dur="500"/>
                                        <p:tgtEl>
                                          <p:spTgt spid="4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p:bldP spid="21" grpId="0"/>
      <p:bldP spid="23" grpId="0" animBg="1"/>
      <p:bldP spid="31" grpId="0" animBg="1"/>
      <p:bldP spid="32" grpId="0"/>
      <p:bldP spid="34" grpId="0" animBg="1"/>
      <p:bldP spid="36" grpId="0"/>
      <p:bldP spid="37" grpId="0"/>
      <p:bldP spid="39" grpId="0" animBg="1"/>
      <p:bldP spid="41" grpId="0" animBg="1"/>
      <p:bldP spid="44" grpId="0" animBg="1"/>
      <p:bldP spid="47"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矩形 33"/>
          <p:cNvSpPr/>
          <p:nvPr/>
        </p:nvSpPr>
        <p:spPr>
          <a:xfrm>
            <a:off x="552451" y="1127849"/>
            <a:ext cx="5221488" cy="5262979"/>
          </a:xfrm>
          <a:prstGeom prst="rect">
            <a:avLst/>
          </a:prstGeom>
          <a:solidFill>
            <a:schemeClr val="tx1"/>
          </a:solidFill>
        </p:spPr>
        <p:txBody>
          <a:bodyPr wrap="square">
            <a:spAutoFit/>
          </a:bodyPr>
          <a:lstStyle/>
          <a:p>
            <a:r>
              <a:rPr lang="en-US" altLang="zh-CN" sz="1600" dirty="0">
                <a:solidFill>
                  <a:srgbClr val="569CD6"/>
                </a:solidFill>
                <a:latin typeface="Lucida Console" panose="020B0609040504020204" pitchFamily="49" charset="0"/>
              </a:rPr>
              <a:t>class</a:t>
            </a:r>
            <a:r>
              <a:rPr lang="en-US" altLang="zh-CN" sz="1600" dirty="0">
                <a:solidFill>
                  <a:srgbClr val="D4D4D4"/>
                </a:solidFill>
                <a:latin typeface="Lucida Console" panose="020B0609040504020204" pitchFamily="49" charset="0"/>
              </a:rPr>
              <a:t> </a:t>
            </a:r>
            <a:r>
              <a:rPr lang="en-US" altLang="zh-CN" sz="1600" dirty="0" err="1">
                <a:solidFill>
                  <a:srgbClr val="4EC9B0"/>
                </a:solidFill>
                <a:latin typeface="Lucida Console" panose="020B0609040504020204" pitchFamily="49" charset="0"/>
              </a:rPr>
              <a:t>MyName</a:t>
            </a:r>
            <a:r>
              <a:rPr lang="en-US" altLang="zh-CN" sz="1600" dirty="0">
                <a:solidFill>
                  <a:srgbClr val="D4D4D4"/>
                </a:solidFill>
                <a:latin typeface="Lucida Console" panose="020B0609040504020204" pitchFamily="49" charset="0"/>
              </a:rPr>
              <a:t> {</a:t>
            </a:r>
          </a:p>
          <a:p>
            <a:r>
              <a:rPr lang="en-US" altLang="zh-CN" sz="1600" dirty="0">
                <a:solidFill>
                  <a:srgbClr val="569CD6"/>
                </a:solidFill>
                <a:latin typeface="Lucida Console" panose="020B0609040504020204" pitchFamily="49" charset="0"/>
              </a:rPr>
              <a:t>public:</a:t>
            </a:r>
            <a:endParaRPr lang="en-US" altLang="zh-CN" sz="1600" dirty="0">
              <a:solidFill>
                <a:srgbClr val="D4D4D4"/>
              </a:solidFill>
              <a:latin typeface="Lucida Console" panose="020B0609040504020204" pitchFamily="49" charset="0"/>
            </a:endParaRPr>
          </a:p>
          <a:p>
            <a:r>
              <a:rPr lang="en-US" altLang="zh-CN" sz="1600" dirty="0">
                <a:solidFill>
                  <a:srgbClr val="D4D4D4"/>
                </a:solidFill>
                <a:latin typeface="Lucida Console" panose="020B0609040504020204" pitchFamily="49" charset="0"/>
              </a:rPr>
              <a:t>    </a:t>
            </a:r>
            <a:r>
              <a:rPr lang="en-US" altLang="zh-CN" sz="1600" dirty="0" err="1">
                <a:solidFill>
                  <a:srgbClr val="4EC9B0"/>
                </a:solidFill>
                <a:latin typeface="Lucida Console" panose="020B0609040504020204" pitchFamily="49" charset="0"/>
              </a:rPr>
              <a:t>MyName</a:t>
            </a:r>
            <a:r>
              <a:rPr lang="en-US" altLang="zh-CN" sz="1600" dirty="0">
                <a:solidFill>
                  <a:srgbClr val="569CD6"/>
                </a:solidFill>
                <a:latin typeface="Lucida Console" panose="020B0609040504020204" pitchFamily="49" charset="0"/>
              </a:rPr>
              <a:t>&amp;</a:t>
            </a:r>
            <a:r>
              <a:rPr lang="en-US" altLang="zh-CN" sz="1600" dirty="0">
                <a:solidFill>
                  <a:srgbClr val="D4D4D4"/>
                </a:solidFill>
                <a:latin typeface="Lucida Console" panose="020B0609040504020204" pitchFamily="49" charset="0"/>
              </a:rPr>
              <a:t> </a:t>
            </a:r>
            <a:r>
              <a:rPr lang="en-US" altLang="zh-CN" sz="1600" dirty="0">
                <a:solidFill>
                  <a:srgbClr val="C586C0"/>
                </a:solidFill>
                <a:latin typeface="Lucida Console" panose="020B0609040504020204" pitchFamily="49" charset="0"/>
              </a:rPr>
              <a:t>operator=</a:t>
            </a:r>
            <a:r>
              <a:rPr lang="en-US" altLang="zh-CN" sz="1600" dirty="0">
                <a:solidFill>
                  <a:srgbClr val="D4D4D4"/>
                </a:solidFill>
                <a:latin typeface="Lucida Console" panose="020B0609040504020204" pitchFamily="49" charset="0"/>
              </a:rPr>
              <a:t>(</a:t>
            </a:r>
            <a:r>
              <a:rPr lang="en-US" altLang="zh-CN" sz="1600" dirty="0">
                <a:solidFill>
                  <a:srgbClr val="4EC9B0"/>
                </a:solidFill>
                <a:latin typeface="Lucida Console" panose="020B0609040504020204" pitchFamily="49" charset="0"/>
              </a:rPr>
              <a:t>string</a:t>
            </a:r>
            <a:r>
              <a:rPr lang="en-US" altLang="zh-CN" sz="1600" dirty="0">
                <a:solidFill>
                  <a:srgbClr val="569CD6"/>
                </a:solidFill>
                <a:latin typeface="Lucida Console" panose="020B0609040504020204" pitchFamily="49" charset="0"/>
              </a:rPr>
              <a:t>&amp;&amp;</a:t>
            </a:r>
            <a:r>
              <a:rPr lang="en-US" altLang="zh-CN" sz="1600" dirty="0">
                <a:solidFill>
                  <a:srgbClr val="D4D4D4"/>
                </a:solidFill>
                <a:latin typeface="Lucida Console" panose="020B0609040504020204" pitchFamily="49" charset="0"/>
              </a:rPr>
              <a:t> </a:t>
            </a:r>
            <a:r>
              <a:rPr lang="en-US" altLang="zh-CN" sz="1600" dirty="0">
                <a:solidFill>
                  <a:srgbClr val="9CDCFE"/>
                </a:solidFill>
                <a:latin typeface="Lucida Console" panose="020B0609040504020204" pitchFamily="49" charset="0"/>
              </a:rPr>
              <a:t>other</a:t>
            </a:r>
            <a:r>
              <a:rPr lang="en-US" altLang="zh-CN" sz="1600" dirty="0">
                <a:solidFill>
                  <a:srgbClr val="D4D4D4"/>
                </a:solidFill>
                <a:latin typeface="Lucida Console" panose="020B0609040504020204" pitchFamily="49" charset="0"/>
              </a:rPr>
              <a:t>)</a:t>
            </a:r>
          </a:p>
          <a:p>
            <a:r>
              <a:rPr lang="en-US" altLang="zh-CN" sz="1600" dirty="0">
                <a:solidFill>
                  <a:srgbClr val="D4D4D4"/>
                </a:solidFill>
                <a:latin typeface="Lucida Console" panose="020B0609040504020204" pitchFamily="49" charset="0"/>
              </a:rPr>
              <a:t>    {</a:t>
            </a:r>
          </a:p>
          <a:p>
            <a:r>
              <a:rPr lang="en-US" altLang="zh-CN" sz="1600" dirty="0">
                <a:solidFill>
                  <a:srgbClr val="D4D4D4"/>
                </a:solidFill>
                <a:latin typeface="Lucida Console" panose="020B0609040504020204" pitchFamily="49" charset="0"/>
              </a:rPr>
              <a:t>        name = </a:t>
            </a:r>
            <a:r>
              <a:rPr lang="en-US" altLang="zh-CN" sz="1600" dirty="0" err="1">
                <a:solidFill>
                  <a:srgbClr val="4EC9B0"/>
                </a:solidFill>
                <a:latin typeface="Lucida Console" panose="020B0609040504020204" pitchFamily="49" charset="0"/>
              </a:rPr>
              <a:t>std</a:t>
            </a:r>
            <a:r>
              <a:rPr lang="en-US" altLang="zh-CN" sz="1600" dirty="0">
                <a:solidFill>
                  <a:srgbClr val="D4D4D4"/>
                </a:solidFill>
                <a:latin typeface="Lucida Console" panose="020B0609040504020204" pitchFamily="49" charset="0"/>
              </a:rPr>
              <a:t>::</a:t>
            </a:r>
            <a:r>
              <a:rPr lang="en-US" altLang="zh-CN" sz="1600" dirty="0">
                <a:solidFill>
                  <a:srgbClr val="DCDCAA"/>
                </a:solidFill>
                <a:latin typeface="Lucida Console" panose="020B0609040504020204" pitchFamily="49" charset="0"/>
              </a:rPr>
              <a:t>move</a:t>
            </a:r>
            <a:r>
              <a:rPr lang="en-US" altLang="zh-CN" sz="1600" dirty="0">
                <a:solidFill>
                  <a:srgbClr val="D4D4D4"/>
                </a:solidFill>
                <a:latin typeface="Lucida Console" panose="020B0609040504020204" pitchFamily="49" charset="0"/>
              </a:rPr>
              <a:t>(other);</a:t>
            </a:r>
          </a:p>
          <a:p>
            <a:r>
              <a:rPr lang="en-US" altLang="zh-CN" sz="1600" dirty="0">
                <a:solidFill>
                  <a:srgbClr val="D4D4D4"/>
                </a:solidFill>
                <a:latin typeface="Lucida Console" panose="020B0609040504020204" pitchFamily="49" charset="0"/>
              </a:rPr>
              <a:t>        </a:t>
            </a:r>
            <a:r>
              <a:rPr lang="en-US" altLang="zh-CN" sz="1600" dirty="0">
                <a:solidFill>
                  <a:srgbClr val="C586C0"/>
                </a:solidFill>
                <a:latin typeface="Lucida Console" panose="020B0609040504020204" pitchFamily="49" charset="0"/>
              </a:rPr>
              <a:t>return</a:t>
            </a:r>
            <a:r>
              <a:rPr lang="en-US" altLang="zh-CN" sz="1600" dirty="0">
                <a:solidFill>
                  <a:srgbClr val="D4D4D4"/>
                </a:solidFill>
                <a:latin typeface="Lucida Console" panose="020B0609040504020204" pitchFamily="49" charset="0"/>
              </a:rPr>
              <a:t> *</a:t>
            </a:r>
            <a:r>
              <a:rPr lang="en-US" altLang="zh-CN" sz="1600" dirty="0">
                <a:solidFill>
                  <a:srgbClr val="569CD6"/>
                </a:solidFill>
                <a:latin typeface="Lucida Console" panose="020B0609040504020204" pitchFamily="49" charset="0"/>
              </a:rPr>
              <a:t>this</a:t>
            </a:r>
            <a:r>
              <a:rPr lang="en-US" altLang="zh-CN" sz="1600" dirty="0">
                <a:solidFill>
                  <a:srgbClr val="D4D4D4"/>
                </a:solidFill>
                <a:latin typeface="Lucida Console" panose="020B0609040504020204" pitchFamily="49" charset="0"/>
              </a:rPr>
              <a:t>;</a:t>
            </a:r>
          </a:p>
          <a:p>
            <a:r>
              <a:rPr lang="en-US" altLang="zh-CN" sz="1600" dirty="0">
                <a:solidFill>
                  <a:srgbClr val="D4D4D4"/>
                </a:solidFill>
                <a:latin typeface="Lucida Console" panose="020B0609040504020204" pitchFamily="49" charset="0"/>
              </a:rPr>
              <a:t>    }</a:t>
            </a:r>
          </a:p>
          <a:p>
            <a:br>
              <a:rPr lang="en-US" altLang="zh-CN" sz="1600" dirty="0">
                <a:solidFill>
                  <a:srgbClr val="D4D4D4"/>
                </a:solidFill>
                <a:latin typeface="Lucida Console" panose="020B0609040504020204" pitchFamily="49" charset="0"/>
              </a:rPr>
            </a:br>
            <a:r>
              <a:rPr lang="en-US" altLang="zh-CN" sz="1600" dirty="0">
                <a:solidFill>
                  <a:srgbClr val="569CD6"/>
                </a:solidFill>
                <a:latin typeface="Lucida Console" panose="020B0609040504020204" pitchFamily="49" charset="0"/>
              </a:rPr>
              <a:t>private:</a:t>
            </a:r>
            <a:endParaRPr lang="en-US" altLang="zh-CN" sz="1600" dirty="0">
              <a:solidFill>
                <a:srgbClr val="D4D4D4"/>
              </a:solidFill>
              <a:latin typeface="Lucida Console" panose="020B0609040504020204" pitchFamily="49" charset="0"/>
            </a:endParaRPr>
          </a:p>
          <a:p>
            <a:r>
              <a:rPr lang="en-US" altLang="zh-CN" sz="1600" dirty="0">
                <a:solidFill>
                  <a:srgbClr val="D4D4D4"/>
                </a:solidFill>
                <a:latin typeface="Lucida Console" panose="020B0609040504020204" pitchFamily="49" charset="0"/>
              </a:rPr>
              <a:t>    string name;</a:t>
            </a:r>
          </a:p>
          <a:p>
            <a:r>
              <a:rPr lang="en-US" altLang="zh-CN" sz="1600" dirty="0">
                <a:solidFill>
                  <a:srgbClr val="D4D4D4"/>
                </a:solidFill>
                <a:latin typeface="Lucida Console" panose="020B0609040504020204" pitchFamily="49" charset="0"/>
              </a:rPr>
              <a:t>};</a:t>
            </a:r>
          </a:p>
          <a:p>
            <a:br>
              <a:rPr lang="en-US" altLang="zh-CN" sz="1600" dirty="0">
                <a:solidFill>
                  <a:srgbClr val="D4D4D4"/>
                </a:solidFill>
                <a:latin typeface="Lucida Console" panose="020B0609040504020204" pitchFamily="49" charset="0"/>
              </a:rPr>
            </a:br>
            <a:r>
              <a:rPr lang="en-US" altLang="zh-CN" sz="1600" dirty="0" err="1">
                <a:solidFill>
                  <a:srgbClr val="569CD6"/>
                </a:solidFill>
                <a:latin typeface="Lucida Console" panose="020B0609040504020204" pitchFamily="49" charset="0"/>
              </a:rPr>
              <a:t>int</a:t>
            </a:r>
            <a:r>
              <a:rPr lang="en-US" altLang="zh-CN" sz="1600" dirty="0">
                <a:solidFill>
                  <a:srgbClr val="D4D4D4"/>
                </a:solidFill>
                <a:latin typeface="Lucida Console" panose="020B0609040504020204" pitchFamily="49" charset="0"/>
              </a:rPr>
              <a:t> </a:t>
            </a:r>
            <a:r>
              <a:rPr lang="en-US" altLang="zh-CN" sz="1600" dirty="0">
                <a:solidFill>
                  <a:srgbClr val="DCDCAA"/>
                </a:solidFill>
                <a:latin typeface="Lucida Console" panose="020B0609040504020204" pitchFamily="49" charset="0"/>
              </a:rPr>
              <a:t>main</a:t>
            </a:r>
            <a:r>
              <a:rPr lang="en-US" altLang="zh-CN" sz="1600" dirty="0">
                <a:solidFill>
                  <a:srgbClr val="D4D4D4"/>
                </a:solidFill>
                <a:latin typeface="Lucida Console" panose="020B0609040504020204" pitchFamily="49" charset="0"/>
              </a:rPr>
              <a:t>()</a:t>
            </a:r>
          </a:p>
          <a:p>
            <a:r>
              <a:rPr lang="en-US" altLang="zh-CN" sz="1600" dirty="0">
                <a:solidFill>
                  <a:srgbClr val="D4D4D4"/>
                </a:solidFill>
                <a:latin typeface="Lucida Console" panose="020B0609040504020204" pitchFamily="49" charset="0"/>
              </a:rPr>
              <a:t>{</a:t>
            </a:r>
          </a:p>
          <a:p>
            <a:r>
              <a:rPr lang="en-US" altLang="zh-CN" sz="1600" dirty="0">
                <a:solidFill>
                  <a:srgbClr val="D4D4D4"/>
                </a:solidFill>
                <a:latin typeface="Lucida Console" panose="020B0609040504020204" pitchFamily="49" charset="0"/>
              </a:rPr>
              <a:t>    </a:t>
            </a:r>
            <a:r>
              <a:rPr lang="en-US" altLang="zh-CN" sz="1600" dirty="0" err="1">
                <a:solidFill>
                  <a:srgbClr val="D4D4D4"/>
                </a:solidFill>
                <a:latin typeface="Lucida Console" panose="020B0609040504020204" pitchFamily="49" charset="0"/>
              </a:rPr>
              <a:t>MyName</a:t>
            </a:r>
            <a:r>
              <a:rPr lang="en-US" altLang="zh-CN" sz="1600" dirty="0">
                <a:solidFill>
                  <a:srgbClr val="D4D4D4"/>
                </a:solidFill>
                <a:latin typeface="Lucida Console" panose="020B0609040504020204" pitchFamily="49" charset="0"/>
              </a:rPr>
              <a:t> a;</a:t>
            </a:r>
          </a:p>
          <a:p>
            <a:r>
              <a:rPr lang="en-US" altLang="zh-CN" sz="1600" dirty="0">
                <a:solidFill>
                  <a:srgbClr val="D4D4D4"/>
                </a:solidFill>
                <a:latin typeface="Lucida Console" panose="020B0609040504020204" pitchFamily="49" charset="0"/>
              </a:rPr>
              <a:t>    a = </a:t>
            </a:r>
            <a:r>
              <a:rPr lang="en-US" altLang="zh-CN" sz="1600" dirty="0">
                <a:solidFill>
                  <a:srgbClr val="CE9178"/>
                </a:solidFill>
                <a:latin typeface="Lucida Console" panose="020B0609040504020204" pitchFamily="49" charset="0"/>
              </a:rPr>
              <a:t>"This is a long name"</a:t>
            </a:r>
            <a:r>
              <a:rPr lang="en-US" altLang="zh-CN" sz="1600" dirty="0">
                <a:solidFill>
                  <a:srgbClr val="D4D4D4"/>
                </a:solidFill>
                <a:latin typeface="Lucida Console" panose="020B0609040504020204" pitchFamily="49" charset="0"/>
              </a:rPr>
              <a:t>;</a:t>
            </a:r>
          </a:p>
          <a:p>
            <a:r>
              <a:rPr lang="en-US" altLang="zh-CN" sz="1600" dirty="0">
                <a:solidFill>
                  <a:srgbClr val="D4D4D4"/>
                </a:solidFill>
                <a:latin typeface="Lucida Console" panose="020B0609040504020204" pitchFamily="49" charset="0"/>
              </a:rPr>
              <a:t>    </a:t>
            </a:r>
            <a:r>
              <a:rPr lang="en-US" altLang="zh-CN" sz="1600" dirty="0" err="1">
                <a:solidFill>
                  <a:srgbClr val="D4D4D4"/>
                </a:solidFill>
                <a:latin typeface="Lucida Console" panose="020B0609040504020204" pitchFamily="49" charset="0"/>
              </a:rPr>
              <a:t>MyName</a:t>
            </a:r>
            <a:r>
              <a:rPr lang="en-US" altLang="zh-CN" sz="1600" dirty="0">
                <a:solidFill>
                  <a:srgbClr val="D4D4D4"/>
                </a:solidFill>
                <a:latin typeface="Lucida Console" panose="020B0609040504020204" pitchFamily="49" charset="0"/>
              </a:rPr>
              <a:t> b;</a:t>
            </a:r>
          </a:p>
          <a:p>
            <a:r>
              <a:rPr lang="en-US" altLang="zh-CN" sz="1600" dirty="0">
                <a:solidFill>
                  <a:srgbClr val="D4D4D4"/>
                </a:solidFill>
                <a:latin typeface="Lucida Console" panose="020B0609040504020204" pitchFamily="49" charset="0"/>
              </a:rPr>
              <a:t>    b = </a:t>
            </a:r>
            <a:r>
              <a:rPr lang="en-US" altLang="zh-CN" sz="1600" dirty="0" err="1">
                <a:solidFill>
                  <a:srgbClr val="4EC9B0"/>
                </a:solidFill>
                <a:latin typeface="Lucida Console" panose="020B0609040504020204" pitchFamily="49" charset="0"/>
              </a:rPr>
              <a:t>std</a:t>
            </a:r>
            <a:r>
              <a:rPr lang="en-US" altLang="zh-CN" sz="1600" dirty="0">
                <a:solidFill>
                  <a:srgbClr val="D4D4D4"/>
                </a:solidFill>
                <a:latin typeface="Lucida Console" panose="020B0609040504020204" pitchFamily="49" charset="0"/>
              </a:rPr>
              <a:t>::</a:t>
            </a:r>
            <a:r>
              <a:rPr lang="en-US" altLang="zh-CN" sz="1600" dirty="0">
                <a:solidFill>
                  <a:srgbClr val="DCDCAA"/>
                </a:solidFill>
                <a:latin typeface="Lucida Console" panose="020B0609040504020204" pitchFamily="49" charset="0"/>
              </a:rPr>
              <a:t>move</a:t>
            </a:r>
            <a:r>
              <a:rPr lang="en-US" altLang="zh-CN" sz="1600" dirty="0">
                <a:solidFill>
                  <a:srgbClr val="D4D4D4"/>
                </a:solidFill>
                <a:latin typeface="Lucida Console" panose="020B0609040504020204" pitchFamily="49" charset="0"/>
              </a:rPr>
              <a:t>(a);</a:t>
            </a:r>
          </a:p>
          <a:p>
            <a:r>
              <a:rPr lang="en-US" altLang="zh-CN" sz="1600" dirty="0">
                <a:solidFill>
                  <a:srgbClr val="6A9955"/>
                </a:solidFill>
                <a:latin typeface="Lucida Console" panose="020B0609040504020204" pitchFamily="49" charset="0"/>
              </a:rPr>
              <a:t>    // a</a:t>
            </a:r>
            <a:r>
              <a:rPr lang="zh-CN" altLang="en-US" sz="1600" dirty="0">
                <a:solidFill>
                  <a:srgbClr val="6A9955"/>
                </a:solidFill>
                <a:latin typeface="Lucida Console" panose="020B0609040504020204" pitchFamily="49" charset="0"/>
              </a:rPr>
              <a:t>的内容移动给了</a:t>
            </a:r>
            <a:r>
              <a:rPr lang="en-US" altLang="zh-CN" sz="1600" dirty="0">
                <a:solidFill>
                  <a:srgbClr val="6A9955"/>
                </a:solidFill>
                <a:latin typeface="Lucida Console" panose="020B0609040504020204" pitchFamily="49" charset="0"/>
              </a:rPr>
              <a:t>b</a:t>
            </a:r>
            <a:endParaRPr lang="en-US" altLang="zh-CN" sz="1600" dirty="0">
              <a:solidFill>
                <a:srgbClr val="D4D4D4"/>
              </a:solidFill>
              <a:latin typeface="Lucida Console" panose="020B0609040504020204" pitchFamily="49" charset="0"/>
            </a:endParaRPr>
          </a:p>
          <a:p>
            <a:r>
              <a:rPr lang="en-US" altLang="zh-CN" sz="1600" dirty="0">
                <a:solidFill>
                  <a:srgbClr val="D4D4D4"/>
                </a:solidFill>
                <a:latin typeface="Lucida Console" panose="020B0609040504020204" pitchFamily="49" charset="0"/>
              </a:rPr>
              <a:t>    </a:t>
            </a:r>
            <a:r>
              <a:rPr lang="en-US" altLang="zh-CN" sz="1600" dirty="0">
                <a:solidFill>
                  <a:srgbClr val="C586C0"/>
                </a:solidFill>
                <a:latin typeface="Lucida Console" panose="020B0609040504020204" pitchFamily="49" charset="0"/>
              </a:rPr>
              <a:t>return</a:t>
            </a:r>
            <a:r>
              <a:rPr lang="en-US" altLang="zh-CN" sz="1600" dirty="0">
                <a:solidFill>
                  <a:srgbClr val="D4D4D4"/>
                </a:solidFill>
                <a:latin typeface="Lucida Console" panose="020B0609040504020204" pitchFamily="49" charset="0"/>
              </a:rPr>
              <a:t> </a:t>
            </a:r>
            <a:r>
              <a:rPr lang="en-US" altLang="zh-CN" sz="1600" dirty="0">
                <a:solidFill>
                  <a:srgbClr val="B5CEA8"/>
                </a:solidFill>
                <a:latin typeface="Lucida Console" panose="020B0609040504020204" pitchFamily="49" charset="0"/>
              </a:rPr>
              <a:t>0</a:t>
            </a:r>
            <a:r>
              <a:rPr lang="en-US" altLang="zh-CN" sz="1600" dirty="0">
                <a:solidFill>
                  <a:srgbClr val="D4D4D4"/>
                </a:solidFill>
                <a:latin typeface="Lucida Console" panose="020B0609040504020204" pitchFamily="49" charset="0"/>
              </a:rPr>
              <a:t>;</a:t>
            </a:r>
          </a:p>
          <a:p>
            <a:r>
              <a:rPr lang="en-US" altLang="zh-CN" sz="1600" dirty="0">
                <a:solidFill>
                  <a:srgbClr val="D4D4D4"/>
                </a:solidFill>
                <a:latin typeface="Lucida Console" panose="020B0609040504020204" pitchFamily="49" charset="0"/>
              </a:rPr>
              <a:t>}</a:t>
            </a:r>
          </a:p>
        </p:txBody>
      </p:sp>
      <p:sp>
        <p:nvSpPr>
          <p:cNvPr id="39" name="矩形 38"/>
          <p:cNvSpPr/>
          <p:nvPr/>
        </p:nvSpPr>
        <p:spPr>
          <a:xfrm>
            <a:off x="2412654" y="2142403"/>
            <a:ext cx="2149823" cy="266700"/>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1" name="矩形 40"/>
          <p:cNvSpPr/>
          <p:nvPr/>
        </p:nvSpPr>
        <p:spPr>
          <a:xfrm>
            <a:off x="1603027" y="4819319"/>
            <a:ext cx="2749899" cy="266700"/>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矩形 1"/>
          <p:cNvSpPr/>
          <p:nvPr/>
        </p:nvSpPr>
        <p:spPr>
          <a:xfrm>
            <a:off x="7634140" y="1849960"/>
            <a:ext cx="1076325" cy="3520065"/>
          </a:xfrm>
          <a:prstGeom prst="rect">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矩形 23"/>
          <p:cNvSpPr/>
          <p:nvPr/>
        </p:nvSpPr>
        <p:spPr>
          <a:xfrm>
            <a:off x="10032504" y="1849958"/>
            <a:ext cx="1076325" cy="3520065"/>
          </a:xfrm>
          <a:prstGeom prst="rect">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矩形 24"/>
          <p:cNvSpPr/>
          <p:nvPr/>
        </p:nvSpPr>
        <p:spPr>
          <a:xfrm>
            <a:off x="7806483" y="1314453"/>
            <a:ext cx="731639" cy="338554"/>
          </a:xfrm>
          <a:prstGeom prst="rect">
            <a:avLst/>
          </a:prstGeom>
        </p:spPr>
        <p:txBody>
          <a:bodyPr wrap="square">
            <a:spAutoFit/>
          </a:bodyPr>
          <a:lstStyle/>
          <a:p>
            <a:r>
              <a:rPr lang="en-US" altLang="zh-CN" sz="1600" dirty="0">
                <a:latin typeface="微软雅黑" panose="020B0503020204020204" pitchFamily="34" charset="-122"/>
                <a:ea typeface="微软雅黑" panose="020B0503020204020204" pitchFamily="34" charset="-122"/>
              </a:rPr>
              <a:t>stack</a:t>
            </a:r>
          </a:p>
        </p:txBody>
      </p:sp>
      <p:sp>
        <p:nvSpPr>
          <p:cNvPr id="27" name="矩形 26"/>
          <p:cNvSpPr/>
          <p:nvPr/>
        </p:nvSpPr>
        <p:spPr>
          <a:xfrm>
            <a:off x="10204846" y="1314453"/>
            <a:ext cx="731639" cy="338554"/>
          </a:xfrm>
          <a:prstGeom prst="rect">
            <a:avLst/>
          </a:prstGeom>
        </p:spPr>
        <p:txBody>
          <a:bodyPr wrap="square">
            <a:spAutoFit/>
          </a:bodyPr>
          <a:lstStyle/>
          <a:p>
            <a:r>
              <a:rPr lang="en-US" altLang="zh-CN" sz="1600" dirty="0">
                <a:latin typeface="微软雅黑" panose="020B0503020204020204" pitchFamily="34" charset="-122"/>
                <a:ea typeface="微软雅黑" panose="020B0503020204020204" pitchFamily="34" charset="-122"/>
              </a:rPr>
              <a:t>heap</a:t>
            </a:r>
          </a:p>
        </p:txBody>
      </p:sp>
      <p:sp>
        <p:nvSpPr>
          <p:cNvPr id="5" name="矩形 4"/>
          <p:cNvSpPr/>
          <p:nvPr/>
        </p:nvSpPr>
        <p:spPr>
          <a:xfrm>
            <a:off x="10032504" y="2895602"/>
            <a:ext cx="1076325" cy="925295"/>
          </a:xfrm>
          <a:prstGeom prst="rect">
            <a:avLst/>
          </a:prstGeom>
          <a:solidFill>
            <a:schemeClr val="accent1">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rPr>
              <a:t>This is a long name</a:t>
            </a:r>
            <a:endParaRPr lang="zh-CN" altLang="en-US" dirty="0">
              <a:solidFill>
                <a:schemeClr val="tx1"/>
              </a:solidFill>
            </a:endParaRPr>
          </a:p>
        </p:txBody>
      </p:sp>
      <p:sp>
        <p:nvSpPr>
          <p:cNvPr id="28" name="矩形 27"/>
          <p:cNvSpPr/>
          <p:nvPr/>
        </p:nvSpPr>
        <p:spPr>
          <a:xfrm>
            <a:off x="7634139" y="2780038"/>
            <a:ext cx="1076325" cy="258439"/>
          </a:xfrm>
          <a:prstGeom prst="rect">
            <a:avLst/>
          </a:prstGeom>
          <a:solidFill>
            <a:schemeClr val="accent6">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rPr>
              <a:t>start</a:t>
            </a:r>
            <a:endParaRPr lang="zh-CN" altLang="en-US" dirty="0">
              <a:solidFill>
                <a:schemeClr val="tx1"/>
              </a:solidFill>
            </a:endParaRPr>
          </a:p>
        </p:txBody>
      </p:sp>
      <p:sp>
        <p:nvSpPr>
          <p:cNvPr id="29" name="矩形 28"/>
          <p:cNvSpPr/>
          <p:nvPr/>
        </p:nvSpPr>
        <p:spPr>
          <a:xfrm>
            <a:off x="7634139" y="3038477"/>
            <a:ext cx="1076325" cy="258439"/>
          </a:xfrm>
          <a:prstGeom prst="rect">
            <a:avLst/>
          </a:prstGeom>
          <a:solidFill>
            <a:schemeClr val="accent6">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rPr>
              <a:t>end</a:t>
            </a:r>
            <a:endParaRPr lang="zh-CN" altLang="en-US" dirty="0">
              <a:solidFill>
                <a:schemeClr val="tx1"/>
              </a:solidFill>
            </a:endParaRPr>
          </a:p>
        </p:txBody>
      </p:sp>
      <p:sp>
        <p:nvSpPr>
          <p:cNvPr id="8" name="左大括号 7"/>
          <p:cNvSpPr/>
          <p:nvPr/>
        </p:nvSpPr>
        <p:spPr>
          <a:xfrm>
            <a:off x="7429501" y="2778269"/>
            <a:ext cx="204636" cy="529811"/>
          </a:xfrm>
          <a:prstGeom prst="leftBrac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35" name="矩形 34"/>
          <p:cNvSpPr/>
          <p:nvPr/>
        </p:nvSpPr>
        <p:spPr>
          <a:xfrm>
            <a:off x="6318231" y="2884587"/>
            <a:ext cx="1075315" cy="307777"/>
          </a:xfrm>
          <a:prstGeom prst="rect">
            <a:avLst/>
          </a:prstGeom>
        </p:spPr>
        <p:txBody>
          <a:bodyPr wrap="square">
            <a:spAutoFit/>
          </a:bodyPr>
          <a:lstStyle/>
          <a:p>
            <a:r>
              <a:rPr lang="zh-CN" altLang="en-US" sz="1400" dirty="0">
                <a:latin typeface="微软雅黑" panose="020B0503020204020204" pitchFamily="34" charset="-122"/>
                <a:ea typeface="微软雅黑" panose="020B0503020204020204" pitchFamily="34" charset="-122"/>
              </a:rPr>
              <a:t>临时</a:t>
            </a:r>
            <a:r>
              <a:rPr lang="en-US" altLang="zh-CN" sz="1400" dirty="0">
                <a:latin typeface="微软雅黑" panose="020B0503020204020204" pitchFamily="34" charset="-122"/>
                <a:ea typeface="微软雅黑" panose="020B0503020204020204" pitchFamily="34" charset="-122"/>
              </a:rPr>
              <a:t>string</a:t>
            </a:r>
          </a:p>
        </p:txBody>
      </p:sp>
      <p:cxnSp>
        <p:nvCxnSpPr>
          <p:cNvPr id="10" name="直接箭头连接符 9"/>
          <p:cNvCxnSpPr>
            <a:stCxn id="28" idx="3"/>
          </p:cNvCxnSpPr>
          <p:nvPr/>
        </p:nvCxnSpPr>
        <p:spPr>
          <a:xfrm>
            <a:off x="8710465" y="2909257"/>
            <a:ext cx="1322041" cy="0"/>
          </a:xfrm>
          <a:prstGeom prst="straightConnector1">
            <a:avLst/>
          </a:prstGeom>
          <a:ln w="28575">
            <a:solidFill>
              <a:schemeClr val="accent5">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40" name="直接箭头连接符 39"/>
          <p:cNvCxnSpPr/>
          <p:nvPr/>
        </p:nvCxnSpPr>
        <p:spPr>
          <a:xfrm>
            <a:off x="8710465" y="3206021"/>
            <a:ext cx="1322041" cy="614875"/>
          </a:xfrm>
          <a:prstGeom prst="straightConnector1">
            <a:avLst/>
          </a:prstGeom>
          <a:ln w="28575">
            <a:solidFill>
              <a:schemeClr val="accent5">
                <a:lumMod val="7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43" name="矩形 42"/>
          <p:cNvSpPr/>
          <p:nvPr/>
        </p:nvSpPr>
        <p:spPr>
          <a:xfrm>
            <a:off x="7627680" y="4219375"/>
            <a:ext cx="1076325" cy="258439"/>
          </a:xfrm>
          <a:prstGeom prst="rect">
            <a:avLst/>
          </a:prstGeom>
          <a:solidFill>
            <a:schemeClr val="accent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rPr>
              <a:t>start</a:t>
            </a:r>
            <a:endParaRPr lang="zh-CN" altLang="en-US" dirty="0">
              <a:solidFill>
                <a:schemeClr val="tx1"/>
              </a:solidFill>
            </a:endParaRPr>
          </a:p>
        </p:txBody>
      </p:sp>
      <p:sp>
        <p:nvSpPr>
          <p:cNvPr id="46" name="矩形 45"/>
          <p:cNvSpPr/>
          <p:nvPr/>
        </p:nvSpPr>
        <p:spPr>
          <a:xfrm>
            <a:off x="7627680" y="4477814"/>
            <a:ext cx="1076325" cy="258439"/>
          </a:xfrm>
          <a:prstGeom prst="rect">
            <a:avLst/>
          </a:prstGeom>
          <a:solidFill>
            <a:schemeClr val="accent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rPr>
              <a:t>end</a:t>
            </a:r>
            <a:endParaRPr lang="zh-CN" altLang="en-US" dirty="0">
              <a:solidFill>
                <a:schemeClr val="tx1"/>
              </a:solidFill>
            </a:endParaRPr>
          </a:p>
        </p:txBody>
      </p:sp>
      <p:sp>
        <p:nvSpPr>
          <p:cNvPr id="48" name="左大括号 47"/>
          <p:cNvSpPr/>
          <p:nvPr/>
        </p:nvSpPr>
        <p:spPr>
          <a:xfrm>
            <a:off x="7432567" y="4217605"/>
            <a:ext cx="204636" cy="529811"/>
          </a:xfrm>
          <a:prstGeom prst="leftBrac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49" name="矩形 48"/>
          <p:cNvSpPr/>
          <p:nvPr/>
        </p:nvSpPr>
        <p:spPr>
          <a:xfrm>
            <a:off x="7092913" y="4323925"/>
            <a:ext cx="303700" cy="307777"/>
          </a:xfrm>
          <a:prstGeom prst="rect">
            <a:avLst/>
          </a:prstGeom>
        </p:spPr>
        <p:txBody>
          <a:bodyPr wrap="square">
            <a:spAutoFit/>
          </a:bodyPr>
          <a:lstStyle/>
          <a:p>
            <a:r>
              <a:rPr lang="en-US" altLang="zh-CN" sz="1400" dirty="0">
                <a:latin typeface="微软雅黑" panose="020B0503020204020204" pitchFamily="34" charset="-122"/>
                <a:ea typeface="微软雅黑" panose="020B0503020204020204" pitchFamily="34" charset="-122"/>
              </a:rPr>
              <a:t>a</a:t>
            </a:r>
          </a:p>
        </p:txBody>
      </p:sp>
      <p:cxnSp>
        <p:nvCxnSpPr>
          <p:cNvPr id="50" name="直接箭头连接符 49"/>
          <p:cNvCxnSpPr/>
          <p:nvPr/>
        </p:nvCxnSpPr>
        <p:spPr>
          <a:xfrm flipV="1">
            <a:off x="8704004" y="3813463"/>
            <a:ext cx="1322040" cy="782631"/>
          </a:xfrm>
          <a:prstGeom prst="straightConnector1">
            <a:avLst/>
          </a:prstGeom>
          <a:ln w="28575">
            <a:solidFill>
              <a:schemeClr val="accent5">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51" name="直接箭头连接符 50"/>
          <p:cNvCxnSpPr/>
          <p:nvPr/>
        </p:nvCxnSpPr>
        <p:spPr>
          <a:xfrm flipV="1">
            <a:off x="8704005" y="2895600"/>
            <a:ext cx="1322041" cy="1452995"/>
          </a:xfrm>
          <a:prstGeom prst="straightConnector1">
            <a:avLst/>
          </a:prstGeom>
          <a:ln w="28575">
            <a:solidFill>
              <a:schemeClr val="accent5">
                <a:lumMod val="7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52" name="矩形 51"/>
          <p:cNvSpPr/>
          <p:nvPr/>
        </p:nvSpPr>
        <p:spPr>
          <a:xfrm>
            <a:off x="7627675" y="2780038"/>
            <a:ext cx="1076325" cy="258439"/>
          </a:xfrm>
          <a:prstGeom prst="rect">
            <a:avLst/>
          </a:prstGeom>
          <a:solidFill>
            <a:schemeClr val="accent6">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rPr>
              <a:t>start(null)</a:t>
            </a:r>
            <a:endParaRPr lang="zh-CN" altLang="en-US" dirty="0">
              <a:solidFill>
                <a:schemeClr val="tx1"/>
              </a:solidFill>
            </a:endParaRPr>
          </a:p>
        </p:txBody>
      </p:sp>
      <p:sp>
        <p:nvSpPr>
          <p:cNvPr id="53" name="矩形 52"/>
          <p:cNvSpPr/>
          <p:nvPr/>
        </p:nvSpPr>
        <p:spPr>
          <a:xfrm>
            <a:off x="7627675" y="3038477"/>
            <a:ext cx="1076325" cy="258439"/>
          </a:xfrm>
          <a:prstGeom prst="rect">
            <a:avLst/>
          </a:prstGeom>
          <a:solidFill>
            <a:schemeClr val="accent6">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rPr>
              <a:t>end(null)</a:t>
            </a:r>
            <a:endParaRPr lang="zh-CN" altLang="en-US" dirty="0">
              <a:solidFill>
                <a:schemeClr val="tx1"/>
              </a:solidFill>
            </a:endParaRPr>
          </a:p>
        </p:txBody>
      </p:sp>
      <p:grpSp>
        <p:nvGrpSpPr>
          <p:cNvPr id="26" name="组合 25"/>
          <p:cNvGrpSpPr/>
          <p:nvPr/>
        </p:nvGrpSpPr>
        <p:grpSpPr>
          <a:xfrm>
            <a:off x="429014" y="234192"/>
            <a:ext cx="6915125" cy="505969"/>
            <a:chOff x="321760" y="175643"/>
            <a:chExt cx="5186344" cy="379477"/>
          </a:xfrm>
        </p:grpSpPr>
        <p:sp>
          <p:nvSpPr>
            <p:cNvPr id="30" name="Title 1">
              <a:extLst>
                <a:ext uri="{FF2B5EF4-FFF2-40B4-BE49-F238E27FC236}">
                  <a16:creationId xmlns:a16="http://schemas.microsoft.com/office/drawing/2014/main" id="{6892040A-94F3-474F-8198-4204E9168CEC}"/>
                </a:ext>
              </a:extLst>
            </p:cNvPr>
            <p:cNvSpPr txBox="1">
              <a:spLocks/>
            </p:cNvSpPr>
            <p:nvPr/>
          </p:nvSpPr>
          <p:spPr>
            <a:xfrm>
              <a:off x="611560" y="175643"/>
              <a:ext cx="4896544" cy="379477"/>
            </a:xfrm>
            <a:prstGeom prst="rect">
              <a:avLst/>
            </a:prstGeom>
          </p:spPr>
          <p:txBody>
            <a:bodyPr lIns="0" rIns="0"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itchFamily="2" charset="0"/>
                  <a:cs typeface="Open Sans Light" panose="020B0306030504020204" pitchFamily="34" charset="0"/>
                </a:defRPr>
              </a:lvl1pPr>
            </a:lstStyle>
            <a:p>
              <a:pPr algn="l"/>
              <a:r>
                <a:rPr lang="zh-CN" altLang="en-US" sz="2400" dirty="0">
                  <a:solidFill>
                    <a:schemeClr val="tx1">
                      <a:lumMod val="65000"/>
                      <a:lumOff val="35000"/>
                    </a:schemeClr>
                  </a:solidFill>
                  <a:latin typeface="+mn-lt"/>
                  <a:ea typeface="+mn-ea"/>
                  <a:cs typeface="+mn-ea"/>
                  <a:sym typeface="+mn-lt"/>
                </a:rPr>
                <a:t>移动操作</a:t>
              </a:r>
            </a:p>
          </p:txBody>
        </p:sp>
        <p:sp>
          <p:nvSpPr>
            <p:cNvPr id="31" name="Diamond 33">
              <a:extLst>
                <a:ext uri="{FF2B5EF4-FFF2-40B4-BE49-F238E27FC236}">
                  <a16:creationId xmlns:a16="http://schemas.microsoft.com/office/drawing/2014/main" id="{88651C82-D860-43A5-951F-058DAA88FBBC}"/>
                </a:ext>
              </a:extLst>
            </p:cNvPr>
            <p:cNvSpPr/>
            <p:nvPr/>
          </p:nvSpPr>
          <p:spPr>
            <a:xfrm>
              <a:off x="321760" y="254774"/>
              <a:ext cx="250083" cy="250083"/>
            </a:xfrm>
            <a:prstGeom prst="diamond">
              <a:avLst/>
            </a:prstGeom>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anchor="ctr">
              <a:normAutofit fontScale="55000" lnSpcReduction="20000"/>
            </a:bodyPr>
            <a:lstStyle/>
            <a:p>
              <a:pPr algn="ctr"/>
              <a:endParaRPr lang="en-US" altLang="zh-CN" sz="2400" dirty="0">
                <a:solidFill>
                  <a:schemeClr val="bg1"/>
                </a:solidFill>
                <a:cs typeface="+mn-ea"/>
                <a:sym typeface="+mn-lt"/>
              </a:endParaRPr>
            </a:p>
          </p:txBody>
        </p:sp>
      </p:grpSp>
    </p:spTree>
    <p:extLst>
      <p:ext uri="{BB962C8B-B14F-4D97-AF65-F5344CB8AC3E}">
        <p14:creationId xmlns:p14="http://schemas.microsoft.com/office/powerpoint/2010/main" val="2242598413"/>
      </p:ext>
    </p:extLst>
  </p:cSld>
  <p:clrMapOvr>
    <a:masterClrMapping/>
  </p:clrMapOvr>
  <p:transition advClick="0" advTm="8000"/>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1"/>
                                        </p:tgtEl>
                                        <p:attrNameLst>
                                          <p:attrName>style.visibility</p:attrName>
                                        </p:attrNameLst>
                                      </p:cBhvr>
                                      <p:to>
                                        <p:strVal val="visible"/>
                                      </p:to>
                                    </p:set>
                                    <p:animEffect transition="in" filter="fade">
                                      <p:cBhvr>
                                        <p:cTn id="7" dur="500"/>
                                        <p:tgtEl>
                                          <p:spTgt spid="41"/>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500"/>
                                        <p:tgtEl>
                                          <p:spTgt spid="5"/>
                                        </p:tgtEl>
                                      </p:cBhvr>
                                    </p:animEffect>
                                  </p:childTnLst>
                                </p:cTn>
                              </p:par>
                              <p:par>
                                <p:cTn id="11" presetID="10" presetClass="entr" presetSubtype="0" fill="hold" grpId="1" nodeType="withEffect">
                                  <p:stCondLst>
                                    <p:cond delay="0"/>
                                  </p:stCondLst>
                                  <p:childTnLst>
                                    <p:set>
                                      <p:cBhvr>
                                        <p:cTn id="12" dur="1" fill="hold">
                                          <p:stCondLst>
                                            <p:cond delay="0"/>
                                          </p:stCondLst>
                                        </p:cTn>
                                        <p:tgtEl>
                                          <p:spTgt spid="28"/>
                                        </p:tgtEl>
                                        <p:attrNameLst>
                                          <p:attrName>style.visibility</p:attrName>
                                        </p:attrNameLst>
                                      </p:cBhvr>
                                      <p:to>
                                        <p:strVal val="visible"/>
                                      </p:to>
                                    </p:set>
                                    <p:animEffect transition="in" filter="fade">
                                      <p:cBhvr>
                                        <p:cTn id="13" dur="500"/>
                                        <p:tgtEl>
                                          <p:spTgt spid="28"/>
                                        </p:tgtEl>
                                      </p:cBhvr>
                                    </p:animEffect>
                                  </p:childTnLst>
                                </p:cTn>
                              </p:par>
                              <p:par>
                                <p:cTn id="14" presetID="10" presetClass="entr" presetSubtype="0" fill="hold" grpId="1" nodeType="withEffect">
                                  <p:stCondLst>
                                    <p:cond delay="0"/>
                                  </p:stCondLst>
                                  <p:childTnLst>
                                    <p:set>
                                      <p:cBhvr>
                                        <p:cTn id="15" dur="1" fill="hold">
                                          <p:stCondLst>
                                            <p:cond delay="0"/>
                                          </p:stCondLst>
                                        </p:cTn>
                                        <p:tgtEl>
                                          <p:spTgt spid="29"/>
                                        </p:tgtEl>
                                        <p:attrNameLst>
                                          <p:attrName>style.visibility</p:attrName>
                                        </p:attrNameLst>
                                      </p:cBhvr>
                                      <p:to>
                                        <p:strVal val="visible"/>
                                      </p:to>
                                    </p:set>
                                    <p:animEffect transition="in" filter="fade">
                                      <p:cBhvr>
                                        <p:cTn id="16" dur="500"/>
                                        <p:tgtEl>
                                          <p:spTgt spid="29"/>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8"/>
                                        </p:tgtEl>
                                        <p:attrNameLst>
                                          <p:attrName>style.visibility</p:attrName>
                                        </p:attrNameLst>
                                      </p:cBhvr>
                                      <p:to>
                                        <p:strVal val="visible"/>
                                      </p:to>
                                    </p:set>
                                    <p:animEffect transition="in" filter="fade">
                                      <p:cBhvr>
                                        <p:cTn id="19" dur="500"/>
                                        <p:tgtEl>
                                          <p:spTgt spid="8"/>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35"/>
                                        </p:tgtEl>
                                        <p:attrNameLst>
                                          <p:attrName>style.visibility</p:attrName>
                                        </p:attrNameLst>
                                      </p:cBhvr>
                                      <p:to>
                                        <p:strVal val="visible"/>
                                      </p:to>
                                    </p:set>
                                    <p:animEffect transition="in" filter="fade">
                                      <p:cBhvr>
                                        <p:cTn id="22" dur="500"/>
                                        <p:tgtEl>
                                          <p:spTgt spid="35"/>
                                        </p:tgtEl>
                                      </p:cBhvr>
                                    </p:animEffect>
                                  </p:childTnLst>
                                </p:cTn>
                              </p:par>
                              <p:par>
                                <p:cTn id="23" presetID="10" presetClass="entr" presetSubtype="0" fill="hold" nodeType="withEffect">
                                  <p:stCondLst>
                                    <p:cond delay="0"/>
                                  </p:stCondLst>
                                  <p:childTnLst>
                                    <p:set>
                                      <p:cBhvr>
                                        <p:cTn id="24" dur="1" fill="hold">
                                          <p:stCondLst>
                                            <p:cond delay="0"/>
                                          </p:stCondLst>
                                        </p:cTn>
                                        <p:tgtEl>
                                          <p:spTgt spid="10"/>
                                        </p:tgtEl>
                                        <p:attrNameLst>
                                          <p:attrName>style.visibility</p:attrName>
                                        </p:attrNameLst>
                                      </p:cBhvr>
                                      <p:to>
                                        <p:strVal val="visible"/>
                                      </p:to>
                                    </p:set>
                                    <p:animEffect transition="in" filter="fade">
                                      <p:cBhvr>
                                        <p:cTn id="25" dur="500"/>
                                        <p:tgtEl>
                                          <p:spTgt spid="10"/>
                                        </p:tgtEl>
                                      </p:cBhvr>
                                    </p:animEffect>
                                  </p:childTnLst>
                                </p:cTn>
                              </p:par>
                              <p:par>
                                <p:cTn id="26" presetID="10" presetClass="entr" presetSubtype="0" fill="hold" nodeType="withEffect">
                                  <p:stCondLst>
                                    <p:cond delay="0"/>
                                  </p:stCondLst>
                                  <p:childTnLst>
                                    <p:set>
                                      <p:cBhvr>
                                        <p:cTn id="27" dur="1" fill="hold">
                                          <p:stCondLst>
                                            <p:cond delay="0"/>
                                          </p:stCondLst>
                                        </p:cTn>
                                        <p:tgtEl>
                                          <p:spTgt spid="40"/>
                                        </p:tgtEl>
                                        <p:attrNameLst>
                                          <p:attrName>style.visibility</p:attrName>
                                        </p:attrNameLst>
                                      </p:cBhvr>
                                      <p:to>
                                        <p:strVal val="visible"/>
                                      </p:to>
                                    </p:set>
                                    <p:animEffect transition="in" filter="fade">
                                      <p:cBhvr>
                                        <p:cTn id="28" dur="500"/>
                                        <p:tgtEl>
                                          <p:spTgt spid="40"/>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39"/>
                                        </p:tgtEl>
                                        <p:attrNameLst>
                                          <p:attrName>style.visibility</p:attrName>
                                        </p:attrNameLst>
                                      </p:cBhvr>
                                      <p:to>
                                        <p:strVal val="visible"/>
                                      </p:to>
                                    </p:set>
                                    <p:animEffect transition="in" filter="fade">
                                      <p:cBhvr>
                                        <p:cTn id="33" dur="500"/>
                                        <p:tgtEl>
                                          <p:spTgt spid="39"/>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43"/>
                                        </p:tgtEl>
                                        <p:attrNameLst>
                                          <p:attrName>style.visibility</p:attrName>
                                        </p:attrNameLst>
                                      </p:cBhvr>
                                      <p:to>
                                        <p:strVal val="visible"/>
                                      </p:to>
                                    </p:set>
                                    <p:animEffect transition="in" filter="fade">
                                      <p:cBhvr>
                                        <p:cTn id="36" dur="500"/>
                                        <p:tgtEl>
                                          <p:spTgt spid="43"/>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46"/>
                                        </p:tgtEl>
                                        <p:attrNameLst>
                                          <p:attrName>style.visibility</p:attrName>
                                        </p:attrNameLst>
                                      </p:cBhvr>
                                      <p:to>
                                        <p:strVal val="visible"/>
                                      </p:to>
                                    </p:set>
                                    <p:animEffect transition="in" filter="fade">
                                      <p:cBhvr>
                                        <p:cTn id="39" dur="500"/>
                                        <p:tgtEl>
                                          <p:spTgt spid="46"/>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48"/>
                                        </p:tgtEl>
                                        <p:attrNameLst>
                                          <p:attrName>style.visibility</p:attrName>
                                        </p:attrNameLst>
                                      </p:cBhvr>
                                      <p:to>
                                        <p:strVal val="visible"/>
                                      </p:to>
                                    </p:set>
                                    <p:animEffect transition="in" filter="fade">
                                      <p:cBhvr>
                                        <p:cTn id="42" dur="500"/>
                                        <p:tgtEl>
                                          <p:spTgt spid="48"/>
                                        </p:tgtEl>
                                      </p:cBhvr>
                                    </p:animEffect>
                                  </p:childTnLst>
                                </p:cTn>
                              </p:par>
                              <p:par>
                                <p:cTn id="43" presetID="10" presetClass="entr" presetSubtype="0" fill="hold" grpId="0" nodeType="withEffect">
                                  <p:stCondLst>
                                    <p:cond delay="0"/>
                                  </p:stCondLst>
                                  <p:childTnLst>
                                    <p:set>
                                      <p:cBhvr>
                                        <p:cTn id="44" dur="1" fill="hold">
                                          <p:stCondLst>
                                            <p:cond delay="0"/>
                                          </p:stCondLst>
                                        </p:cTn>
                                        <p:tgtEl>
                                          <p:spTgt spid="49"/>
                                        </p:tgtEl>
                                        <p:attrNameLst>
                                          <p:attrName>style.visibility</p:attrName>
                                        </p:attrNameLst>
                                      </p:cBhvr>
                                      <p:to>
                                        <p:strVal val="visible"/>
                                      </p:to>
                                    </p:set>
                                    <p:animEffect transition="in" filter="fade">
                                      <p:cBhvr>
                                        <p:cTn id="45" dur="500"/>
                                        <p:tgtEl>
                                          <p:spTgt spid="49"/>
                                        </p:tgtEl>
                                      </p:cBhvr>
                                    </p:animEffect>
                                  </p:childTnLst>
                                </p:cTn>
                              </p:par>
                              <p:par>
                                <p:cTn id="46" presetID="10" presetClass="entr" presetSubtype="0" fill="hold" nodeType="withEffect">
                                  <p:stCondLst>
                                    <p:cond delay="0"/>
                                  </p:stCondLst>
                                  <p:childTnLst>
                                    <p:set>
                                      <p:cBhvr>
                                        <p:cTn id="47" dur="1" fill="hold">
                                          <p:stCondLst>
                                            <p:cond delay="0"/>
                                          </p:stCondLst>
                                        </p:cTn>
                                        <p:tgtEl>
                                          <p:spTgt spid="50"/>
                                        </p:tgtEl>
                                        <p:attrNameLst>
                                          <p:attrName>style.visibility</p:attrName>
                                        </p:attrNameLst>
                                      </p:cBhvr>
                                      <p:to>
                                        <p:strVal val="visible"/>
                                      </p:to>
                                    </p:set>
                                    <p:animEffect transition="in" filter="fade">
                                      <p:cBhvr>
                                        <p:cTn id="48" dur="500"/>
                                        <p:tgtEl>
                                          <p:spTgt spid="50"/>
                                        </p:tgtEl>
                                      </p:cBhvr>
                                    </p:animEffect>
                                  </p:childTnLst>
                                </p:cTn>
                              </p:par>
                              <p:par>
                                <p:cTn id="49" presetID="10" presetClass="entr" presetSubtype="0" fill="hold" nodeType="withEffect">
                                  <p:stCondLst>
                                    <p:cond delay="0"/>
                                  </p:stCondLst>
                                  <p:childTnLst>
                                    <p:set>
                                      <p:cBhvr>
                                        <p:cTn id="50" dur="1" fill="hold">
                                          <p:stCondLst>
                                            <p:cond delay="0"/>
                                          </p:stCondLst>
                                        </p:cTn>
                                        <p:tgtEl>
                                          <p:spTgt spid="51"/>
                                        </p:tgtEl>
                                        <p:attrNameLst>
                                          <p:attrName>style.visibility</p:attrName>
                                        </p:attrNameLst>
                                      </p:cBhvr>
                                      <p:to>
                                        <p:strVal val="visible"/>
                                      </p:to>
                                    </p:set>
                                    <p:animEffect transition="in" filter="fade">
                                      <p:cBhvr>
                                        <p:cTn id="51" dur="500"/>
                                        <p:tgtEl>
                                          <p:spTgt spid="51"/>
                                        </p:tgtEl>
                                      </p:cBhvr>
                                    </p:animEffect>
                                  </p:childTnLst>
                                </p:cTn>
                              </p:par>
                              <p:par>
                                <p:cTn id="52" presetID="10" presetClass="exit" presetSubtype="0" fill="hold" nodeType="withEffect">
                                  <p:stCondLst>
                                    <p:cond delay="0"/>
                                  </p:stCondLst>
                                  <p:childTnLst>
                                    <p:animEffect transition="out" filter="fade">
                                      <p:cBhvr>
                                        <p:cTn id="53" dur="500"/>
                                        <p:tgtEl>
                                          <p:spTgt spid="10"/>
                                        </p:tgtEl>
                                      </p:cBhvr>
                                    </p:animEffect>
                                    <p:set>
                                      <p:cBhvr>
                                        <p:cTn id="54" dur="1" fill="hold">
                                          <p:stCondLst>
                                            <p:cond delay="499"/>
                                          </p:stCondLst>
                                        </p:cTn>
                                        <p:tgtEl>
                                          <p:spTgt spid="10"/>
                                        </p:tgtEl>
                                        <p:attrNameLst>
                                          <p:attrName>style.visibility</p:attrName>
                                        </p:attrNameLst>
                                      </p:cBhvr>
                                      <p:to>
                                        <p:strVal val="hidden"/>
                                      </p:to>
                                    </p:set>
                                  </p:childTnLst>
                                </p:cTn>
                              </p:par>
                              <p:par>
                                <p:cTn id="55" presetID="10" presetClass="exit" presetSubtype="0" fill="hold" nodeType="withEffect">
                                  <p:stCondLst>
                                    <p:cond delay="0"/>
                                  </p:stCondLst>
                                  <p:childTnLst>
                                    <p:animEffect transition="out" filter="fade">
                                      <p:cBhvr>
                                        <p:cTn id="56" dur="500"/>
                                        <p:tgtEl>
                                          <p:spTgt spid="40"/>
                                        </p:tgtEl>
                                      </p:cBhvr>
                                    </p:animEffect>
                                    <p:set>
                                      <p:cBhvr>
                                        <p:cTn id="57" dur="1" fill="hold">
                                          <p:stCondLst>
                                            <p:cond delay="499"/>
                                          </p:stCondLst>
                                        </p:cTn>
                                        <p:tgtEl>
                                          <p:spTgt spid="40"/>
                                        </p:tgtEl>
                                        <p:attrNameLst>
                                          <p:attrName>style.visibility</p:attrName>
                                        </p:attrNameLst>
                                      </p:cBhvr>
                                      <p:to>
                                        <p:strVal val="hidden"/>
                                      </p:to>
                                    </p:set>
                                  </p:childTnLst>
                                </p:cTn>
                              </p:par>
                              <p:par>
                                <p:cTn id="58" presetID="10" presetClass="exit" presetSubtype="0" fill="hold" grpId="0" nodeType="withEffect">
                                  <p:stCondLst>
                                    <p:cond delay="0"/>
                                  </p:stCondLst>
                                  <p:childTnLst>
                                    <p:animEffect transition="out" filter="fade">
                                      <p:cBhvr>
                                        <p:cTn id="59" dur="500"/>
                                        <p:tgtEl>
                                          <p:spTgt spid="28"/>
                                        </p:tgtEl>
                                      </p:cBhvr>
                                    </p:animEffect>
                                    <p:set>
                                      <p:cBhvr>
                                        <p:cTn id="60" dur="1" fill="hold">
                                          <p:stCondLst>
                                            <p:cond delay="499"/>
                                          </p:stCondLst>
                                        </p:cTn>
                                        <p:tgtEl>
                                          <p:spTgt spid="28"/>
                                        </p:tgtEl>
                                        <p:attrNameLst>
                                          <p:attrName>style.visibility</p:attrName>
                                        </p:attrNameLst>
                                      </p:cBhvr>
                                      <p:to>
                                        <p:strVal val="hidden"/>
                                      </p:to>
                                    </p:set>
                                  </p:childTnLst>
                                </p:cTn>
                              </p:par>
                              <p:par>
                                <p:cTn id="61" presetID="10" presetClass="exit" presetSubtype="0" fill="hold" grpId="0" nodeType="withEffect">
                                  <p:stCondLst>
                                    <p:cond delay="0"/>
                                  </p:stCondLst>
                                  <p:childTnLst>
                                    <p:animEffect transition="out" filter="fade">
                                      <p:cBhvr>
                                        <p:cTn id="62" dur="500"/>
                                        <p:tgtEl>
                                          <p:spTgt spid="29"/>
                                        </p:tgtEl>
                                      </p:cBhvr>
                                    </p:animEffect>
                                    <p:set>
                                      <p:cBhvr>
                                        <p:cTn id="63" dur="1" fill="hold">
                                          <p:stCondLst>
                                            <p:cond delay="499"/>
                                          </p:stCondLst>
                                        </p:cTn>
                                        <p:tgtEl>
                                          <p:spTgt spid="29"/>
                                        </p:tgtEl>
                                        <p:attrNameLst>
                                          <p:attrName>style.visibility</p:attrName>
                                        </p:attrNameLst>
                                      </p:cBhvr>
                                      <p:to>
                                        <p:strVal val="hidden"/>
                                      </p:to>
                                    </p:set>
                                  </p:childTnLst>
                                </p:cTn>
                              </p:par>
                              <p:par>
                                <p:cTn id="64" presetID="10" presetClass="entr" presetSubtype="0" fill="hold" grpId="0" nodeType="withEffect">
                                  <p:stCondLst>
                                    <p:cond delay="0"/>
                                  </p:stCondLst>
                                  <p:childTnLst>
                                    <p:set>
                                      <p:cBhvr>
                                        <p:cTn id="65" dur="1" fill="hold">
                                          <p:stCondLst>
                                            <p:cond delay="0"/>
                                          </p:stCondLst>
                                        </p:cTn>
                                        <p:tgtEl>
                                          <p:spTgt spid="52"/>
                                        </p:tgtEl>
                                        <p:attrNameLst>
                                          <p:attrName>style.visibility</p:attrName>
                                        </p:attrNameLst>
                                      </p:cBhvr>
                                      <p:to>
                                        <p:strVal val="visible"/>
                                      </p:to>
                                    </p:set>
                                    <p:animEffect transition="in" filter="fade">
                                      <p:cBhvr>
                                        <p:cTn id="66" dur="500"/>
                                        <p:tgtEl>
                                          <p:spTgt spid="52"/>
                                        </p:tgtEl>
                                      </p:cBhvr>
                                    </p:animEffect>
                                  </p:childTnLst>
                                </p:cTn>
                              </p:par>
                              <p:par>
                                <p:cTn id="67" presetID="10" presetClass="entr" presetSubtype="0" fill="hold" grpId="0" nodeType="withEffect">
                                  <p:stCondLst>
                                    <p:cond delay="0"/>
                                  </p:stCondLst>
                                  <p:childTnLst>
                                    <p:set>
                                      <p:cBhvr>
                                        <p:cTn id="68" dur="1" fill="hold">
                                          <p:stCondLst>
                                            <p:cond delay="0"/>
                                          </p:stCondLst>
                                        </p:cTn>
                                        <p:tgtEl>
                                          <p:spTgt spid="53"/>
                                        </p:tgtEl>
                                        <p:attrNameLst>
                                          <p:attrName>style.visibility</p:attrName>
                                        </p:attrNameLst>
                                      </p:cBhvr>
                                      <p:to>
                                        <p:strVal val="visible"/>
                                      </p:to>
                                    </p:set>
                                    <p:animEffect transition="in" filter="fade">
                                      <p:cBhvr>
                                        <p:cTn id="69" dur="500"/>
                                        <p:tgtEl>
                                          <p:spTgt spid="5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 grpId="0" animBg="1"/>
      <p:bldP spid="41" grpId="0" animBg="1"/>
      <p:bldP spid="5" grpId="0" animBg="1"/>
      <p:bldP spid="28" grpId="0" animBg="1"/>
      <p:bldP spid="28" grpId="1" animBg="1"/>
      <p:bldP spid="29" grpId="0" animBg="1"/>
      <p:bldP spid="29" grpId="1" animBg="1"/>
      <p:bldP spid="8" grpId="0" animBg="1"/>
      <p:bldP spid="35" grpId="0"/>
      <p:bldP spid="43" grpId="0" animBg="1"/>
      <p:bldP spid="46" grpId="0" animBg="1"/>
      <p:bldP spid="48" grpId="0" animBg="1"/>
      <p:bldP spid="49" grpId="0"/>
      <p:bldP spid="52" grpId="0" animBg="1"/>
      <p:bldP spid="53"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p:nvPr/>
        </p:nvSpPr>
        <p:spPr>
          <a:xfrm>
            <a:off x="6290074" y="1404076"/>
            <a:ext cx="5539977" cy="3139321"/>
          </a:xfrm>
          <a:prstGeom prst="rect">
            <a:avLst/>
          </a:prstGeom>
        </p:spPr>
        <p:txBody>
          <a:bodyPr wrap="square">
            <a:spAutoFit/>
          </a:bodyPr>
          <a:lstStyle/>
          <a:p>
            <a:r>
              <a:rPr lang="zh-CN" altLang="en-US" dirty="0">
                <a:latin typeface="微软雅黑" panose="020B0503020204020204" pitchFamily="34" charset="-122"/>
                <a:ea typeface="微软雅黑" panose="020B0503020204020204" pitchFamily="34" charset="-122"/>
              </a:rPr>
              <a:t>当传入的参数是右值时，自动匹配到</a:t>
            </a:r>
            <a:r>
              <a:rPr lang="en-US" altLang="zh-CN" dirty="0">
                <a:latin typeface="微软雅黑" panose="020B0503020204020204" pitchFamily="34" charset="-122"/>
                <a:ea typeface="微软雅黑" panose="020B0503020204020204" pitchFamily="34" charset="-122"/>
              </a:rPr>
              <a:t>T&amp;&amp;</a:t>
            </a:r>
            <a:r>
              <a:rPr lang="zh-CN" altLang="en-US" dirty="0">
                <a:latin typeface="微软雅黑" panose="020B0503020204020204" pitchFamily="34" charset="-122"/>
                <a:ea typeface="微软雅黑" panose="020B0503020204020204" pitchFamily="34" charset="-122"/>
              </a:rPr>
              <a:t>参数类型。</a:t>
            </a:r>
            <a:endParaRPr lang="en-US" altLang="zh-CN" dirty="0">
              <a:latin typeface="微软雅黑" panose="020B0503020204020204" pitchFamily="34" charset="-122"/>
              <a:ea typeface="微软雅黑" panose="020B0503020204020204" pitchFamily="34" charset="-122"/>
            </a:endParaRPr>
          </a:p>
          <a:p>
            <a:r>
              <a:rPr lang="zh-CN" altLang="en-US" dirty="0">
                <a:latin typeface="微软雅黑" panose="020B0503020204020204" pitchFamily="34" charset="-122"/>
                <a:ea typeface="微软雅黑" panose="020B0503020204020204" pitchFamily="34" charset="-122"/>
              </a:rPr>
              <a:t>当传入的参数是左值时，</a:t>
            </a:r>
            <a:r>
              <a:rPr lang="zh-CN" altLang="en-US" b="1" dirty="0">
                <a:latin typeface="微软雅黑" panose="020B0503020204020204" pitchFamily="34" charset="-122"/>
                <a:ea typeface="微软雅黑" panose="020B0503020204020204" pitchFamily="34" charset="-122"/>
              </a:rPr>
              <a:t>不</a:t>
            </a:r>
            <a:r>
              <a:rPr lang="zh-CN" altLang="en-US" dirty="0">
                <a:latin typeface="微软雅黑" panose="020B0503020204020204" pitchFamily="34" charset="-122"/>
                <a:ea typeface="微软雅黑" panose="020B0503020204020204" pitchFamily="34" charset="-122"/>
              </a:rPr>
              <a:t>能匹配到</a:t>
            </a:r>
            <a:r>
              <a:rPr lang="en-US" altLang="zh-CN" dirty="0">
                <a:latin typeface="微软雅黑" panose="020B0503020204020204" pitchFamily="34" charset="-122"/>
                <a:ea typeface="微软雅黑" panose="020B0503020204020204" pitchFamily="34" charset="-122"/>
              </a:rPr>
              <a:t>T&amp;&amp;</a:t>
            </a:r>
            <a:r>
              <a:rPr lang="zh-CN" altLang="en-US" dirty="0">
                <a:latin typeface="微软雅黑" panose="020B0503020204020204" pitchFamily="34" charset="-122"/>
                <a:ea typeface="微软雅黑" panose="020B0503020204020204" pitchFamily="34" charset="-122"/>
              </a:rPr>
              <a:t>参数类型。</a:t>
            </a:r>
            <a:endParaRPr lang="en-US" altLang="zh-CN" dirty="0">
              <a:latin typeface="微软雅黑" panose="020B0503020204020204" pitchFamily="34" charset="-122"/>
              <a:ea typeface="微软雅黑" panose="020B0503020204020204" pitchFamily="34" charset="-122"/>
            </a:endParaRPr>
          </a:p>
          <a:p>
            <a:r>
              <a:rPr lang="zh-CN" altLang="en-US" dirty="0">
                <a:latin typeface="微软雅黑" panose="020B0503020204020204" pitchFamily="34" charset="-122"/>
                <a:ea typeface="微软雅黑" panose="020B0503020204020204" pitchFamily="34" charset="-122"/>
              </a:rPr>
              <a:t>可以用</a:t>
            </a:r>
            <a:r>
              <a:rPr lang="en-US" altLang="zh-CN" dirty="0" err="1">
                <a:latin typeface="微软雅黑" panose="020B0503020204020204" pitchFamily="34" charset="-122"/>
                <a:ea typeface="微软雅黑" panose="020B0503020204020204" pitchFamily="34" charset="-122"/>
              </a:rPr>
              <a:t>std</a:t>
            </a:r>
            <a:r>
              <a:rPr lang="en-US" altLang="zh-CN" dirty="0">
                <a:latin typeface="微软雅黑" panose="020B0503020204020204" pitchFamily="34" charset="-122"/>
                <a:ea typeface="微软雅黑" panose="020B0503020204020204" pitchFamily="34" charset="-122"/>
              </a:rPr>
              <a:t>::move</a:t>
            </a:r>
            <a:r>
              <a:rPr lang="zh-CN" altLang="en-US" dirty="0">
                <a:latin typeface="微软雅黑" panose="020B0503020204020204" pitchFamily="34" charset="-122"/>
                <a:ea typeface="微软雅黑" panose="020B0503020204020204" pitchFamily="34" charset="-122"/>
              </a:rPr>
              <a:t>将左值强制转为右值。</a:t>
            </a:r>
            <a:endParaRPr lang="en-US" altLang="zh-CN" dirty="0">
              <a:latin typeface="微软雅黑" panose="020B0503020204020204" pitchFamily="34" charset="-122"/>
              <a:ea typeface="微软雅黑" panose="020B0503020204020204" pitchFamily="34" charset="-122"/>
            </a:endParaRPr>
          </a:p>
          <a:p>
            <a:endParaRPr lang="en-US" altLang="zh-CN" dirty="0">
              <a:latin typeface="微软雅黑" panose="020B0503020204020204" pitchFamily="34" charset="-122"/>
              <a:ea typeface="微软雅黑" panose="020B0503020204020204" pitchFamily="34" charset="-122"/>
            </a:endParaRPr>
          </a:p>
          <a:p>
            <a:r>
              <a:rPr lang="zh-CN" altLang="en-US" b="1" dirty="0">
                <a:latin typeface="微软雅黑" panose="020B0503020204020204" pitchFamily="34" charset="-122"/>
                <a:ea typeface="微软雅黑" panose="020B0503020204020204" pitchFamily="34" charset="-122"/>
              </a:rPr>
              <a:t>注意：</a:t>
            </a:r>
            <a:endParaRPr lang="en-US" altLang="zh-CN" b="1" dirty="0">
              <a:latin typeface="微软雅黑" panose="020B0503020204020204" pitchFamily="34" charset="-122"/>
              <a:ea typeface="微软雅黑" panose="020B0503020204020204" pitchFamily="34" charset="-122"/>
            </a:endParaRPr>
          </a:p>
          <a:p>
            <a:r>
              <a:rPr lang="zh-CN" altLang="en-US" dirty="0">
                <a:latin typeface="微软雅黑" panose="020B0503020204020204" pitchFamily="34" charset="-122"/>
                <a:ea typeface="微软雅黑" panose="020B0503020204020204" pitchFamily="34" charset="-122"/>
              </a:rPr>
              <a:t>在没有可接收</a:t>
            </a:r>
            <a:r>
              <a:rPr lang="en-US" altLang="zh-CN" dirty="0">
                <a:latin typeface="微软雅黑" panose="020B0503020204020204" pitchFamily="34" charset="-122"/>
                <a:ea typeface="微软雅黑" panose="020B0503020204020204" pitchFamily="34" charset="-122"/>
              </a:rPr>
              <a:t>T&amp;&amp;</a:t>
            </a:r>
            <a:r>
              <a:rPr lang="zh-CN" altLang="en-US" dirty="0">
                <a:latin typeface="微软雅黑" panose="020B0503020204020204" pitchFamily="34" charset="-122"/>
                <a:ea typeface="微软雅黑" panose="020B0503020204020204" pitchFamily="34" charset="-122"/>
              </a:rPr>
              <a:t>类型的函数时，左值和右值都会自动匹配到</a:t>
            </a:r>
            <a:r>
              <a:rPr lang="en-US" altLang="zh-CN" dirty="0">
                <a:latin typeface="微软雅黑" panose="020B0503020204020204" pitchFamily="34" charset="-122"/>
                <a:ea typeface="微软雅黑" panose="020B0503020204020204" pitchFamily="34" charset="-122"/>
              </a:rPr>
              <a:t>T</a:t>
            </a:r>
            <a:r>
              <a:rPr lang="zh-CN" altLang="en-US" dirty="0">
                <a:latin typeface="微软雅黑" panose="020B0503020204020204" pitchFamily="34" charset="-122"/>
                <a:ea typeface="微软雅黑" panose="020B0503020204020204" pitchFamily="34" charset="-122"/>
              </a:rPr>
              <a:t>或</a:t>
            </a:r>
            <a:r>
              <a:rPr lang="en-US" altLang="zh-CN" dirty="0">
                <a:latin typeface="微软雅黑" panose="020B0503020204020204" pitchFamily="34" charset="-122"/>
                <a:ea typeface="微软雅黑" panose="020B0503020204020204" pitchFamily="34" charset="-122"/>
              </a:rPr>
              <a:t>T&amp;</a:t>
            </a:r>
            <a:r>
              <a:rPr lang="zh-CN" altLang="en-US" dirty="0">
                <a:latin typeface="微软雅黑" panose="020B0503020204020204" pitchFamily="34" charset="-122"/>
                <a:ea typeface="微软雅黑" panose="020B0503020204020204" pitchFamily="34" charset="-122"/>
              </a:rPr>
              <a:t>类型。</a:t>
            </a:r>
            <a:endParaRPr lang="en-US" altLang="zh-CN" dirty="0">
              <a:latin typeface="微软雅黑" panose="020B0503020204020204" pitchFamily="34" charset="-122"/>
              <a:ea typeface="微软雅黑" panose="020B0503020204020204" pitchFamily="34" charset="-122"/>
            </a:endParaRPr>
          </a:p>
          <a:p>
            <a:r>
              <a:rPr lang="zh-CN" altLang="en-US" dirty="0">
                <a:latin typeface="微软雅黑" panose="020B0503020204020204" pitchFamily="34" charset="-122"/>
                <a:ea typeface="微软雅黑" panose="020B0503020204020204" pitchFamily="34" charset="-122"/>
              </a:rPr>
              <a:t>已经被移动的对象，要把无效的指针置空，防止析构时访问野指针。</a:t>
            </a:r>
            <a:endParaRPr lang="en-US" altLang="zh-CN" dirty="0">
              <a:latin typeface="微软雅黑" panose="020B0503020204020204" pitchFamily="34" charset="-122"/>
              <a:ea typeface="微软雅黑" panose="020B0503020204020204" pitchFamily="34" charset="-122"/>
            </a:endParaRPr>
          </a:p>
          <a:p>
            <a:r>
              <a:rPr lang="zh-CN" altLang="en-US" dirty="0">
                <a:latin typeface="微软雅黑" panose="020B0503020204020204" pitchFamily="34" charset="-122"/>
                <a:ea typeface="微软雅黑" panose="020B0503020204020204" pitchFamily="34" charset="-122"/>
              </a:rPr>
              <a:t>已经被移动的对象在后续代码中不得再作为右值使用。</a:t>
            </a:r>
            <a:endParaRPr lang="en-US" altLang="zh-CN" dirty="0">
              <a:latin typeface="微软雅黑" panose="020B0503020204020204" pitchFamily="34" charset="-122"/>
              <a:ea typeface="微软雅黑" panose="020B0503020204020204" pitchFamily="34" charset="-122"/>
            </a:endParaRPr>
          </a:p>
          <a:p>
            <a:r>
              <a:rPr lang="zh-CN" altLang="en-US" dirty="0">
                <a:latin typeface="微软雅黑" panose="020B0503020204020204" pitchFamily="34" charset="-122"/>
                <a:ea typeface="微软雅黑" panose="020B0503020204020204" pitchFamily="34" charset="-122"/>
              </a:rPr>
              <a:t>切勿将</a:t>
            </a:r>
            <a:r>
              <a:rPr lang="en-US" altLang="zh-CN" dirty="0">
                <a:latin typeface="微软雅黑" panose="020B0503020204020204" pitchFamily="34" charset="-122"/>
                <a:ea typeface="微软雅黑" panose="020B0503020204020204" pitchFamily="34" charset="-122"/>
              </a:rPr>
              <a:t>T&amp;&amp;</a:t>
            </a:r>
            <a:r>
              <a:rPr lang="zh-CN" altLang="en-US" dirty="0">
                <a:latin typeface="微软雅黑" panose="020B0503020204020204" pitchFamily="34" charset="-122"/>
                <a:ea typeface="微软雅黑" panose="020B0503020204020204" pitchFamily="34" charset="-122"/>
              </a:rPr>
              <a:t>误写为</a:t>
            </a:r>
            <a:r>
              <a:rPr lang="en-US" altLang="zh-CN" dirty="0" err="1">
                <a:latin typeface="微软雅黑" panose="020B0503020204020204" pitchFamily="34" charset="-122"/>
                <a:ea typeface="微软雅黑" panose="020B0503020204020204" pitchFamily="34" charset="-122"/>
              </a:rPr>
              <a:t>const</a:t>
            </a:r>
            <a:r>
              <a:rPr lang="en-US" altLang="zh-CN" dirty="0">
                <a:latin typeface="微软雅黑" panose="020B0503020204020204" pitchFamily="34" charset="-122"/>
                <a:ea typeface="微软雅黑" panose="020B0503020204020204" pitchFamily="34" charset="-122"/>
              </a:rPr>
              <a:t> T&amp;&amp;</a:t>
            </a:r>
          </a:p>
        </p:txBody>
      </p:sp>
      <p:sp>
        <p:nvSpPr>
          <p:cNvPr id="20" name="矩形 19"/>
          <p:cNvSpPr/>
          <p:nvPr/>
        </p:nvSpPr>
        <p:spPr>
          <a:xfrm>
            <a:off x="552451" y="1127849"/>
            <a:ext cx="5221488" cy="5262979"/>
          </a:xfrm>
          <a:prstGeom prst="rect">
            <a:avLst/>
          </a:prstGeom>
          <a:solidFill>
            <a:schemeClr val="tx1"/>
          </a:solidFill>
        </p:spPr>
        <p:txBody>
          <a:bodyPr wrap="square">
            <a:spAutoFit/>
          </a:bodyPr>
          <a:lstStyle/>
          <a:p>
            <a:r>
              <a:rPr lang="en-US" altLang="zh-CN" sz="1600" dirty="0">
                <a:solidFill>
                  <a:srgbClr val="569CD6"/>
                </a:solidFill>
                <a:latin typeface="Lucida Console" panose="020B0609040504020204" pitchFamily="49" charset="0"/>
              </a:rPr>
              <a:t>class</a:t>
            </a:r>
            <a:r>
              <a:rPr lang="en-US" altLang="zh-CN" sz="1600" dirty="0">
                <a:solidFill>
                  <a:srgbClr val="D4D4D4"/>
                </a:solidFill>
                <a:latin typeface="Lucida Console" panose="020B0609040504020204" pitchFamily="49" charset="0"/>
              </a:rPr>
              <a:t> </a:t>
            </a:r>
            <a:r>
              <a:rPr lang="en-US" altLang="zh-CN" sz="1600" dirty="0" err="1">
                <a:solidFill>
                  <a:srgbClr val="4EC9B0"/>
                </a:solidFill>
                <a:latin typeface="Lucida Console" panose="020B0609040504020204" pitchFamily="49" charset="0"/>
              </a:rPr>
              <a:t>MyName</a:t>
            </a:r>
            <a:r>
              <a:rPr lang="en-US" altLang="zh-CN" sz="1600" dirty="0">
                <a:solidFill>
                  <a:srgbClr val="D4D4D4"/>
                </a:solidFill>
                <a:latin typeface="Lucida Console" panose="020B0609040504020204" pitchFamily="49" charset="0"/>
              </a:rPr>
              <a:t> {</a:t>
            </a:r>
          </a:p>
          <a:p>
            <a:r>
              <a:rPr lang="en-US" altLang="zh-CN" sz="1600" dirty="0">
                <a:solidFill>
                  <a:srgbClr val="569CD6"/>
                </a:solidFill>
                <a:latin typeface="Lucida Console" panose="020B0609040504020204" pitchFamily="49" charset="0"/>
              </a:rPr>
              <a:t>public:</a:t>
            </a:r>
            <a:endParaRPr lang="en-US" altLang="zh-CN" sz="1600" dirty="0">
              <a:solidFill>
                <a:srgbClr val="D4D4D4"/>
              </a:solidFill>
              <a:latin typeface="Lucida Console" panose="020B0609040504020204" pitchFamily="49" charset="0"/>
            </a:endParaRPr>
          </a:p>
          <a:p>
            <a:r>
              <a:rPr lang="en-US" altLang="zh-CN" sz="1600" dirty="0">
                <a:solidFill>
                  <a:srgbClr val="D4D4D4"/>
                </a:solidFill>
                <a:latin typeface="Lucida Console" panose="020B0609040504020204" pitchFamily="49" charset="0"/>
              </a:rPr>
              <a:t>    </a:t>
            </a:r>
            <a:r>
              <a:rPr lang="en-US" altLang="zh-CN" sz="1600" dirty="0" err="1">
                <a:solidFill>
                  <a:srgbClr val="4EC9B0"/>
                </a:solidFill>
                <a:latin typeface="Lucida Console" panose="020B0609040504020204" pitchFamily="49" charset="0"/>
              </a:rPr>
              <a:t>MyName</a:t>
            </a:r>
            <a:r>
              <a:rPr lang="en-US" altLang="zh-CN" sz="1600" dirty="0">
                <a:solidFill>
                  <a:srgbClr val="569CD6"/>
                </a:solidFill>
                <a:latin typeface="Lucida Console" panose="020B0609040504020204" pitchFamily="49" charset="0"/>
              </a:rPr>
              <a:t>&amp;</a:t>
            </a:r>
            <a:r>
              <a:rPr lang="en-US" altLang="zh-CN" sz="1600" dirty="0">
                <a:solidFill>
                  <a:srgbClr val="D4D4D4"/>
                </a:solidFill>
                <a:latin typeface="Lucida Console" panose="020B0609040504020204" pitchFamily="49" charset="0"/>
              </a:rPr>
              <a:t> </a:t>
            </a:r>
            <a:r>
              <a:rPr lang="en-US" altLang="zh-CN" sz="1600" dirty="0">
                <a:solidFill>
                  <a:srgbClr val="C586C0"/>
                </a:solidFill>
                <a:latin typeface="Lucida Console" panose="020B0609040504020204" pitchFamily="49" charset="0"/>
              </a:rPr>
              <a:t>operator=</a:t>
            </a:r>
            <a:r>
              <a:rPr lang="en-US" altLang="zh-CN" sz="1600" dirty="0">
                <a:solidFill>
                  <a:srgbClr val="D4D4D4"/>
                </a:solidFill>
                <a:latin typeface="Lucida Console" panose="020B0609040504020204" pitchFamily="49" charset="0"/>
              </a:rPr>
              <a:t>(</a:t>
            </a:r>
            <a:r>
              <a:rPr lang="en-US" altLang="zh-CN" sz="1600" dirty="0">
                <a:solidFill>
                  <a:srgbClr val="4EC9B0"/>
                </a:solidFill>
                <a:latin typeface="Lucida Console" panose="020B0609040504020204" pitchFamily="49" charset="0"/>
              </a:rPr>
              <a:t>string</a:t>
            </a:r>
            <a:r>
              <a:rPr lang="en-US" altLang="zh-CN" sz="1600" dirty="0">
                <a:solidFill>
                  <a:srgbClr val="569CD6"/>
                </a:solidFill>
                <a:latin typeface="Lucida Console" panose="020B0609040504020204" pitchFamily="49" charset="0"/>
              </a:rPr>
              <a:t>&amp;&amp;</a:t>
            </a:r>
            <a:r>
              <a:rPr lang="en-US" altLang="zh-CN" sz="1600" dirty="0">
                <a:solidFill>
                  <a:srgbClr val="D4D4D4"/>
                </a:solidFill>
                <a:latin typeface="Lucida Console" panose="020B0609040504020204" pitchFamily="49" charset="0"/>
              </a:rPr>
              <a:t> </a:t>
            </a:r>
            <a:r>
              <a:rPr lang="en-US" altLang="zh-CN" sz="1600" dirty="0">
                <a:solidFill>
                  <a:srgbClr val="9CDCFE"/>
                </a:solidFill>
                <a:latin typeface="Lucida Console" panose="020B0609040504020204" pitchFamily="49" charset="0"/>
              </a:rPr>
              <a:t>other</a:t>
            </a:r>
            <a:r>
              <a:rPr lang="en-US" altLang="zh-CN" sz="1600" dirty="0">
                <a:solidFill>
                  <a:srgbClr val="D4D4D4"/>
                </a:solidFill>
                <a:latin typeface="Lucida Console" panose="020B0609040504020204" pitchFamily="49" charset="0"/>
              </a:rPr>
              <a:t>)</a:t>
            </a:r>
          </a:p>
          <a:p>
            <a:r>
              <a:rPr lang="en-US" altLang="zh-CN" sz="1600" dirty="0">
                <a:solidFill>
                  <a:srgbClr val="D4D4D4"/>
                </a:solidFill>
                <a:latin typeface="Lucida Console" panose="020B0609040504020204" pitchFamily="49" charset="0"/>
              </a:rPr>
              <a:t>    {</a:t>
            </a:r>
          </a:p>
          <a:p>
            <a:r>
              <a:rPr lang="en-US" altLang="zh-CN" sz="1600" dirty="0">
                <a:solidFill>
                  <a:srgbClr val="D4D4D4"/>
                </a:solidFill>
                <a:latin typeface="Lucida Console" panose="020B0609040504020204" pitchFamily="49" charset="0"/>
              </a:rPr>
              <a:t>        name = </a:t>
            </a:r>
            <a:r>
              <a:rPr lang="en-US" altLang="zh-CN" sz="1600" dirty="0" err="1">
                <a:solidFill>
                  <a:srgbClr val="4EC9B0"/>
                </a:solidFill>
                <a:latin typeface="Lucida Console" panose="020B0609040504020204" pitchFamily="49" charset="0"/>
              </a:rPr>
              <a:t>std</a:t>
            </a:r>
            <a:r>
              <a:rPr lang="en-US" altLang="zh-CN" sz="1600" dirty="0">
                <a:solidFill>
                  <a:srgbClr val="D4D4D4"/>
                </a:solidFill>
                <a:latin typeface="Lucida Console" panose="020B0609040504020204" pitchFamily="49" charset="0"/>
              </a:rPr>
              <a:t>::</a:t>
            </a:r>
            <a:r>
              <a:rPr lang="en-US" altLang="zh-CN" sz="1600" dirty="0">
                <a:solidFill>
                  <a:srgbClr val="DCDCAA"/>
                </a:solidFill>
                <a:latin typeface="Lucida Console" panose="020B0609040504020204" pitchFamily="49" charset="0"/>
              </a:rPr>
              <a:t>move</a:t>
            </a:r>
            <a:r>
              <a:rPr lang="en-US" altLang="zh-CN" sz="1600" dirty="0">
                <a:solidFill>
                  <a:srgbClr val="D4D4D4"/>
                </a:solidFill>
                <a:latin typeface="Lucida Console" panose="020B0609040504020204" pitchFamily="49" charset="0"/>
              </a:rPr>
              <a:t>(other);</a:t>
            </a:r>
          </a:p>
          <a:p>
            <a:r>
              <a:rPr lang="en-US" altLang="zh-CN" sz="1600" dirty="0">
                <a:solidFill>
                  <a:srgbClr val="D4D4D4"/>
                </a:solidFill>
                <a:latin typeface="Lucida Console" panose="020B0609040504020204" pitchFamily="49" charset="0"/>
              </a:rPr>
              <a:t>        </a:t>
            </a:r>
            <a:r>
              <a:rPr lang="en-US" altLang="zh-CN" sz="1600" dirty="0">
                <a:solidFill>
                  <a:srgbClr val="C586C0"/>
                </a:solidFill>
                <a:latin typeface="Lucida Console" panose="020B0609040504020204" pitchFamily="49" charset="0"/>
              </a:rPr>
              <a:t>return</a:t>
            </a:r>
            <a:r>
              <a:rPr lang="en-US" altLang="zh-CN" sz="1600" dirty="0">
                <a:solidFill>
                  <a:srgbClr val="D4D4D4"/>
                </a:solidFill>
                <a:latin typeface="Lucida Console" panose="020B0609040504020204" pitchFamily="49" charset="0"/>
              </a:rPr>
              <a:t> *</a:t>
            </a:r>
            <a:r>
              <a:rPr lang="en-US" altLang="zh-CN" sz="1600" dirty="0">
                <a:solidFill>
                  <a:srgbClr val="569CD6"/>
                </a:solidFill>
                <a:latin typeface="Lucida Console" panose="020B0609040504020204" pitchFamily="49" charset="0"/>
              </a:rPr>
              <a:t>this</a:t>
            </a:r>
            <a:r>
              <a:rPr lang="en-US" altLang="zh-CN" sz="1600" dirty="0">
                <a:solidFill>
                  <a:srgbClr val="D4D4D4"/>
                </a:solidFill>
                <a:latin typeface="Lucida Console" panose="020B0609040504020204" pitchFamily="49" charset="0"/>
              </a:rPr>
              <a:t>;</a:t>
            </a:r>
          </a:p>
          <a:p>
            <a:r>
              <a:rPr lang="en-US" altLang="zh-CN" sz="1600" dirty="0">
                <a:solidFill>
                  <a:srgbClr val="D4D4D4"/>
                </a:solidFill>
                <a:latin typeface="Lucida Console" panose="020B0609040504020204" pitchFamily="49" charset="0"/>
              </a:rPr>
              <a:t>    }</a:t>
            </a:r>
          </a:p>
          <a:p>
            <a:br>
              <a:rPr lang="en-US" altLang="zh-CN" sz="1600" dirty="0">
                <a:solidFill>
                  <a:srgbClr val="D4D4D4"/>
                </a:solidFill>
                <a:latin typeface="Lucida Console" panose="020B0609040504020204" pitchFamily="49" charset="0"/>
              </a:rPr>
            </a:br>
            <a:r>
              <a:rPr lang="en-US" altLang="zh-CN" sz="1600" dirty="0">
                <a:solidFill>
                  <a:srgbClr val="569CD6"/>
                </a:solidFill>
                <a:latin typeface="Lucida Console" panose="020B0609040504020204" pitchFamily="49" charset="0"/>
              </a:rPr>
              <a:t>private:</a:t>
            </a:r>
            <a:endParaRPr lang="en-US" altLang="zh-CN" sz="1600" dirty="0">
              <a:solidFill>
                <a:srgbClr val="D4D4D4"/>
              </a:solidFill>
              <a:latin typeface="Lucida Console" panose="020B0609040504020204" pitchFamily="49" charset="0"/>
            </a:endParaRPr>
          </a:p>
          <a:p>
            <a:r>
              <a:rPr lang="en-US" altLang="zh-CN" sz="1600" dirty="0">
                <a:solidFill>
                  <a:srgbClr val="D4D4D4"/>
                </a:solidFill>
                <a:latin typeface="Lucida Console" panose="020B0609040504020204" pitchFamily="49" charset="0"/>
              </a:rPr>
              <a:t>    string name;</a:t>
            </a:r>
          </a:p>
          <a:p>
            <a:r>
              <a:rPr lang="en-US" altLang="zh-CN" sz="1600" dirty="0">
                <a:solidFill>
                  <a:srgbClr val="D4D4D4"/>
                </a:solidFill>
                <a:latin typeface="Lucida Console" panose="020B0609040504020204" pitchFamily="49" charset="0"/>
              </a:rPr>
              <a:t>};</a:t>
            </a:r>
          </a:p>
          <a:p>
            <a:br>
              <a:rPr lang="en-US" altLang="zh-CN" sz="1600" dirty="0">
                <a:solidFill>
                  <a:srgbClr val="D4D4D4"/>
                </a:solidFill>
                <a:latin typeface="Lucida Console" panose="020B0609040504020204" pitchFamily="49" charset="0"/>
              </a:rPr>
            </a:br>
            <a:r>
              <a:rPr lang="en-US" altLang="zh-CN" sz="1600" dirty="0" err="1">
                <a:solidFill>
                  <a:srgbClr val="569CD6"/>
                </a:solidFill>
                <a:latin typeface="Lucida Console" panose="020B0609040504020204" pitchFamily="49" charset="0"/>
              </a:rPr>
              <a:t>int</a:t>
            </a:r>
            <a:r>
              <a:rPr lang="en-US" altLang="zh-CN" sz="1600" dirty="0">
                <a:solidFill>
                  <a:srgbClr val="D4D4D4"/>
                </a:solidFill>
                <a:latin typeface="Lucida Console" panose="020B0609040504020204" pitchFamily="49" charset="0"/>
              </a:rPr>
              <a:t> </a:t>
            </a:r>
            <a:r>
              <a:rPr lang="en-US" altLang="zh-CN" sz="1600" dirty="0">
                <a:solidFill>
                  <a:srgbClr val="DCDCAA"/>
                </a:solidFill>
                <a:latin typeface="Lucida Console" panose="020B0609040504020204" pitchFamily="49" charset="0"/>
              </a:rPr>
              <a:t>main</a:t>
            </a:r>
            <a:r>
              <a:rPr lang="en-US" altLang="zh-CN" sz="1600" dirty="0">
                <a:solidFill>
                  <a:srgbClr val="D4D4D4"/>
                </a:solidFill>
                <a:latin typeface="Lucida Console" panose="020B0609040504020204" pitchFamily="49" charset="0"/>
              </a:rPr>
              <a:t>()</a:t>
            </a:r>
          </a:p>
          <a:p>
            <a:r>
              <a:rPr lang="en-US" altLang="zh-CN" sz="1600" dirty="0">
                <a:solidFill>
                  <a:srgbClr val="D4D4D4"/>
                </a:solidFill>
                <a:latin typeface="Lucida Console" panose="020B0609040504020204" pitchFamily="49" charset="0"/>
              </a:rPr>
              <a:t>{</a:t>
            </a:r>
          </a:p>
          <a:p>
            <a:r>
              <a:rPr lang="en-US" altLang="zh-CN" sz="1600" dirty="0">
                <a:solidFill>
                  <a:srgbClr val="D4D4D4"/>
                </a:solidFill>
                <a:latin typeface="Lucida Console" panose="020B0609040504020204" pitchFamily="49" charset="0"/>
              </a:rPr>
              <a:t>    </a:t>
            </a:r>
            <a:r>
              <a:rPr lang="en-US" altLang="zh-CN" sz="1600" dirty="0" err="1">
                <a:solidFill>
                  <a:srgbClr val="D4D4D4"/>
                </a:solidFill>
                <a:latin typeface="Lucida Console" panose="020B0609040504020204" pitchFamily="49" charset="0"/>
              </a:rPr>
              <a:t>MyName</a:t>
            </a:r>
            <a:r>
              <a:rPr lang="en-US" altLang="zh-CN" sz="1600" dirty="0">
                <a:solidFill>
                  <a:srgbClr val="D4D4D4"/>
                </a:solidFill>
                <a:latin typeface="Lucida Console" panose="020B0609040504020204" pitchFamily="49" charset="0"/>
              </a:rPr>
              <a:t> a;</a:t>
            </a:r>
          </a:p>
          <a:p>
            <a:r>
              <a:rPr lang="en-US" altLang="zh-CN" sz="1600" dirty="0">
                <a:solidFill>
                  <a:srgbClr val="D4D4D4"/>
                </a:solidFill>
                <a:latin typeface="Lucida Console" panose="020B0609040504020204" pitchFamily="49" charset="0"/>
              </a:rPr>
              <a:t>    a = </a:t>
            </a:r>
            <a:r>
              <a:rPr lang="en-US" altLang="zh-CN" sz="1600" dirty="0">
                <a:solidFill>
                  <a:srgbClr val="CE9178"/>
                </a:solidFill>
                <a:latin typeface="Lucida Console" panose="020B0609040504020204" pitchFamily="49" charset="0"/>
              </a:rPr>
              <a:t>"This is a long name"</a:t>
            </a:r>
            <a:r>
              <a:rPr lang="en-US" altLang="zh-CN" sz="1600" dirty="0">
                <a:solidFill>
                  <a:srgbClr val="D4D4D4"/>
                </a:solidFill>
                <a:latin typeface="Lucida Console" panose="020B0609040504020204" pitchFamily="49" charset="0"/>
              </a:rPr>
              <a:t>;</a:t>
            </a:r>
          </a:p>
          <a:p>
            <a:r>
              <a:rPr lang="en-US" altLang="zh-CN" sz="1600" dirty="0">
                <a:solidFill>
                  <a:srgbClr val="D4D4D4"/>
                </a:solidFill>
                <a:latin typeface="Lucida Console" panose="020B0609040504020204" pitchFamily="49" charset="0"/>
              </a:rPr>
              <a:t>    </a:t>
            </a:r>
            <a:r>
              <a:rPr lang="en-US" altLang="zh-CN" sz="1600" dirty="0" err="1">
                <a:solidFill>
                  <a:srgbClr val="D4D4D4"/>
                </a:solidFill>
                <a:latin typeface="Lucida Console" panose="020B0609040504020204" pitchFamily="49" charset="0"/>
              </a:rPr>
              <a:t>MyName</a:t>
            </a:r>
            <a:r>
              <a:rPr lang="en-US" altLang="zh-CN" sz="1600" dirty="0">
                <a:solidFill>
                  <a:srgbClr val="D4D4D4"/>
                </a:solidFill>
                <a:latin typeface="Lucida Console" panose="020B0609040504020204" pitchFamily="49" charset="0"/>
              </a:rPr>
              <a:t> b;</a:t>
            </a:r>
          </a:p>
          <a:p>
            <a:r>
              <a:rPr lang="en-US" altLang="zh-CN" sz="1600" dirty="0">
                <a:solidFill>
                  <a:srgbClr val="D4D4D4"/>
                </a:solidFill>
                <a:latin typeface="Lucida Console" panose="020B0609040504020204" pitchFamily="49" charset="0"/>
              </a:rPr>
              <a:t>    b = </a:t>
            </a:r>
            <a:r>
              <a:rPr lang="en-US" altLang="zh-CN" sz="1600" dirty="0" err="1">
                <a:solidFill>
                  <a:srgbClr val="4EC9B0"/>
                </a:solidFill>
                <a:latin typeface="Lucida Console" panose="020B0609040504020204" pitchFamily="49" charset="0"/>
              </a:rPr>
              <a:t>std</a:t>
            </a:r>
            <a:r>
              <a:rPr lang="en-US" altLang="zh-CN" sz="1600" dirty="0">
                <a:solidFill>
                  <a:srgbClr val="D4D4D4"/>
                </a:solidFill>
                <a:latin typeface="Lucida Console" panose="020B0609040504020204" pitchFamily="49" charset="0"/>
              </a:rPr>
              <a:t>::</a:t>
            </a:r>
            <a:r>
              <a:rPr lang="en-US" altLang="zh-CN" sz="1600" dirty="0">
                <a:solidFill>
                  <a:srgbClr val="DCDCAA"/>
                </a:solidFill>
                <a:latin typeface="Lucida Console" panose="020B0609040504020204" pitchFamily="49" charset="0"/>
              </a:rPr>
              <a:t>move</a:t>
            </a:r>
            <a:r>
              <a:rPr lang="en-US" altLang="zh-CN" sz="1600" dirty="0">
                <a:solidFill>
                  <a:srgbClr val="D4D4D4"/>
                </a:solidFill>
                <a:latin typeface="Lucida Console" panose="020B0609040504020204" pitchFamily="49" charset="0"/>
              </a:rPr>
              <a:t>(a);</a:t>
            </a:r>
          </a:p>
          <a:p>
            <a:r>
              <a:rPr lang="en-US" altLang="zh-CN" sz="1600" dirty="0">
                <a:solidFill>
                  <a:srgbClr val="6A9955"/>
                </a:solidFill>
                <a:latin typeface="Lucida Console" panose="020B0609040504020204" pitchFamily="49" charset="0"/>
              </a:rPr>
              <a:t>    // a</a:t>
            </a:r>
            <a:r>
              <a:rPr lang="zh-CN" altLang="en-US" sz="1600" dirty="0">
                <a:solidFill>
                  <a:srgbClr val="6A9955"/>
                </a:solidFill>
                <a:latin typeface="Lucida Console" panose="020B0609040504020204" pitchFamily="49" charset="0"/>
              </a:rPr>
              <a:t>的内容移动给了</a:t>
            </a:r>
            <a:r>
              <a:rPr lang="en-US" altLang="zh-CN" sz="1600" dirty="0">
                <a:solidFill>
                  <a:srgbClr val="6A9955"/>
                </a:solidFill>
                <a:latin typeface="Lucida Console" panose="020B0609040504020204" pitchFamily="49" charset="0"/>
              </a:rPr>
              <a:t>b</a:t>
            </a:r>
            <a:endParaRPr lang="en-US" altLang="zh-CN" sz="1600" dirty="0">
              <a:solidFill>
                <a:srgbClr val="D4D4D4"/>
              </a:solidFill>
              <a:latin typeface="Lucida Console" panose="020B0609040504020204" pitchFamily="49" charset="0"/>
            </a:endParaRPr>
          </a:p>
          <a:p>
            <a:r>
              <a:rPr lang="en-US" altLang="zh-CN" sz="1600" dirty="0">
                <a:solidFill>
                  <a:srgbClr val="D4D4D4"/>
                </a:solidFill>
                <a:latin typeface="Lucida Console" panose="020B0609040504020204" pitchFamily="49" charset="0"/>
              </a:rPr>
              <a:t>    </a:t>
            </a:r>
            <a:r>
              <a:rPr lang="en-US" altLang="zh-CN" sz="1600" dirty="0">
                <a:solidFill>
                  <a:srgbClr val="C586C0"/>
                </a:solidFill>
                <a:latin typeface="Lucida Console" panose="020B0609040504020204" pitchFamily="49" charset="0"/>
              </a:rPr>
              <a:t>return</a:t>
            </a:r>
            <a:r>
              <a:rPr lang="en-US" altLang="zh-CN" sz="1600" dirty="0">
                <a:solidFill>
                  <a:srgbClr val="D4D4D4"/>
                </a:solidFill>
                <a:latin typeface="Lucida Console" panose="020B0609040504020204" pitchFamily="49" charset="0"/>
              </a:rPr>
              <a:t> </a:t>
            </a:r>
            <a:r>
              <a:rPr lang="en-US" altLang="zh-CN" sz="1600" dirty="0">
                <a:solidFill>
                  <a:srgbClr val="B5CEA8"/>
                </a:solidFill>
                <a:latin typeface="Lucida Console" panose="020B0609040504020204" pitchFamily="49" charset="0"/>
              </a:rPr>
              <a:t>0</a:t>
            </a:r>
            <a:r>
              <a:rPr lang="en-US" altLang="zh-CN" sz="1600" dirty="0">
                <a:solidFill>
                  <a:srgbClr val="D4D4D4"/>
                </a:solidFill>
                <a:latin typeface="Lucida Console" panose="020B0609040504020204" pitchFamily="49" charset="0"/>
              </a:rPr>
              <a:t>;</a:t>
            </a:r>
          </a:p>
          <a:p>
            <a:r>
              <a:rPr lang="en-US" altLang="zh-CN" sz="1600" dirty="0">
                <a:solidFill>
                  <a:srgbClr val="D4D4D4"/>
                </a:solidFill>
                <a:latin typeface="Lucida Console" panose="020B0609040504020204" pitchFamily="49" charset="0"/>
              </a:rPr>
              <a:t>}</a:t>
            </a:r>
          </a:p>
        </p:txBody>
      </p:sp>
      <p:sp>
        <p:nvSpPr>
          <p:cNvPr id="21" name="矩形 20"/>
          <p:cNvSpPr/>
          <p:nvPr/>
        </p:nvSpPr>
        <p:spPr>
          <a:xfrm>
            <a:off x="1603027" y="4819319"/>
            <a:ext cx="2749899" cy="266700"/>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23" name="直接箭头连接符 22"/>
          <p:cNvCxnSpPr/>
          <p:nvPr/>
        </p:nvCxnSpPr>
        <p:spPr>
          <a:xfrm>
            <a:off x="2857500" y="4562475"/>
            <a:ext cx="9525" cy="256844"/>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6" name="文本框 25"/>
          <p:cNvSpPr txBox="1"/>
          <p:nvPr/>
        </p:nvSpPr>
        <p:spPr>
          <a:xfrm>
            <a:off x="2563639" y="4210918"/>
            <a:ext cx="828676" cy="338554"/>
          </a:xfrm>
          <a:prstGeom prst="rect">
            <a:avLst/>
          </a:prstGeom>
          <a:noFill/>
        </p:spPr>
        <p:txBody>
          <a:bodyPr wrap="square" rtlCol="0">
            <a:spAutoFit/>
          </a:bodyPr>
          <a:lstStyle/>
          <a:p>
            <a:r>
              <a:rPr lang="zh-CN" altLang="en-US" sz="1600" dirty="0">
                <a:solidFill>
                  <a:srgbClr val="FF0000"/>
                </a:solidFill>
                <a:latin typeface="微软雅黑" panose="020B0503020204020204" pitchFamily="34" charset="-122"/>
                <a:ea typeface="微软雅黑" panose="020B0503020204020204" pitchFamily="34" charset="-122"/>
              </a:rPr>
              <a:t>右值</a:t>
            </a:r>
          </a:p>
        </p:txBody>
      </p:sp>
      <p:sp>
        <p:nvSpPr>
          <p:cNvPr id="27" name="矩形 26"/>
          <p:cNvSpPr/>
          <p:nvPr/>
        </p:nvSpPr>
        <p:spPr>
          <a:xfrm>
            <a:off x="2755552" y="5304679"/>
            <a:ext cx="311499" cy="266700"/>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1" name="矩形 30"/>
          <p:cNvSpPr/>
          <p:nvPr/>
        </p:nvSpPr>
        <p:spPr>
          <a:xfrm>
            <a:off x="3234485" y="1644351"/>
            <a:ext cx="1909017" cy="266700"/>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32" name="直接箭头连接符 31"/>
          <p:cNvCxnSpPr/>
          <p:nvPr/>
        </p:nvCxnSpPr>
        <p:spPr>
          <a:xfrm flipH="1">
            <a:off x="3067049" y="5438030"/>
            <a:ext cx="201403" cy="1"/>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3" name="文本框 32"/>
          <p:cNvSpPr txBox="1"/>
          <p:nvPr/>
        </p:nvSpPr>
        <p:spPr>
          <a:xfrm>
            <a:off x="4691061" y="2088998"/>
            <a:ext cx="719139" cy="338554"/>
          </a:xfrm>
          <a:prstGeom prst="rect">
            <a:avLst/>
          </a:prstGeom>
          <a:noFill/>
        </p:spPr>
        <p:txBody>
          <a:bodyPr wrap="square" rtlCol="0">
            <a:spAutoFit/>
          </a:bodyPr>
          <a:lstStyle/>
          <a:p>
            <a:r>
              <a:rPr lang="zh-CN" altLang="en-US" sz="1600" dirty="0">
                <a:solidFill>
                  <a:srgbClr val="FF0000"/>
                </a:solidFill>
                <a:latin typeface="微软雅黑" panose="020B0503020204020204" pitchFamily="34" charset="-122"/>
                <a:ea typeface="微软雅黑" panose="020B0503020204020204" pitchFamily="34" charset="-122"/>
              </a:rPr>
              <a:t>左值</a:t>
            </a:r>
          </a:p>
        </p:txBody>
      </p:sp>
      <p:sp>
        <p:nvSpPr>
          <p:cNvPr id="34" name="文本框 33"/>
          <p:cNvSpPr txBox="1"/>
          <p:nvPr/>
        </p:nvSpPr>
        <p:spPr>
          <a:xfrm>
            <a:off x="3268452" y="5268754"/>
            <a:ext cx="719139" cy="338554"/>
          </a:xfrm>
          <a:prstGeom prst="rect">
            <a:avLst/>
          </a:prstGeom>
          <a:noFill/>
        </p:spPr>
        <p:txBody>
          <a:bodyPr wrap="square" rtlCol="0">
            <a:spAutoFit/>
          </a:bodyPr>
          <a:lstStyle/>
          <a:p>
            <a:r>
              <a:rPr lang="zh-CN" altLang="en-US" sz="1600" dirty="0">
                <a:solidFill>
                  <a:srgbClr val="FF0000"/>
                </a:solidFill>
                <a:latin typeface="微软雅黑" panose="020B0503020204020204" pitchFamily="34" charset="-122"/>
                <a:ea typeface="微软雅黑" panose="020B0503020204020204" pitchFamily="34" charset="-122"/>
              </a:rPr>
              <a:t>左值</a:t>
            </a:r>
          </a:p>
        </p:txBody>
      </p:sp>
      <p:cxnSp>
        <p:nvCxnSpPr>
          <p:cNvPr id="35" name="直接箭头连接符 34"/>
          <p:cNvCxnSpPr/>
          <p:nvPr/>
        </p:nvCxnSpPr>
        <p:spPr>
          <a:xfrm flipV="1">
            <a:off x="4892464" y="1929190"/>
            <a:ext cx="0" cy="159807"/>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nvGrpSpPr>
          <p:cNvPr id="14" name="组合 13"/>
          <p:cNvGrpSpPr/>
          <p:nvPr/>
        </p:nvGrpSpPr>
        <p:grpSpPr>
          <a:xfrm>
            <a:off x="429014" y="234192"/>
            <a:ext cx="6915125" cy="505969"/>
            <a:chOff x="321760" y="175643"/>
            <a:chExt cx="5186344" cy="379477"/>
          </a:xfrm>
        </p:grpSpPr>
        <p:sp>
          <p:nvSpPr>
            <p:cNvPr id="15" name="Title 1">
              <a:extLst>
                <a:ext uri="{FF2B5EF4-FFF2-40B4-BE49-F238E27FC236}">
                  <a16:creationId xmlns:a16="http://schemas.microsoft.com/office/drawing/2014/main" id="{6892040A-94F3-474F-8198-4204E9168CEC}"/>
                </a:ext>
              </a:extLst>
            </p:cNvPr>
            <p:cNvSpPr txBox="1">
              <a:spLocks/>
            </p:cNvSpPr>
            <p:nvPr/>
          </p:nvSpPr>
          <p:spPr>
            <a:xfrm>
              <a:off x="611560" y="175643"/>
              <a:ext cx="4896544" cy="379477"/>
            </a:xfrm>
            <a:prstGeom prst="rect">
              <a:avLst/>
            </a:prstGeom>
          </p:spPr>
          <p:txBody>
            <a:bodyPr lIns="0" rIns="0"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itchFamily="2" charset="0"/>
                  <a:cs typeface="Open Sans Light" panose="020B0306030504020204" pitchFamily="34" charset="0"/>
                </a:defRPr>
              </a:lvl1pPr>
            </a:lstStyle>
            <a:p>
              <a:pPr algn="l"/>
              <a:r>
                <a:rPr lang="en-US" altLang="zh-CN" sz="2400" dirty="0" err="1">
                  <a:solidFill>
                    <a:schemeClr val="tx1">
                      <a:lumMod val="65000"/>
                      <a:lumOff val="35000"/>
                    </a:schemeClr>
                  </a:solidFill>
                  <a:latin typeface="+mn-lt"/>
                  <a:ea typeface="+mn-ea"/>
                  <a:cs typeface="+mn-ea"/>
                  <a:sym typeface="+mn-lt"/>
                </a:rPr>
                <a:t>std</a:t>
              </a:r>
              <a:r>
                <a:rPr lang="en-US" altLang="zh-CN" sz="2400" dirty="0">
                  <a:solidFill>
                    <a:schemeClr val="tx1">
                      <a:lumMod val="65000"/>
                      <a:lumOff val="35000"/>
                    </a:schemeClr>
                  </a:solidFill>
                  <a:latin typeface="+mn-lt"/>
                  <a:ea typeface="+mn-ea"/>
                  <a:cs typeface="+mn-ea"/>
                  <a:sym typeface="+mn-lt"/>
                </a:rPr>
                <a:t>::move</a:t>
              </a:r>
            </a:p>
          </p:txBody>
        </p:sp>
        <p:sp>
          <p:nvSpPr>
            <p:cNvPr id="16" name="Diamond 33">
              <a:extLst>
                <a:ext uri="{FF2B5EF4-FFF2-40B4-BE49-F238E27FC236}">
                  <a16:creationId xmlns:a16="http://schemas.microsoft.com/office/drawing/2014/main" id="{88651C82-D860-43A5-951F-058DAA88FBBC}"/>
                </a:ext>
              </a:extLst>
            </p:cNvPr>
            <p:cNvSpPr/>
            <p:nvPr/>
          </p:nvSpPr>
          <p:spPr>
            <a:xfrm>
              <a:off x="321760" y="254774"/>
              <a:ext cx="250083" cy="250083"/>
            </a:xfrm>
            <a:prstGeom prst="diamond">
              <a:avLst/>
            </a:prstGeom>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anchor="ctr">
              <a:normAutofit fontScale="55000" lnSpcReduction="20000"/>
            </a:bodyPr>
            <a:lstStyle/>
            <a:p>
              <a:pPr algn="ctr"/>
              <a:endParaRPr lang="en-US" altLang="zh-CN" sz="2400" dirty="0">
                <a:solidFill>
                  <a:schemeClr val="bg1"/>
                </a:solidFill>
                <a:cs typeface="+mn-ea"/>
                <a:sym typeface="+mn-lt"/>
              </a:endParaRPr>
            </a:p>
          </p:txBody>
        </p:sp>
      </p:grpSp>
    </p:spTree>
    <p:extLst>
      <p:ext uri="{BB962C8B-B14F-4D97-AF65-F5344CB8AC3E}">
        <p14:creationId xmlns:p14="http://schemas.microsoft.com/office/powerpoint/2010/main" val="4145591589"/>
      </p:ext>
    </p:extLst>
  </p:cSld>
  <p:clrMapOvr>
    <a:masterClrMapping/>
  </p:clrMapOvr>
  <p:transition advClick="0" advTm="8000"/>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1"/>
                                        </p:tgtEl>
                                        <p:attrNameLst>
                                          <p:attrName>style.visibility</p:attrName>
                                        </p:attrNameLst>
                                      </p:cBhvr>
                                      <p:to>
                                        <p:strVal val="visible"/>
                                      </p:to>
                                    </p:set>
                                    <p:animEffect transition="in" filter="fade">
                                      <p:cBhvr>
                                        <p:cTn id="7" dur="500"/>
                                        <p:tgtEl>
                                          <p:spTgt spid="21"/>
                                        </p:tgtEl>
                                      </p:cBhvr>
                                    </p:animEffect>
                                  </p:childTnLst>
                                </p:cTn>
                              </p:par>
                              <p:par>
                                <p:cTn id="8" presetID="10" presetClass="entr" presetSubtype="0" fill="hold" nodeType="withEffect">
                                  <p:stCondLst>
                                    <p:cond delay="0"/>
                                  </p:stCondLst>
                                  <p:childTnLst>
                                    <p:set>
                                      <p:cBhvr>
                                        <p:cTn id="9" dur="1" fill="hold">
                                          <p:stCondLst>
                                            <p:cond delay="0"/>
                                          </p:stCondLst>
                                        </p:cTn>
                                        <p:tgtEl>
                                          <p:spTgt spid="23"/>
                                        </p:tgtEl>
                                        <p:attrNameLst>
                                          <p:attrName>style.visibility</p:attrName>
                                        </p:attrNameLst>
                                      </p:cBhvr>
                                      <p:to>
                                        <p:strVal val="visible"/>
                                      </p:to>
                                    </p:set>
                                    <p:animEffect transition="in" filter="fade">
                                      <p:cBhvr>
                                        <p:cTn id="10" dur="500"/>
                                        <p:tgtEl>
                                          <p:spTgt spid="23"/>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26"/>
                                        </p:tgtEl>
                                        <p:attrNameLst>
                                          <p:attrName>style.visibility</p:attrName>
                                        </p:attrNameLst>
                                      </p:cBhvr>
                                      <p:to>
                                        <p:strVal val="visible"/>
                                      </p:to>
                                    </p:set>
                                    <p:animEffect transition="in" filter="fade">
                                      <p:cBhvr>
                                        <p:cTn id="13" dur="500"/>
                                        <p:tgtEl>
                                          <p:spTgt spid="26"/>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27"/>
                                        </p:tgtEl>
                                        <p:attrNameLst>
                                          <p:attrName>style.visibility</p:attrName>
                                        </p:attrNameLst>
                                      </p:cBhvr>
                                      <p:to>
                                        <p:strVal val="visible"/>
                                      </p:to>
                                    </p:set>
                                    <p:animEffect transition="in" filter="fade">
                                      <p:cBhvr>
                                        <p:cTn id="18" dur="500"/>
                                        <p:tgtEl>
                                          <p:spTgt spid="27"/>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31"/>
                                        </p:tgtEl>
                                        <p:attrNameLst>
                                          <p:attrName>style.visibility</p:attrName>
                                        </p:attrNameLst>
                                      </p:cBhvr>
                                      <p:to>
                                        <p:strVal val="visible"/>
                                      </p:to>
                                    </p:set>
                                    <p:animEffect transition="in" filter="fade">
                                      <p:cBhvr>
                                        <p:cTn id="21" dur="500"/>
                                        <p:tgtEl>
                                          <p:spTgt spid="31"/>
                                        </p:tgtEl>
                                      </p:cBhvr>
                                    </p:animEffect>
                                  </p:childTnLst>
                                </p:cTn>
                              </p:par>
                              <p:par>
                                <p:cTn id="22" presetID="10" presetClass="entr" presetSubtype="0" fill="hold" nodeType="withEffect">
                                  <p:stCondLst>
                                    <p:cond delay="0"/>
                                  </p:stCondLst>
                                  <p:childTnLst>
                                    <p:set>
                                      <p:cBhvr>
                                        <p:cTn id="23" dur="1" fill="hold">
                                          <p:stCondLst>
                                            <p:cond delay="0"/>
                                          </p:stCondLst>
                                        </p:cTn>
                                        <p:tgtEl>
                                          <p:spTgt spid="32"/>
                                        </p:tgtEl>
                                        <p:attrNameLst>
                                          <p:attrName>style.visibility</p:attrName>
                                        </p:attrNameLst>
                                      </p:cBhvr>
                                      <p:to>
                                        <p:strVal val="visible"/>
                                      </p:to>
                                    </p:set>
                                    <p:animEffect transition="in" filter="fade">
                                      <p:cBhvr>
                                        <p:cTn id="24" dur="500"/>
                                        <p:tgtEl>
                                          <p:spTgt spid="32"/>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33"/>
                                        </p:tgtEl>
                                        <p:attrNameLst>
                                          <p:attrName>style.visibility</p:attrName>
                                        </p:attrNameLst>
                                      </p:cBhvr>
                                      <p:to>
                                        <p:strVal val="visible"/>
                                      </p:to>
                                    </p:set>
                                    <p:animEffect transition="in" filter="fade">
                                      <p:cBhvr>
                                        <p:cTn id="27" dur="500"/>
                                        <p:tgtEl>
                                          <p:spTgt spid="33"/>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34"/>
                                        </p:tgtEl>
                                        <p:attrNameLst>
                                          <p:attrName>style.visibility</p:attrName>
                                        </p:attrNameLst>
                                      </p:cBhvr>
                                      <p:to>
                                        <p:strVal val="visible"/>
                                      </p:to>
                                    </p:set>
                                    <p:animEffect transition="in" filter="fade">
                                      <p:cBhvr>
                                        <p:cTn id="30" dur="500"/>
                                        <p:tgtEl>
                                          <p:spTgt spid="34"/>
                                        </p:tgtEl>
                                      </p:cBhvr>
                                    </p:animEffect>
                                  </p:childTnLst>
                                </p:cTn>
                              </p:par>
                              <p:par>
                                <p:cTn id="31" presetID="10" presetClass="entr" presetSubtype="0" fill="hold" nodeType="withEffect">
                                  <p:stCondLst>
                                    <p:cond delay="0"/>
                                  </p:stCondLst>
                                  <p:childTnLst>
                                    <p:set>
                                      <p:cBhvr>
                                        <p:cTn id="32" dur="1" fill="hold">
                                          <p:stCondLst>
                                            <p:cond delay="0"/>
                                          </p:stCondLst>
                                        </p:cTn>
                                        <p:tgtEl>
                                          <p:spTgt spid="35"/>
                                        </p:tgtEl>
                                        <p:attrNameLst>
                                          <p:attrName>style.visibility</p:attrName>
                                        </p:attrNameLst>
                                      </p:cBhvr>
                                      <p:to>
                                        <p:strVal val="visible"/>
                                      </p:to>
                                    </p:set>
                                    <p:animEffect transition="in" filter="fade">
                                      <p:cBhvr>
                                        <p:cTn id="33" dur="500"/>
                                        <p:tgtEl>
                                          <p:spTgt spid="35"/>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nodeType="clickEffect">
                                  <p:stCondLst>
                                    <p:cond delay="0"/>
                                  </p:stCondLst>
                                  <p:childTnLst>
                                    <p:set>
                                      <p:cBhvr>
                                        <p:cTn id="37" dur="1" fill="hold">
                                          <p:stCondLst>
                                            <p:cond delay="0"/>
                                          </p:stCondLst>
                                        </p:cTn>
                                        <p:tgtEl>
                                          <p:spTgt spid="6">
                                            <p:txEl>
                                              <p:pRg st="4" end="4"/>
                                            </p:txEl>
                                          </p:spTgt>
                                        </p:tgtEl>
                                        <p:attrNameLst>
                                          <p:attrName>style.visibility</p:attrName>
                                        </p:attrNameLst>
                                      </p:cBhvr>
                                      <p:to>
                                        <p:strVal val="visible"/>
                                      </p:to>
                                    </p:set>
                                    <p:animEffect transition="in" filter="fade">
                                      <p:cBhvr>
                                        <p:cTn id="38" dur="500"/>
                                        <p:tgtEl>
                                          <p:spTgt spid="6">
                                            <p:txEl>
                                              <p:pRg st="4" end="4"/>
                                            </p:txEl>
                                          </p:spTgt>
                                        </p:tgtEl>
                                      </p:cBhvr>
                                    </p:animEffect>
                                  </p:childTnLst>
                                </p:cTn>
                              </p:par>
                              <p:par>
                                <p:cTn id="39" presetID="10" presetClass="entr" presetSubtype="0" fill="hold" nodeType="withEffect">
                                  <p:stCondLst>
                                    <p:cond delay="0"/>
                                  </p:stCondLst>
                                  <p:childTnLst>
                                    <p:set>
                                      <p:cBhvr>
                                        <p:cTn id="40" dur="1" fill="hold">
                                          <p:stCondLst>
                                            <p:cond delay="0"/>
                                          </p:stCondLst>
                                        </p:cTn>
                                        <p:tgtEl>
                                          <p:spTgt spid="6">
                                            <p:txEl>
                                              <p:pRg st="5" end="5"/>
                                            </p:txEl>
                                          </p:spTgt>
                                        </p:tgtEl>
                                        <p:attrNameLst>
                                          <p:attrName>style.visibility</p:attrName>
                                        </p:attrNameLst>
                                      </p:cBhvr>
                                      <p:to>
                                        <p:strVal val="visible"/>
                                      </p:to>
                                    </p:set>
                                    <p:animEffect transition="in" filter="fade">
                                      <p:cBhvr>
                                        <p:cTn id="41" dur="500"/>
                                        <p:tgtEl>
                                          <p:spTgt spid="6">
                                            <p:txEl>
                                              <p:pRg st="5" end="5"/>
                                            </p:txEl>
                                          </p:spTgt>
                                        </p:tgtEl>
                                      </p:cBhvr>
                                    </p:animEffect>
                                  </p:childTnLst>
                                </p:cTn>
                              </p:par>
                            </p:childTnLst>
                          </p:cTn>
                        </p:par>
                      </p:childTnLst>
                    </p:cTn>
                  </p:par>
                  <p:par>
                    <p:cTn id="42" fill="hold">
                      <p:stCondLst>
                        <p:cond delay="indefinite"/>
                      </p:stCondLst>
                      <p:childTnLst>
                        <p:par>
                          <p:cTn id="43" fill="hold">
                            <p:stCondLst>
                              <p:cond delay="0"/>
                            </p:stCondLst>
                            <p:childTnLst>
                              <p:par>
                                <p:cTn id="44" presetID="10" presetClass="entr" presetSubtype="0" fill="hold" nodeType="clickEffect">
                                  <p:stCondLst>
                                    <p:cond delay="0"/>
                                  </p:stCondLst>
                                  <p:childTnLst>
                                    <p:set>
                                      <p:cBhvr>
                                        <p:cTn id="45" dur="1" fill="hold">
                                          <p:stCondLst>
                                            <p:cond delay="0"/>
                                          </p:stCondLst>
                                        </p:cTn>
                                        <p:tgtEl>
                                          <p:spTgt spid="6">
                                            <p:txEl>
                                              <p:pRg st="6" end="6"/>
                                            </p:txEl>
                                          </p:spTgt>
                                        </p:tgtEl>
                                        <p:attrNameLst>
                                          <p:attrName>style.visibility</p:attrName>
                                        </p:attrNameLst>
                                      </p:cBhvr>
                                      <p:to>
                                        <p:strVal val="visible"/>
                                      </p:to>
                                    </p:set>
                                    <p:animEffect transition="in" filter="fade">
                                      <p:cBhvr>
                                        <p:cTn id="46" dur="500"/>
                                        <p:tgtEl>
                                          <p:spTgt spid="6">
                                            <p:txEl>
                                              <p:pRg st="6" end="6"/>
                                            </p:txEl>
                                          </p:spTgt>
                                        </p:tgtEl>
                                      </p:cBhvr>
                                    </p:animEffect>
                                  </p:childTnLst>
                                </p:cTn>
                              </p:par>
                            </p:childTnLst>
                          </p:cTn>
                        </p:par>
                      </p:childTnLst>
                    </p:cTn>
                  </p:par>
                  <p:par>
                    <p:cTn id="47" fill="hold">
                      <p:stCondLst>
                        <p:cond delay="indefinite"/>
                      </p:stCondLst>
                      <p:childTnLst>
                        <p:par>
                          <p:cTn id="48" fill="hold">
                            <p:stCondLst>
                              <p:cond delay="0"/>
                            </p:stCondLst>
                            <p:childTnLst>
                              <p:par>
                                <p:cTn id="49" presetID="10" presetClass="entr" presetSubtype="0" fill="hold" nodeType="clickEffect">
                                  <p:stCondLst>
                                    <p:cond delay="0"/>
                                  </p:stCondLst>
                                  <p:childTnLst>
                                    <p:set>
                                      <p:cBhvr>
                                        <p:cTn id="50" dur="1" fill="hold">
                                          <p:stCondLst>
                                            <p:cond delay="0"/>
                                          </p:stCondLst>
                                        </p:cTn>
                                        <p:tgtEl>
                                          <p:spTgt spid="6">
                                            <p:txEl>
                                              <p:pRg st="7" end="7"/>
                                            </p:txEl>
                                          </p:spTgt>
                                        </p:tgtEl>
                                        <p:attrNameLst>
                                          <p:attrName>style.visibility</p:attrName>
                                        </p:attrNameLst>
                                      </p:cBhvr>
                                      <p:to>
                                        <p:strVal val="visible"/>
                                      </p:to>
                                    </p:set>
                                    <p:animEffect transition="in" filter="fade">
                                      <p:cBhvr>
                                        <p:cTn id="51" dur="500"/>
                                        <p:tgtEl>
                                          <p:spTgt spid="6">
                                            <p:txEl>
                                              <p:pRg st="7" end="7"/>
                                            </p:txEl>
                                          </p:spTgt>
                                        </p:tgtEl>
                                      </p:cBhvr>
                                    </p:animEffect>
                                  </p:childTnLst>
                                </p:cTn>
                              </p:par>
                            </p:childTnLst>
                          </p:cTn>
                        </p:par>
                      </p:childTnLst>
                    </p:cTn>
                  </p:par>
                  <p:par>
                    <p:cTn id="52" fill="hold">
                      <p:stCondLst>
                        <p:cond delay="indefinite"/>
                      </p:stCondLst>
                      <p:childTnLst>
                        <p:par>
                          <p:cTn id="53" fill="hold">
                            <p:stCondLst>
                              <p:cond delay="0"/>
                            </p:stCondLst>
                            <p:childTnLst>
                              <p:par>
                                <p:cTn id="54" presetID="10" presetClass="entr" presetSubtype="0" fill="hold" nodeType="clickEffect">
                                  <p:stCondLst>
                                    <p:cond delay="0"/>
                                  </p:stCondLst>
                                  <p:childTnLst>
                                    <p:set>
                                      <p:cBhvr>
                                        <p:cTn id="55" dur="1" fill="hold">
                                          <p:stCondLst>
                                            <p:cond delay="0"/>
                                          </p:stCondLst>
                                        </p:cTn>
                                        <p:tgtEl>
                                          <p:spTgt spid="6">
                                            <p:txEl>
                                              <p:pRg st="8" end="8"/>
                                            </p:txEl>
                                          </p:spTgt>
                                        </p:tgtEl>
                                        <p:attrNameLst>
                                          <p:attrName>style.visibility</p:attrName>
                                        </p:attrNameLst>
                                      </p:cBhvr>
                                      <p:to>
                                        <p:strVal val="visible"/>
                                      </p:to>
                                    </p:set>
                                    <p:animEffect transition="in" filter="fade">
                                      <p:cBhvr>
                                        <p:cTn id="56" dur="500"/>
                                        <p:tgtEl>
                                          <p:spTgt spid="6">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animBg="1"/>
      <p:bldP spid="26" grpId="0"/>
      <p:bldP spid="27" grpId="0" animBg="1"/>
      <p:bldP spid="31" grpId="0" animBg="1"/>
      <p:bldP spid="33" grpId="0"/>
      <p:bldP spid="34"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p:nvPr/>
        </p:nvSpPr>
        <p:spPr>
          <a:xfrm>
            <a:off x="956074" y="1101842"/>
            <a:ext cx="5158977" cy="646331"/>
          </a:xfrm>
          <a:prstGeom prst="rect">
            <a:avLst/>
          </a:prstGeom>
        </p:spPr>
        <p:txBody>
          <a:bodyPr wrap="square">
            <a:spAutoFit/>
          </a:bodyPr>
          <a:lstStyle/>
          <a:p>
            <a:r>
              <a:rPr lang="zh-CN" altLang="en-US" dirty="0">
                <a:latin typeface="微软雅黑" panose="020B0503020204020204" pitchFamily="34" charset="-122"/>
                <a:ea typeface="微软雅黑" panose="020B0503020204020204" pitchFamily="34" charset="-122"/>
              </a:rPr>
              <a:t>在传统</a:t>
            </a:r>
            <a:r>
              <a:rPr lang="en-US" altLang="zh-CN" dirty="0">
                <a:latin typeface="微软雅黑" panose="020B0503020204020204" pitchFamily="34" charset="-122"/>
                <a:ea typeface="微软雅黑" panose="020B0503020204020204" pitchFamily="34" charset="-122"/>
              </a:rPr>
              <a:t>C++</a:t>
            </a:r>
            <a:r>
              <a:rPr lang="zh-CN" altLang="en-US" dirty="0">
                <a:latin typeface="微软雅黑" panose="020B0503020204020204" pitchFamily="34" charset="-122"/>
                <a:ea typeface="微软雅黑" panose="020B0503020204020204" pitchFamily="34" charset="-122"/>
              </a:rPr>
              <a:t>中，返回一个很大的对象常被认为是性能开销大的不良写法。</a:t>
            </a:r>
            <a:endParaRPr lang="en-US" altLang="zh-CN" dirty="0">
              <a:latin typeface="微软雅黑" panose="020B0503020204020204" pitchFamily="34" charset="-122"/>
              <a:ea typeface="微软雅黑" panose="020B0503020204020204" pitchFamily="34" charset="-122"/>
            </a:endParaRPr>
          </a:p>
        </p:txBody>
      </p:sp>
      <p:sp>
        <p:nvSpPr>
          <p:cNvPr id="2" name="矩形 1"/>
          <p:cNvSpPr/>
          <p:nvPr/>
        </p:nvSpPr>
        <p:spPr>
          <a:xfrm>
            <a:off x="1821061" y="1866038"/>
            <a:ext cx="3810000" cy="2308324"/>
          </a:xfrm>
          <a:prstGeom prst="rect">
            <a:avLst/>
          </a:prstGeom>
          <a:solidFill>
            <a:schemeClr val="tx1"/>
          </a:solidFill>
        </p:spPr>
        <p:txBody>
          <a:bodyPr wrap="square">
            <a:spAutoFit/>
          </a:bodyPr>
          <a:lstStyle/>
          <a:p>
            <a:r>
              <a:rPr lang="en-US" altLang="zh-CN" dirty="0" err="1">
                <a:solidFill>
                  <a:srgbClr val="4EC9B0"/>
                </a:solidFill>
                <a:latin typeface="Lucida Console" panose="020B0609040504020204" pitchFamily="49" charset="0"/>
              </a:rPr>
              <a:t>MyName</a:t>
            </a:r>
            <a:r>
              <a:rPr lang="en-US" altLang="zh-CN" dirty="0">
                <a:solidFill>
                  <a:srgbClr val="D4D4D4"/>
                </a:solidFill>
                <a:latin typeface="Lucida Console" panose="020B0609040504020204" pitchFamily="49" charset="0"/>
              </a:rPr>
              <a:t> </a:t>
            </a:r>
            <a:r>
              <a:rPr lang="en-US" altLang="zh-CN" dirty="0" err="1">
                <a:solidFill>
                  <a:srgbClr val="DCDCAA"/>
                </a:solidFill>
                <a:latin typeface="Lucida Console" panose="020B0609040504020204" pitchFamily="49" charset="0"/>
              </a:rPr>
              <a:t>GetFromFile</a:t>
            </a:r>
            <a:r>
              <a:rPr lang="en-US" altLang="zh-CN" dirty="0">
                <a:solidFill>
                  <a:srgbClr val="D4D4D4"/>
                </a:solidFill>
                <a:latin typeface="Lucida Console" panose="020B0609040504020204" pitchFamily="49" charset="0"/>
              </a:rPr>
              <a:t>()</a:t>
            </a:r>
          </a:p>
          <a:p>
            <a:r>
              <a:rPr lang="en-US" altLang="zh-CN" dirty="0">
                <a:solidFill>
                  <a:srgbClr val="D4D4D4"/>
                </a:solidFill>
                <a:latin typeface="Lucida Console" panose="020B0609040504020204" pitchFamily="49" charset="0"/>
              </a:rPr>
              <a:t>{</a:t>
            </a:r>
          </a:p>
          <a:p>
            <a:r>
              <a:rPr lang="en-US" altLang="zh-CN" dirty="0">
                <a:solidFill>
                  <a:srgbClr val="D4D4D4"/>
                </a:solidFill>
                <a:latin typeface="Lucida Console" panose="020B0609040504020204" pitchFamily="49" charset="0"/>
              </a:rPr>
              <a:t>    </a:t>
            </a:r>
            <a:r>
              <a:rPr lang="en-US" altLang="zh-CN" dirty="0" err="1">
                <a:solidFill>
                  <a:srgbClr val="D4D4D4"/>
                </a:solidFill>
                <a:latin typeface="Lucida Console" panose="020B0609040504020204" pitchFamily="49" charset="0"/>
              </a:rPr>
              <a:t>MyName</a:t>
            </a:r>
            <a:r>
              <a:rPr lang="en-US" altLang="zh-CN" dirty="0">
                <a:solidFill>
                  <a:srgbClr val="D4D4D4"/>
                </a:solidFill>
                <a:latin typeface="Lucida Console" panose="020B0609040504020204" pitchFamily="49" charset="0"/>
              </a:rPr>
              <a:t> name;</a:t>
            </a:r>
          </a:p>
          <a:p>
            <a:r>
              <a:rPr lang="en-US" altLang="zh-CN" dirty="0">
                <a:solidFill>
                  <a:srgbClr val="6A9955"/>
                </a:solidFill>
                <a:latin typeface="Lucida Console" panose="020B0609040504020204" pitchFamily="49" charset="0"/>
              </a:rPr>
              <a:t>    // ...</a:t>
            </a:r>
            <a:endParaRPr lang="en-US" altLang="zh-CN" dirty="0">
              <a:solidFill>
                <a:srgbClr val="D4D4D4"/>
              </a:solidFill>
              <a:latin typeface="Lucida Console" panose="020B0609040504020204" pitchFamily="49" charset="0"/>
            </a:endParaRPr>
          </a:p>
          <a:p>
            <a:r>
              <a:rPr lang="en-US" altLang="zh-CN" dirty="0">
                <a:solidFill>
                  <a:srgbClr val="D4D4D4"/>
                </a:solidFill>
                <a:latin typeface="Lucida Console" panose="020B0609040504020204" pitchFamily="49" charset="0"/>
              </a:rPr>
              <a:t>    </a:t>
            </a:r>
            <a:r>
              <a:rPr lang="en-US" altLang="zh-CN" dirty="0">
                <a:solidFill>
                  <a:srgbClr val="C586C0"/>
                </a:solidFill>
                <a:latin typeface="Lucida Console" panose="020B0609040504020204" pitchFamily="49" charset="0"/>
              </a:rPr>
              <a:t>return</a:t>
            </a:r>
            <a:r>
              <a:rPr lang="en-US" altLang="zh-CN" dirty="0">
                <a:solidFill>
                  <a:srgbClr val="D4D4D4"/>
                </a:solidFill>
                <a:latin typeface="Lucida Console" panose="020B0609040504020204" pitchFamily="49" charset="0"/>
              </a:rPr>
              <a:t> name;</a:t>
            </a:r>
          </a:p>
          <a:p>
            <a:r>
              <a:rPr lang="en-US" altLang="zh-CN" dirty="0">
                <a:solidFill>
                  <a:srgbClr val="D4D4D4"/>
                </a:solidFill>
                <a:latin typeface="Lucida Console" panose="020B0609040504020204" pitchFamily="49" charset="0"/>
              </a:rPr>
              <a:t>}</a:t>
            </a:r>
          </a:p>
          <a:p>
            <a:endParaRPr lang="en-US" altLang="zh-CN" dirty="0">
              <a:solidFill>
                <a:srgbClr val="D4D4D4"/>
              </a:solidFill>
              <a:latin typeface="Lucida Console" panose="020B0609040504020204" pitchFamily="49" charset="0"/>
            </a:endParaRPr>
          </a:p>
          <a:p>
            <a:r>
              <a:rPr lang="en-US" altLang="zh-CN" dirty="0" err="1">
                <a:solidFill>
                  <a:srgbClr val="D4D4D4"/>
                </a:solidFill>
                <a:latin typeface="Lucida Console" panose="020B0609040504020204" pitchFamily="49" charset="0"/>
              </a:rPr>
              <a:t>MyName</a:t>
            </a:r>
            <a:r>
              <a:rPr lang="en-US" altLang="zh-CN" dirty="0">
                <a:solidFill>
                  <a:srgbClr val="D4D4D4"/>
                </a:solidFill>
                <a:latin typeface="Lucida Console" panose="020B0609040504020204" pitchFamily="49" charset="0"/>
              </a:rPr>
              <a:t> a = </a:t>
            </a:r>
            <a:r>
              <a:rPr lang="en-US" altLang="zh-CN" dirty="0" err="1">
                <a:solidFill>
                  <a:srgbClr val="DCDCAA"/>
                </a:solidFill>
                <a:latin typeface="Lucida Console" panose="020B0609040504020204" pitchFamily="49" charset="0"/>
              </a:rPr>
              <a:t>GetFromFile</a:t>
            </a:r>
            <a:r>
              <a:rPr lang="en-US" altLang="zh-CN" dirty="0">
                <a:solidFill>
                  <a:srgbClr val="D4D4D4"/>
                </a:solidFill>
                <a:latin typeface="Lucida Console" panose="020B0609040504020204" pitchFamily="49" charset="0"/>
              </a:rPr>
              <a:t>();</a:t>
            </a:r>
          </a:p>
        </p:txBody>
      </p:sp>
      <p:sp>
        <p:nvSpPr>
          <p:cNvPr id="16" name="矩形 15"/>
          <p:cNvSpPr/>
          <p:nvPr/>
        </p:nvSpPr>
        <p:spPr>
          <a:xfrm>
            <a:off x="1869727" y="3838245"/>
            <a:ext cx="3502373" cy="266700"/>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文本框 16"/>
          <p:cNvSpPr txBox="1"/>
          <p:nvPr/>
        </p:nvSpPr>
        <p:spPr>
          <a:xfrm>
            <a:off x="2754138" y="3499691"/>
            <a:ext cx="2275063" cy="338554"/>
          </a:xfrm>
          <a:prstGeom prst="rect">
            <a:avLst/>
          </a:prstGeom>
          <a:noFill/>
        </p:spPr>
        <p:txBody>
          <a:bodyPr wrap="square" rtlCol="0">
            <a:spAutoFit/>
          </a:bodyPr>
          <a:lstStyle/>
          <a:p>
            <a:r>
              <a:rPr lang="zh-CN" altLang="en-US" sz="1600" dirty="0">
                <a:solidFill>
                  <a:srgbClr val="FF0000"/>
                </a:solidFill>
                <a:latin typeface="微软雅黑" panose="020B0503020204020204" pitchFamily="34" charset="-122"/>
                <a:ea typeface="微软雅黑" panose="020B0503020204020204" pitchFamily="34" charset="-122"/>
              </a:rPr>
              <a:t>产生对象复制</a:t>
            </a:r>
          </a:p>
        </p:txBody>
      </p:sp>
      <p:sp>
        <p:nvSpPr>
          <p:cNvPr id="5" name="矩形 4"/>
          <p:cNvSpPr/>
          <p:nvPr/>
        </p:nvSpPr>
        <p:spPr>
          <a:xfrm>
            <a:off x="7011813" y="1866038"/>
            <a:ext cx="4341988" cy="1754326"/>
          </a:xfrm>
          <a:prstGeom prst="rect">
            <a:avLst/>
          </a:prstGeom>
          <a:solidFill>
            <a:schemeClr val="tx1"/>
          </a:solidFill>
        </p:spPr>
        <p:txBody>
          <a:bodyPr wrap="square">
            <a:spAutoFit/>
          </a:bodyPr>
          <a:lstStyle/>
          <a:p>
            <a:r>
              <a:rPr lang="en-US" altLang="zh-CN" dirty="0" err="1">
                <a:solidFill>
                  <a:srgbClr val="4EC9B0"/>
                </a:solidFill>
                <a:latin typeface="Lucida Console" panose="020B0609040504020204" pitchFamily="49" charset="0"/>
              </a:rPr>
              <a:t>MyName</a:t>
            </a:r>
            <a:r>
              <a:rPr lang="en-US" altLang="zh-CN" dirty="0">
                <a:solidFill>
                  <a:srgbClr val="D4D4D4"/>
                </a:solidFill>
                <a:latin typeface="Lucida Console" panose="020B0609040504020204" pitchFamily="49" charset="0"/>
              </a:rPr>
              <a:t> </a:t>
            </a:r>
            <a:r>
              <a:rPr lang="en-US" altLang="zh-CN" dirty="0" err="1">
                <a:solidFill>
                  <a:srgbClr val="DCDCAA"/>
                </a:solidFill>
                <a:latin typeface="Lucida Console" panose="020B0609040504020204" pitchFamily="49" charset="0"/>
              </a:rPr>
              <a:t>GetFromFile</a:t>
            </a:r>
            <a:r>
              <a:rPr lang="en-US" altLang="zh-CN" dirty="0">
                <a:solidFill>
                  <a:srgbClr val="D4D4D4"/>
                </a:solidFill>
                <a:latin typeface="Lucida Console" panose="020B0609040504020204" pitchFamily="49" charset="0"/>
              </a:rPr>
              <a:t>()</a:t>
            </a:r>
          </a:p>
          <a:p>
            <a:r>
              <a:rPr lang="en-US" altLang="zh-CN" dirty="0">
                <a:solidFill>
                  <a:srgbClr val="D4D4D4"/>
                </a:solidFill>
                <a:latin typeface="Lucida Console" panose="020B0609040504020204" pitchFamily="49" charset="0"/>
              </a:rPr>
              <a:t>{</a:t>
            </a:r>
          </a:p>
          <a:p>
            <a:r>
              <a:rPr lang="en-US" altLang="zh-CN" dirty="0">
                <a:solidFill>
                  <a:srgbClr val="D4D4D4"/>
                </a:solidFill>
                <a:latin typeface="Lucida Console" panose="020B0609040504020204" pitchFamily="49" charset="0"/>
              </a:rPr>
              <a:t>    </a:t>
            </a:r>
            <a:r>
              <a:rPr lang="en-US" altLang="zh-CN" dirty="0" err="1">
                <a:solidFill>
                  <a:srgbClr val="D4D4D4"/>
                </a:solidFill>
                <a:latin typeface="Lucida Console" panose="020B0609040504020204" pitchFamily="49" charset="0"/>
              </a:rPr>
              <a:t>MyName</a:t>
            </a:r>
            <a:r>
              <a:rPr lang="en-US" altLang="zh-CN" dirty="0">
                <a:solidFill>
                  <a:srgbClr val="D4D4D4"/>
                </a:solidFill>
                <a:latin typeface="Lucida Console" panose="020B0609040504020204" pitchFamily="49" charset="0"/>
              </a:rPr>
              <a:t> name;</a:t>
            </a:r>
          </a:p>
          <a:p>
            <a:r>
              <a:rPr lang="en-US" altLang="zh-CN" dirty="0">
                <a:solidFill>
                  <a:srgbClr val="6A9955"/>
                </a:solidFill>
                <a:latin typeface="Lucida Console" panose="020B0609040504020204" pitchFamily="49" charset="0"/>
              </a:rPr>
              <a:t>    // ...</a:t>
            </a:r>
            <a:endParaRPr lang="en-US" altLang="zh-CN" dirty="0">
              <a:solidFill>
                <a:srgbClr val="D4D4D4"/>
              </a:solidFill>
              <a:latin typeface="Lucida Console" panose="020B0609040504020204" pitchFamily="49" charset="0"/>
            </a:endParaRPr>
          </a:p>
          <a:p>
            <a:r>
              <a:rPr lang="en-US" altLang="zh-CN" dirty="0">
                <a:solidFill>
                  <a:srgbClr val="D4D4D4"/>
                </a:solidFill>
                <a:latin typeface="Lucida Console" panose="020B0609040504020204" pitchFamily="49" charset="0"/>
              </a:rPr>
              <a:t>    </a:t>
            </a:r>
            <a:r>
              <a:rPr lang="en-US" altLang="zh-CN" dirty="0">
                <a:solidFill>
                  <a:srgbClr val="C586C0"/>
                </a:solidFill>
                <a:latin typeface="Lucida Console" panose="020B0609040504020204" pitchFamily="49" charset="0"/>
              </a:rPr>
              <a:t>return</a:t>
            </a:r>
            <a:r>
              <a:rPr lang="en-US" altLang="zh-CN" dirty="0">
                <a:solidFill>
                  <a:srgbClr val="D4D4D4"/>
                </a:solidFill>
                <a:latin typeface="Lucida Console" panose="020B0609040504020204" pitchFamily="49" charset="0"/>
              </a:rPr>
              <a:t> </a:t>
            </a:r>
            <a:r>
              <a:rPr lang="en-US" altLang="zh-CN" dirty="0" err="1">
                <a:solidFill>
                  <a:srgbClr val="4EC9B0"/>
                </a:solidFill>
                <a:latin typeface="Lucida Console" panose="020B0609040504020204" pitchFamily="49" charset="0"/>
              </a:rPr>
              <a:t>std</a:t>
            </a:r>
            <a:r>
              <a:rPr lang="en-US" altLang="zh-CN" dirty="0">
                <a:solidFill>
                  <a:srgbClr val="D4D4D4"/>
                </a:solidFill>
                <a:latin typeface="Lucida Console" panose="020B0609040504020204" pitchFamily="49" charset="0"/>
              </a:rPr>
              <a:t>::</a:t>
            </a:r>
            <a:r>
              <a:rPr lang="en-US" altLang="zh-CN" dirty="0">
                <a:solidFill>
                  <a:srgbClr val="DCDCAA"/>
                </a:solidFill>
                <a:latin typeface="Lucida Console" panose="020B0609040504020204" pitchFamily="49" charset="0"/>
              </a:rPr>
              <a:t>move</a:t>
            </a:r>
            <a:r>
              <a:rPr lang="en-US" altLang="zh-CN" dirty="0">
                <a:solidFill>
                  <a:srgbClr val="D4D4D4"/>
                </a:solidFill>
                <a:latin typeface="Lucida Console" panose="020B0609040504020204" pitchFamily="49" charset="0"/>
              </a:rPr>
              <a:t>(name);</a:t>
            </a:r>
          </a:p>
          <a:p>
            <a:r>
              <a:rPr lang="en-US" altLang="zh-CN" dirty="0">
                <a:solidFill>
                  <a:srgbClr val="D4D4D4"/>
                </a:solidFill>
                <a:latin typeface="Lucida Console" panose="020B0609040504020204" pitchFamily="49" charset="0"/>
              </a:rPr>
              <a:t>}</a:t>
            </a:r>
          </a:p>
        </p:txBody>
      </p:sp>
      <p:sp>
        <p:nvSpPr>
          <p:cNvPr id="19" name="矩形 18"/>
          <p:cNvSpPr/>
          <p:nvPr/>
        </p:nvSpPr>
        <p:spPr>
          <a:xfrm>
            <a:off x="6378175" y="1101841"/>
            <a:ext cx="5532944" cy="646331"/>
          </a:xfrm>
          <a:prstGeom prst="rect">
            <a:avLst/>
          </a:prstGeom>
        </p:spPr>
        <p:txBody>
          <a:bodyPr wrap="square">
            <a:spAutoFit/>
          </a:bodyPr>
          <a:lstStyle/>
          <a:p>
            <a:r>
              <a:rPr lang="zh-CN" altLang="en-US" dirty="0">
                <a:latin typeface="微软雅黑" panose="020B0503020204020204" pitchFamily="34" charset="-122"/>
                <a:ea typeface="微软雅黑" panose="020B0503020204020204" pitchFamily="34" charset="-122"/>
              </a:rPr>
              <a:t>有了移动语义后，很多人希望通过</a:t>
            </a:r>
            <a:r>
              <a:rPr lang="en-US" altLang="zh-CN" dirty="0">
                <a:latin typeface="微软雅黑" panose="020B0503020204020204" pitchFamily="34" charset="-122"/>
                <a:ea typeface="微软雅黑" panose="020B0503020204020204" pitchFamily="34" charset="-122"/>
              </a:rPr>
              <a:t>move</a:t>
            </a:r>
            <a:r>
              <a:rPr lang="zh-CN" altLang="en-US" dirty="0">
                <a:latin typeface="微软雅黑" panose="020B0503020204020204" pitchFamily="34" charset="-122"/>
                <a:ea typeface="微软雅黑" panose="020B0503020204020204" pitchFamily="34" charset="-122"/>
              </a:rPr>
              <a:t>来优化性能。</a:t>
            </a:r>
            <a:endParaRPr lang="en-US" altLang="zh-CN" dirty="0">
              <a:latin typeface="微软雅黑" panose="020B0503020204020204" pitchFamily="34" charset="-122"/>
              <a:ea typeface="微软雅黑" panose="020B0503020204020204" pitchFamily="34" charset="-122"/>
            </a:endParaRPr>
          </a:p>
          <a:p>
            <a:r>
              <a:rPr lang="zh-CN" altLang="en-US" dirty="0">
                <a:latin typeface="微软雅黑" panose="020B0503020204020204" pitchFamily="34" charset="-122"/>
                <a:ea typeface="微软雅黑" panose="020B0503020204020204" pitchFamily="34" charset="-122"/>
              </a:rPr>
              <a:t>但这是个</a:t>
            </a:r>
            <a:r>
              <a:rPr lang="zh-CN" altLang="en-US" b="1" dirty="0">
                <a:latin typeface="微软雅黑" panose="020B0503020204020204" pitchFamily="34" charset="-122"/>
                <a:ea typeface="微软雅黑" panose="020B0503020204020204" pitchFamily="34" charset="-122"/>
              </a:rPr>
              <a:t>误区</a:t>
            </a:r>
            <a:endParaRPr lang="en-US" altLang="zh-CN" b="1" dirty="0">
              <a:latin typeface="微软雅黑" panose="020B0503020204020204" pitchFamily="34" charset="-122"/>
              <a:ea typeface="微软雅黑" panose="020B0503020204020204" pitchFamily="34" charset="-122"/>
            </a:endParaRPr>
          </a:p>
        </p:txBody>
      </p:sp>
      <p:sp>
        <p:nvSpPr>
          <p:cNvPr id="22" name="矩形 21"/>
          <p:cNvSpPr/>
          <p:nvPr/>
        </p:nvSpPr>
        <p:spPr>
          <a:xfrm>
            <a:off x="10398618" y="3988473"/>
            <a:ext cx="1076325" cy="2640929"/>
          </a:xfrm>
          <a:prstGeom prst="rect">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矩形 23"/>
          <p:cNvSpPr/>
          <p:nvPr/>
        </p:nvSpPr>
        <p:spPr>
          <a:xfrm>
            <a:off x="10570962" y="3649918"/>
            <a:ext cx="731639" cy="338554"/>
          </a:xfrm>
          <a:prstGeom prst="rect">
            <a:avLst/>
          </a:prstGeom>
        </p:spPr>
        <p:txBody>
          <a:bodyPr wrap="square">
            <a:spAutoFit/>
          </a:bodyPr>
          <a:lstStyle/>
          <a:p>
            <a:r>
              <a:rPr lang="en-US" altLang="zh-CN" sz="1600" dirty="0">
                <a:latin typeface="微软雅黑" panose="020B0503020204020204" pitchFamily="34" charset="-122"/>
                <a:ea typeface="微软雅黑" panose="020B0503020204020204" pitchFamily="34" charset="-122"/>
              </a:rPr>
              <a:t>stack</a:t>
            </a:r>
          </a:p>
        </p:txBody>
      </p:sp>
      <p:sp>
        <p:nvSpPr>
          <p:cNvPr id="25" name="矩形 24"/>
          <p:cNvSpPr/>
          <p:nvPr/>
        </p:nvSpPr>
        <p:spPr>
          <a:xfrm>
            <a:off x="10398618" y="4670905"/>
            <a:ext cx="1076325" cy="301147"/>
          </a:xfrm>
          <a:prstGeom prst="rect">
            <a:avLst/>
          </a:prstGeom>
          <a:solidFill>
            <a:schemeClr val="accent1">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rPr>
              <a:t>name</a:t>
            </a:r>
            <a:endParaRPr lang="zh-CN" altLang="en-US" dirty="0">
              <a:solidFill>
                <a:schemeClr val="tx1"/>
              </a:solidFill>
            </a:endParaRPr>
          </a:p>
        </p:txBody>
      </p:sp>
      <p:sp>
        <p:nvSpPr>
          <p:cNvPr id="28" name="左大括号 27"/>
          <p:cNvSpPr/>
          <p:nvPr/>
        </p:nvSpPr>
        <p:spPr>
          <a:xfrm>
            <a:off x="10193982" y="4670906"/>
            <a:ext cx="204636" cy="1510820"/>
          </a:xfrm>
          <a:prstGeom prst="leftBrac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29" name="矩形 28"/>
          <p:cNvSpPr/>
          <p:nvPr/>
        </p:nvSpPr>
        <p:spPr>
          <a:xfrm>
            <a:off x="8703706" y="5164706"/>
            <a:ext cx="1490276" cy="523220"/>
          </a:xfrm>
          <a:prstGeom prst="rect">
            <a:avLst/>
          </a:prstGeom>
        </p:spPr>
        <p:txBody>
          <a:bodyPr wrap="square">
            <a:spAutoFit/>
          </a:bodyPr>
          <a:lstStyle/>
          <a:p>
            <a:r>
              <a:rPr lang="en-US" altLang="zh-CN" sz="1400" dirty="0" err="1">
                <a:latin typeface="微软雅黑" panose="020B0503020204020204" pitchFamily="34" charset="-122"/>
                <a:ea typeface="微软雅黑" panose="020B0503020204020204" pitchFamily="34" charset="-122"/>
              </a:rPr>
              <a:t>GetFromFile</a:t>
            </a:r>
            <a:r>
              <a:rPr lang="zh-CN" altLang="en-US" sz="1400" dirty="0">
                <a:latin typeface="微软雅黑" panose="020B0503020204020204" pitchFamily="34" charset="-122"/>
                <a:ea typeface="微软雅黑" panose="020B0503020204020204" pitchFamily="34" charset="-122"/>
              </a:rPr>
              <a:t>函数栈空间</a:t>
            </a:r>
            <a:endParaRPr lang="en-US" altLang="zh-CN" sz="1400" dirty="0">
              <a:latin typeface="微软雅黑" panose="020B0503020204020204" pitchFamily="34" charset="-122"/>
              <a:ea typeface="微软雅黑" panose="020B0503020204020204" pitchFamily="34" charset="-122"/>
            </a:endParaRPr>
          </a:p>
        </p:txBody>
      </p:sp>
      <p:sp>
        <p:nvSpPr>
          <p:cNvPr id="30" name="矩形 29"/>
          <p:cNvSpPr/>
          <p:nvPr/>
        </p:nvSpPr>
        <p:spPr>
          <a:xfrm>
            <a:off x="10398618" y="4972051"/>
            <a:ext cx="1076325" cy="1209675"/>
          </a:xfrm>
          <a:prstGeom prst="rect">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rPr>
              <a:t>……</a:t>
            </a:r>
            <a:endParaRPr lang="zh-CN" altLang="en-US" dirty="0">
              <a:solidFill>
                <a:schemeClr val="tx1"/>
              </a:solidFill>
            </a:endParaRPr>
          </a:p>
        </p:txBody>
      </p:sp>
      <p:sp>
        <p:nvSpPr>
          <p:cNvPr id="36" name="矩形 35"/>
          <p:cNvSpPr/>
          <p:nvPr/>
        </p:nvSpPr>
        <p:spPr>
          <a:xfrm>
            <a:off x="4394091" y="4443500"/>
            <a:ext cx="3851675" cy="2308324"/>
          </a:xfrm>
          <a:prstGeom prst="rect">
            <a:avLst/>
          </a:prstGeom>
        </p:spPr>
        <p:txBody>
          <a:bodyPr wrap="square">
            <a:spAutoFit/>
          </a:bodyPr>
          <a:lstStyle/>
          <a:p>
            <a:r>
              <a:rPr lang="zh-CN" altLang="en-US" dirty="0">
                <a:latin typeface="微软雅黑" panose="020B0503020204020204" pitchFamily="34" charset="-122"/>
                <a:ea typeface="微软雅黑" panose="020B0503020204020204" pitchFamily="34" charset="-122"/>
              </a:rPr>
              <a:t>这是因为，</a:t>
            </a:r>
            <a:r>
              <a:rPr lang="en-US" altLang="zh-CN" dirty="0">
                <a:latin typeface="微软雅黑" panose="020B0503020204020204" pitchFamily="34" charset="-122"/>
                <a:ea typeface="微软雅黑" panose="020B0503020204020204" pitchFamily="34" charset="-122"/>
              </a:rPr>
              <a:t>C++11</a:t>
            </a:r>
            <a:r>
              <a:rPr lang="zh-CN" altLang="en-US" dirty="0">
                <a:latin typeface="微软雅黑" panose="020B0503020204020204" pitchFamily="34" charset="-122"/>
                <a:ea typeface="微软雅黑" panose="020B0503020204020204" pitchFamily="34" charset="-122"/>
              </a:rPr>
              <a:t>中规定了</a:t>
            </a:r>
            <a:r>
              <a:rPr lang="zh-CN" altLang="en-US" b="1" dirty="0">
                <a:latin typeface="微软雅黑" panose="020B0503020204020204" pitchFamily="34" charset="-122"/>
                <a:ea typeface="微软雅黑" panose="020B0503020204020204" pitchFamily="34" charset="-122"/>
              </a:rPr>
              <a:t>返回值优化</a:t>
            </a:r>
            <a:r>
              <a:rPr lang="zh-CN" altLang="en-US" dirty="0">
                <a:latin typeface="微软雅黑" panose="020B0503020204020204" pitchFamily="34" charset="-122"/>
                <a:ea typeface="微软雅黑" panose="020B0503020204020204" pitchFamily="34" charset="-122"/>
              </a:rPr>
              <a:t>的条件。当函数返回的是其内部定义的局部变量时，编译器会让该变量直接在被返回的位置上构造，省略掉拷贝或移动的开销。</a:t>
            </a:r>
            <a:endParaRPr lang="en-US" altLang="zh-CN" dirty="0">
              <a:latin typeface="微软雅黑" panose="020B0503020204020204" pitchFamily="34" charset="-122"/>
              <a:ea typeface="微软雅黑" panose="020B0503020204020204" pitchFamily="34" charset="-122"/>
            </a:endParaRPr>
          </a:p>
          <a:p>
            <a:r>
              <a:rPr lang="zh-CN" altLang="en-US" dirty="0">
                <a:latin typeface="微软雅黑" panose="020B0503020204020204" pitchFamily="34" charset="-122"/>
                <a:ea typeface="微软雅黑" panose="020B0503020204020204" pitchFamily="34" charset="-122"/>
              </a:rPr>
              <a:t>手工加入的</a:t>
            </a:r>
            <a:r>
              <a:rPr lang="en-US" altLang="zh-CN" b="1" dirty="0" err="1">
                <a:latin typeface="微软雅黑" panose="020B0503020204020204" pitchFamily="34" charset="-122"/>
                <a:ea typeface="微软雅黑" panose="020B0503020204020204" pitchFamily="34" charset="-122"/>
              </a:rPr>
              <a:t>std</a:t>
            </a:r>
            <a:r>
              <a:rPr lang="en-US" altLang="zh-CN" b="1" dirty="0">
                <a:latin typeface="微软雅黑" panose="020B0503020204020204" pitchFamily="34" charset="-122"/>
                <a:ea typeface="微软雅黑" panose="020B0503020204020204" pitchFamily="34" charset="-122"/>
              </a:rPr>
              <a:t>::move</a:t>
            </a:r>
            <a:r>
              <a:rPr lang="zh-CN" altLang="en-US" dirty="0">
                <a:latin typeface="微软雅黑" panose="020B0503020204020204" pitchFamily="34" charset="-122"/>
                <a:ea typeface="微软雅黑" panose="020B0503020204020204" pitchFamily="34" charset="-122"/>
              </a:rPr>
              <a:t>导致</a:t>
            </a:r>
            <a:r>
              <a:rPr lang="en-US" altLang="zh-CN" dirty="0">
                <a:latin typeface="微软雅黑" panose="020B0503020204020204" pitchFamily="34" charset="-122"/>
                <a:ea typeface="微软雅黑" panose="020B0503020204020204" pitchFamily="34" charset="-122"/>
              </a:rPr>
              <a:t>return</a:t>
            </a:r>
            <a:r>
              <a:rPr lang="zh-CN" altLang="en-US" dirty="0">
                <a:latin typeface="微软雅黑" panose="020B0503020204020204" pitchFamily="34" charset="-122"/>
                <a:ea typeface="微软雅黑" panose="020B0503020204020204" pitchFamily="34" charset="-122"/>
              </a:rPr>
              <a:t>类型和返回类型不一致，反倒阻止了返回值优化。</a:t>
            </a:r>
            <a:endParaRPr lang="en-US" altLang="zh-CN" dirty="0">
              <a:latin typeface="微软雅黑" panose="020B0503020204020204" pitchFamily="34" charset="-122"/>
              <a:ea typeface="微软雅黑" panose="020B0503020204020204" pitchFamily="34" charset="-122"/>
            </a:endParaRPr>
          </a:p>
        </p:txBody>
      </p:sp>
      <p:sp>
        <p:nvSpPr>
          <p:cNvPr id="37" name="矩形 36"/>
          <p:cNvSpPr/>
          <p:nvPr/>
        </p:nvSpPr>
        <p:spPr>
          <a:xfrm>
            <a:off x="313445" y="4933675"/>
            <a:ext cx="3851675" cy="1200329"/>
          </a:xfrm>
          <a:prstGeom prst="rect">
            <a:avLst/>
          </a:prstGeom>
        </p:spPr>
        <p:txBody>
          <a:bodyPr wrap="square">
            <a:spAutoFit/>
          </a:bodyPr>
          <a:lstStyle/>
          <a:p>
            <a:r>
              <a:rPr lang="zh-CN" altLang="en-US" dirty="0">
                <a:latin typeface="微软雅黑" panose="020B0503020204020204" pitchFamily="34" charset="-122"/>
                <a:ea typeface="微软雅黑" panose="020B0503020204020204" pitchFamily="34" charset="-122"/>
              </a:rPr>
              <a:t>即使编译器因某些原因无法做返回值优化，</a:t>
            </a:r>
            <a:r>
              <a:rPr lang="en-US" altLang="zh-CN" dirty="0">
                <a:latin typeface="微软雅黑" panose="020B0503020204020204" pitchFamily="34" charset="-122"/>
                <a:ea typeface="微软雅黑" panose="020B0503020204020204" pitchFamily="34" charset="-122"/>
              </a:rPr>
              <a:t>C++11</a:t>
            </a:r>
            <a:r>
              <a:rPr lang="zh-CN" altLang="en-US" dirty="0">
                <a:latin typeface="微软雅黑" panose="020B0503020204020204" pitchFamily="34" charset="-122"/>
                <a:ea typeface="微软雅黑" panose="020B0503020204020204" pitchFamily="34" charset="-122"/>
              </a:rPr>
              <a:t>也规定编译器在此场景下必须生成移动操作，因此不要手写</a:t>
            </a:r>
            <a:r>
              <a:rPr lang="en-US" altLang="zh-CN" b="1" dirty="0" err="1">
                <a:latin typeface="微软雅黑" panose="020B0503020204020204" pitchFamily="34" charset="-122"/>
                <a:ea typeface="微软雅黑" panose="020B0503020204020204" pitchFamily="34" charset="-122"/>
              </a:rPr>
              <a:t>std</a:t>
            </a:r>
            <a:r>
              <a:rPr lang="en-US" altLang="zh-CN" b="1" dirty="0">
                <a:latin typeface="微软雅黑" panose="020B0503020204020204" pitchFamily="34" charset="-122"/>
                <a:ea typeface="微软雅黑" panose="020B0503020204020204" pitchFamily="34" charset="-122"/>
              </a:rPr>
              <a:t>::move</a:t>
            </a:r>
          </a:p>
        </p:txBody>
      </p:sp>
      <p:sp>
        <p:nvSpPr>
          <p:cNvPr id="38" name="左大括号 37"/>
          <p:cNvSpPr/>
          <p:nvPr/>
        </p:nvSpPr>
        <p:spPr>
          <a:xfrm>
            <a:off x="10193982" y="4023019"/>
            <a:ext cx="204636" cy="1510820"/>
          </a:xfrm>
          <a:prstGeom prst="leftBrac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39" name="矩形 38"/>
          <p:cNvSpPr/>
          <p:nvPr/>
        </p:nvSpPr>
        <p:spPr>
          <a:xfrm>
            <a:off x="8703706" y="4578919"/>
            <a:ext cx="1490276" cy="307777"/>
          </a:xfrm>
          <a:prstGeom prst="rect">
            <a:avLst/>
          </a:prstGeom>
        </p:spPr>
        <p:txBody>
          <a:bodyPr wrap="square">
            <a:spAutoFit/>
          </a:bodyPr>
          <a:lstStyle/>
          <a:p>
            <a:r>
              <a:rPr lang="zh-CN" altLang="en-US" sz="1400" dirty="0">
                <a:latin typeface="微软雅黑" panose="020B0503020204020204" pitchFamily="34" charset="-122"/>
                <a:ea typeface="微软雅黑" panose="020B0503020204020204" pitchFamily="34" charset="-122"/>
              </a:rPr>
              <a:t>上层函数栈空间</a:t>
            </a:r>
            <a:endParaRPr lang="en-US" altLang="zh-CN" sz="1400" dirty="0">
              <a:latin typeface="微软雅黑" panose="020B0503020204020204" pitchFamily="34" charset="-122"/>
              <a:ea typeface="微软雅黑" panose="020B0503020204020204" pitchFamily="34" charset="-122"/>
            </a:endParaRPr>
          </a:p>
        </p:txBody>
      </p:sp>
      <p:grpSp>
        <p:nvGrpSpPr>
          <p:cNvPr id="20" name="组合 19"/>
          <p:cNvGrpSpPr/>
          <p:nvPr/>
        </p:nvGrpSpPr>
        <p:grpSpPr>
          <a:xfrm>
            <a:off x="429014" y="234192"/>
            <a:ext cx="6915125" cy="505969"/>
            <a:chOff x="321760" y="175643"/>
            <a:chExt cx="5186344" cy="379477"/>
          </a:xfrm>
        </p:grpSpPr>
        <p:sp>
          <p:nvSpPr>
            <p:cNvPr id="21" name="Title 1">
              <a:extLst>
                <a:ext uri="{FF2B5EF4-FFF2-40B4-BE49-F238E27FC236}">
                  <a16:creationId xmlns:a16="http://schemas.microsoft.com/office/drawing/2014/main" id="{6892040A-94F3-474F-8198-4204E9168CEC}"/>
                </a:ext>
              </a:extLst>
            </p:cNvPr>
            <p:cNvSpPr txBox="1">
              <a:spLocks/>
            </p:cNvSpPr>
            <p:nvPr/>
          </p:nvSpPr>
          <p:spPr>
            <a:xfrm>
              <a:off x="611560" y="175643"/>
              <a:ext cx="4896544" cy="379477"/>
            </a:xfrm>
            <a:prstGeom prst="rect">
              <a:avLst/>
            </a:prstGeom>
          </p:spPr>
          <p:txBody>
            <a:bodyPr lIns="0" rIns="0"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itchFamily="2" charset="0"/>
                  <a:cs typeface="Open Sans Light" panose="020B0306030504020204" pitchFamily="34" charset="0"/>
                </a:defRPr>
              </a:lvl1pPr>
            </a:lstStyle>
            <a:p>
              <a:pPr algn="l"/>
              <a:r>
                <a:rPr lang="zh-CN" altLang="en-US" sz="2400" dirty="0">
                  <a:solidFill>
                    <a:schemeClr val="tx1">
                      <a:lumMod val="65000"/>
                      <a:lumOff val="35000"/>
                    </a:schemeClr>
                  </a:solidFill>
                  <a:latin typeface="+mn-lt"/>
                  <a:ea typeface="+mn-ea"/>
                  <a:cs typeface="+mn-ea"/>
                  <a:sym typeface="+mn-lt"/>
                </a:rPr>
                <a:t>返回值优化（</a:t>
              </a:r>
              <a:r>
                <a:rPr lang="en-US" altLang="zh-CN" sz="2400" dirty="0">
                  <a:solidFill>
                    <a:schemeClr val="tx1">
                      <a:lumMod val="65000"/>
                      <a:lumOff val="35000"/>
                    </a:schemeClr>
                  </a:solidFill>
                  <a:latin typeface="+mn-lt"/>
                  <a:ea typeface="+mn-ea"/>
                  <a:cs typeface="+mn-ea"/>
                  <a:sym typeface="+mn-lt"/>
                </a:rPr>
                <a:t>RVO</a:t>
              </a:r>
              <a:r>
                <a:rPr lang="zh-CN" altLang="en-US" sz="2400" dirty="0">
                  <a:solidFill>
                    <a:schemeClr val="tx1">
                      <a:lumMod val="65000"/>
                      <a:lumOff val="35000"/>
                    </a:schemeClr>
                  </a:solidFill>
                  <a:latin typeface="+mn-lt"/>
                  <a:ea typeface="+mn-ea"/>
                  <a:cs typeface="+mn-ea"/>
                  <a:sym typeface="+mn-lt"/>
                </a:rPr>
                <a:t>）</a:t>
              </a:r>
            </a:p>
          </p:txBody>
        </p:sp>
        <p:sp>
          <p:nvSpPr>
            <p:cNvPr id="23" name="Diamond 33">
              <a:extLst>
                <a:ext uri="{FF2B5EF4-FFF2-40B4-BE49-F238E27FC236}">
                  <a16:creationId xmlns:a16="http://schemas.microsoft.com/office/drawing/2014/main" id="{88651C82-D860-43A5-951F-058DAA88FBBC}"/>
                </a:ext>
              </a:extLst>
            </p:cNvPr>
            <p:cNvSpPr/>
            <p:nvPr/>
          </p:nvSpPr>
          <p:spPr>
            <a:xfrm>
              <a:off x="321760" y="254774"/>
              <a:ext cx="250083" cy="250083"/>
            </a:xfrm>
            <a:prstGeom prst="diamond">
              <a:avLst/>
            </a:prstGeom>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anchor="ctr">
              <a:normAutofit fontScale="55000" lnSpcReduction="20000"/>
            </a:bodyPr>
            <a:lstStyle/>
            <a:p>
              <a:pPr algn="ctr"/>
              <a:endParaRPr lang="en-US" altLang="zh-CN" sz="2400" dirty="0">
                <a:solidFill>
                  <a:schemeClr val="bg1"/>
                </a:solidFill>
                <a:cs typeface="+mn-ea"/>
                <a:sym typeface="+mn-lt"/>
              </a:endParaRPr>
            </a:p>
          </p:txBody>
        </p:sp>
      </p:grpSp>
    </p:spTree>
    <p:extLst>
      <p:ext uri="{BB962C8B-B14F-4D97-AF65-F5344CB8AC3E}">
        <p14:creationId xmlns:p14="http://schemas.microsoft.com/office/powerpoint/2010/main" val="2109024430"/>
      </p:ext>
    </p:extLst>
  </p:cSld>
  <p:clrMapOvr>
    <a:masterClrMapping/>
  </p:clrMapOvr>
  <p:transition advClick="0" advTm="8000"/>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fade">
                                      <p:cBhvr>
                                        <p:cTn id="7" dur="500"/>
                                        <p:tgtEl>
                                          <p:spTgt spid="16"/>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7"/>
                                        </p:tgtEl>
                                        <p:attrNameLst>
                                          <p:attrName>style.visibility</p:attrName>
                                        </p:attrNameLst>
                                      </p:cBhvr>
                                      <p:to>
                                        <p:strVal val="visible"/>
                                      </p:to>
                                    </p:set>
                                    <p:animEffect transition="in" filter="fade">
                                      <p:cBhvr>
                                        <p:cTn id="10" dur="500"/>
                                        <p:tgtEl>
                                          <p:spTgt spid="17"/>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5"/>
                                        </p:tgtEl>
                                        <p:attrNameLst>
                                          <p:attrName>style.visibility</p:attrName>
                                        </p:attrNameLst>
                                      </p:cBhvr>
                                      <p:to>
                                        <p:strVal val="visible"/>
                                      </p:to>
                                    </p:set>
                                    <p:animEffect transition="in" filter="fade">
                                      <p:cBhvr>
                                        <p:cTn id="15" dur="500"/>
                                        <p:tgtEl>
                                          <p:spTgt spid="5"/>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9"/>
                                        </p:tgtEl>
                                        <p:attrNameLst>
                                          <p:attrName>style.visibility</p:attrName>
                                        </p:attrNameLst>
                                      </p:cBhvr>
                                      <p:to>
                                        <p:strVal val="visible"/>
                                      </p:to>
                                    </p:set>
                                    <p:animEffect transition="in" filter="fade">
                                      <p:cBhvr>
                                        <p:cTn id="18" dur="500"/>
                                        <p:tgtEl>
                                          <p:spTgt spid="19"/>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28"/>
                                        </p:tgtEl>
                                        <p:attrNameLst>
                                          <p:attrName>style.visibility</p:attrName>
                                        </p:attrNameLst>
                                      </p:cBhvr>
                                      <p:to>
                                        <p:strVal val="visible"/>
                                      </p:to>
                                    </p:set>
                                    <p:animEffect transition="in" filter="fade">
                                      <p:cBhvr>
                                        <p:cTn id="23" dur="500"/>
                                        <p:tgtEl>
                                          <p:spTgt spid="28"/>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25"/>
                                        </p:tgtEl>
                                        <p:attrNameLst>
                                          <p:attrName>style.visibility</p:attrName>
                                        </p:attrNameLst>
                                      </p:cBhvr>
                                      <p:to>
                                        <p:strVal val="visible"/>
                                      </p:to>
                                    </p:set>
                                    <p:animEffect transition="in" filter="fade">
                                      <p:cBhvr>
                                        <p:cTn id="26" dur="500"/>
                                        <p:tgtEl>
                                          <p:spTgt spid="25"/>
                                        </p:tgtEl>
                                      </p:cBhvr>
                                    </p:animEffect>
                                  </p:childTnLst>
                                </p:cTn>
                              </p:par>
                              <p:par>
                                <p:cTn id="27" presetID="10" presetClass="entr" presetSubtype="0" fill="hold" grpId="1" nodeType="withEffect">
                                  <p:stCondLst>
                                    <p:cond delay="0"/>
                                  </p:stCondLst>
                                  <p:childTnLst>
                                    <p:set>
                                      <p:cBhvr>
                                        <p:cTn id="28" dur="1" fill="hold">
                                          <p:stCondLst>
                                            <p:cond delay="0"/>
                                          </p:stCondLst>
                                        </p:cTn>
                                        <p:tgtEl>
                                          <p:spTgt spid="30"/>
                                        </p:tgtEl>
                                        <p:attrNameLst>
                                          <p:attrName>style.visibility</p:attrName>
                                        </p:attrNameLst>
                                      </p:cBhvr>
                                      <p:to>
                                        <p:strVal val="visible"/>
                                      </p:to>
                                    </p:set>
                                    <p:animEffect transition="in" filter="fade">
                                      <p:cBhvr>
                                        <p:cTn id="29" dur="500"/>
                                        <p:tgtEl>
                                          <p:spTgt spid="30"/>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22"/>
                                        </p:tgtEl>
                                        <p:attrNameLst>
                                          <p:attrName>style.visibility</p:attrName>
                                        </p:attrNameLst>
                                      </p:cBhvr>
                                      <p:to>
                                        <p:strVal val="visible"/>
                                      </p:to>
                                    </p:set>
                                    <p:animEffect transition="in" filter="fade">
                                      <p:cBhvr>
                                        <p:cTn id="32" dur="500"/>
                                        <p:tgtEl>
                                          <p:spTgt spid="22"/>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24"/>
                                        </p:tgtEl>
                                        <p:attrNameLst>
                                          <p:attrName>style.visibility</p:attrName>
                                        </p:attrNameLst>
                                      </p:cBhvr>
                                      <p:to>
                                        <p:strVal val="visible"/>
                                      </p:to>
                                    </p:set>
                                    <p:animEffect transition="in" filter="fade">
                                      <p:cBhvr>
                                        <p:cTn id="35" dur="500"/>
                                        <p:tgtEl>
                                          <p:spTgt spid="24"/>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29"/>
                                        </p:tgtEl>
                                        <p:attrNameLst>
                                          <p:attrName>style.visibility</p:attrName>
                                        </p:attrNameLst>
                                      </p:cBhvr>
                                      <p:to>
                                        <p:strVal val="visible"/>
                                      </p:to>
                                    </p:set>
                                    <p:animEffect transition="in" filter="fade">
                                      <p:cBhvr>
                                        <p:cTn id="38" dur="500"/>
                                        <p:tgtEl>
                                          <p:spTgt spid="29"/>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36"/>
                                        </p:tgtEl>
                                        <p:attrNameLst>
                                          <p:attrName>style.visibility</p:attrName>
                                        </p:attrNameLst>
                                      </p:cBhvr>
                                      <p:to>
                                        <p:strVal val="visible"/>
                                      </p:to>
                                    </p:set>
                                    <p:animEffect transition="in" filter="fade">
                                      <p:cBhvr>
                                        <p:cTn id="41" dur="500"/>
                                        <p:tgtEl>
                                          <p:spTgt spid="36"/>
                                        </p:tgtEl>
                                      </p:cBhvr>
                                    </p:animEffect>
                                  </p:childTnLst>
                                </p:cTn>
                              </p:par>
                            </p:childTnLst>
                          </p:cTn>
                        </p:par>
                      </p:childTnLst>
                    </p:cTn>
                  </p:par>
                  <p:par>
                    <p:cTn id="42" fill="hold">
                      <p:stCondLst>
                        <p:cond delay="indefinite"/>
                      </p:stCondLst>
                      <p:childTnLst>
                        <p:par>
                          <p:cTn id="43" fill="hold">
                            <p:stCondLst>
                              <p:cond delay="0"/>
                            </p:stCondLst>
                            <p:childTnLst>
                              <p:par>
                                <p:cTn id="44" presetID="10" presetClass="exit" presetSubtype="0" fill="hold" grpId="1" nodeType="clickEffect">
                                  <p:stCondLst>
                                    <p:cond delay="0"/>
                                  </p:stCondLst>
                                  <p:childTnLst>
                                    <p:animEffect transition="out" filter="fade">
                                      <p:cBhvr>
                                        <p:cTn id="45" dur="500"/>
                                        <p:tgtEl>
                                          <p:spTgt spid="28"/>
                                        </p:tgtEl>
                                      </p:cBhvr>
                                    </p:animEffect>
                                    <p:set>
                                      <p:cBhvr>
                                        <p:cTn id="46" dur="1" fill="hold">
                                          <p:stCondLst>
                                            <p:cond delay="499"/>
                                          </p:stCondLst>
                                        </p:cTn>
                                        <p:tgtEl>
                                          <p:spTgt spid="28"/>
                                        </p:tgtEl>
                                        <p:attrNameLst>
                                          <p:attrName>style.visibility</p:attrName>
                                        </p:attrNameLst>
                                      </p:cBhvr>
                                      <p:to>
                                        <p:strVal val="hidden"/>
                                      </p:to>
                                    </p:set>
                                  </p:childTnLst>
                                </p:cTn>
                              </p:par>
                              <p:par>
                                <p:cTn id="47" presetID="10" presetClass="exit" presetSubtype="0" fill="hold" grpId="1" nodeType="withEffect">
                                  <p:stCondLst>
                                    <p:cond delay="0"/>
                                  </p:stCondLst>
                                  <p:childTnLst>
                                    <p:animEffect transition="out" filter="fade">
                                      <p:cBhvr>
                                        <p:cTn id="48" dur="500"/>
                                        <p:tgtEl>
                                          <p:spTgt spid="29"/>
                                        </p:tgtEl>
                                      </p:cBhvr>
                                    </p:animEffect>
                                    <p:set>
                                      <p:cBhvr>
                                        <p:cTn id="49" dur="1" fill="hold">
                                          <p:stCondLst>
                                            <p:cond delay="499"/>
                                          </p:stCondLst>
                                        </p:cTn>
                                        <p:tgtEl>
                                          <p:spTgt spid="29"/>
                                        </p:tgtEl>
                                        <p:attrNameLst>
                                          <p:attrName>style.visibility</p:attrName>
                                        </p:attrNameLst>
                                      </p:cBhvr>
                                      <p:to>
                                        <p:strVal val="hidden"/>
                                      </p:to>
                                    </p:set>
                                  </p:childTnLst>
                                </p:cTn>
                              </p:par>
                              <p:par>
                                <p:cTn id="50" presetID="10" presetClass="exit" presetSubtype="0" fill="hold" grpId="0" nodeType="withEffect">
                                  <p:stCondLst>
                                    <p:cond delay="0"/>
                                  </p:stCondLst>
                                  <p:childTnLst>
                                    <p:animEffect transition="out" filter="fade">
                                      <p:cBhvr>
                                        <p:cTn id="51" dur="500"/>
                                        <p:tgtEl>
                                          <p:spTgt spid="30"/>
                                        </p:tgtEl>
                                      </p:cBhvr>
                                    </p:animEffect>
                                    <p:set>
                                      <p:cBhvr>
                                        <p:cTn id="52" dur="1" fill="hold">
                                          <p:stCondLst>
                                            <p:cond delay="499"/>
                                          </p:stCondLst>
                                        </p:cTn>
                                        <p:tgtEl>
                                          <p:spTgt spid="30"/>
                                        </p:tgtEl>
                                        <p:attrNameLst>
                                          <p:attrName>style.visibility</p:attrName>
                                        </p:attrNameLst>
                                      </p:cBhvr>
                                      <p:to>
                                        <p:strVal val="hidden"/>
                                      </p:to>
                                    </p:set>
                                  </p:childTnLst>
                                </p:cTn>
                              </p:par>
                              <p:par>
                                <p:cTn id="53" presetID="10" presetClass="entr" presetSubtype="0" fill="hold" grpId="0" nodeType="withEffect">
                                  <p:stCondLst>
                                    <p:cond delay="0"/>
                                  </p:stCondLst>
                                  <p:childTnLst>
                                    <p:set>
                                      <p:cBhvr>
                                        <p:cTn id="54" dur="1" fill="hold">
                                          <p:stCondLst>
                                            <p:cond delay="0"/>
                                          </p:stCondLst>
                                        </p:cTn>
                                        <p:tgtEl>
                                          <p:spTgt spid="38"/>
                                        </p:tgtEl>
                                        <p:attrNameLst>
                                          <p:attrName>style.visibility</p:attrName>
                                        </p:attrNameLst>
                                      </p:cBhvr>
                                      <p:to>
                                        <p:strVal val="visible"/>
                                      </p:to>
                                    </p:set>
                                    <p:animEffect transition="in" filter="fade">
                                      <p:cBhvr>
                                        <p:cTn id="55" dur="500"/>
                                        <p:tgtEl>
                                          <p:spTgt spid="38"/>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39"/>
                                        </p:tgtEl>
                                        <p:attrNameLst>
                                          <p:attrName>style.visibility</p:attrName>
                                        </p:attrNameLst>
                                      </p:cBhvr>
                                      <p:to>
                                        <p:strVal val="visible"/>
                                      </p:to>
                                    </p:set>
                                    <p:animEffect transition="in" filter="fade">
                                      <p:cBhvr>
                                        <p:cTn id="58" dur="500"/>
                                        <p:tgtEl>
                                          <p:spTgt spid="39"/>
                                        </p:tgtEl>
                                      </p:cBhvr>
                                    </p:animEffect>
                                  </p:childTnLst>
                                </p:cTn>
                              </p:par>
                            </p:childTnLst>
                          </p:cTn>
                        </p:par>
                      </p:childTnLst>
                    </p:cTn>
                  </p:par>
                  <p:par>
                    <p:cTn id="59" fill="hold">
                      <p:stCondLst>
                        <p:cond delay="indefinite"/>
                      </p:stCondLst>
                      <p:childTnLst>
                        <p:par>
                          <p:cTn id="60" fill="hold">
                            <p:stCondLst>
                              <p:cond delay="0"/>
                            </p:stCondLst>
                            <p:childTnLst>
                              <p:par>
                                <p:cTn id="61" presetID="10" presetClass="entr" presetSubtype="0" fill="hold" grpId="0" nodeType="clickEffect">
                                  <p:stCondLst>
                                    <p:cond delay="0"/>
                                  </p:stCondLst>
                                  <p:childTnLst>
                                    <p:set>
                                      <p:cBhvr>
                                        <p:cTn id="62" dur="1" fill="hold">
                                          <p:stCondLst>
                                            <p:cond delay="0"/>
                                          </p:stCondLst>
                                        </p:cTn>
                                        <p:tgtEl>
                                          <p:spTgt spid="37"/>
                                        </p:tgtEl>
                                        <p:attrNameLst>
                                          <p:attrName>style.visibility</p:attrName>
                                        </p:attrNameLst>
                                      </p:cBhvr>
                                      <p:to>
                                        <p:strVal val="visible"/>
                                      </p:to>
                                    </p:set>
                                    <p:animEffect transition="in" filter="fade">
                                      <p:cBhvr>
                                        <p:cTn id="63" dur="500"/>
                                        <p:tgtEl>
                                          <p:spTgt spid="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P spid="17" grpId="0"/>
      <p:bldP spid="5" grpId="0" animBg="1"/>
      <p:bldP spid="19" grpId="0"/>
      <p:bldP spid="22" grpId="0" animBg="1"/>
      <p:bldP spid="24" grpId="0"/>
      <p:bldP spid="25" grpId="0" animBg="1"/>
      <p:bldP spid="28" grpId="0" animBg="1"/>
      <p:bldP spid="28" grpId="1" animBg="1"/>
      <p:bldP spid="29" grpId="0"/>
      <p:bldP spid="29" grpId="1"/>
      <p:bldP spid="30" grpId="0" animBg="1"/>
      <p:bldP spid="30" grpId="1" animBg="1"/>
      <p:bldP spid="36" grpId="0"/>
      <p:bldP spid="37" grpId="0"/>
      <p:bldP spid="38" grpId="0" animBg="1"/>
      <p:bldP spid="39"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p:nvPr/>
        </p:nvSpPr>
        <p:spPr>
          <a:xfrm>
            <a:off x="1415061" y="978398"/>
            <a:ext cx="9435703" cy="646331"/>
          </a:xfrm>
          <a:prstGeom prst="rect">
            <a:avLst/>
          </a:prstGeom>
        </p:spPr>
        <p:txBody>
          <a:bodyPr wrap="square">
            <a:spAutoFit/>
          </a:bodyPr>
          <a:lstStyle/>
          <a:p>
            <a:r>
              <a:rPr lang="zh-CN" altLang="en-US" dirty="0">
                <a:latin typeface="微软雅黑" panose="020B0503020204020204" pitchFamily="34" charset="-122"/>
                <a:ea typeface="微软雅黑" panose="020B0503020204020204" pitchFamily="34" charset="-122"/>
              </a:rPr>
              <a:t>类的一些成员函数，编译器会按照一定规则自动生成。</a:t>
            </a:r>
            <a:endParaRPr lang="en-US" altLang="zh-CN" dirty="0">
              <a:latin typeface="微软雅黑" panose="020B0503020204020204" pitchFamily="34" charset="-122"/>
              <a:ea typeface="微软雅黑" panose="020B0503020204020204" pitchFamily="34" charset="-122"/>
            </a:endParaRPr>
          </a:p>
          <a:p>
            <a:r>
              <a:rPr lang="en-US" altLang="zh-CN" dirty="0">
                <a:latin typeface="微软雅黑" panose="020B0503020204020204" pitchFamily="34" charset="-122"/>
                <a:ea typeface="微软雅黑" panose="020B0503020204020204" pitchFamily="34" charset="-122"/>
              </a:rPr>
              <a:t>C++11</a:t>
            </a:r>
            <a:r>
              <a:rPr lang="zh-CN" altLang="en-US" dirty="0">
                <a:latin typeface="微软雅黑" panose="020B0503020204020204" pitchFamily="34" charset="-122"/>
                <a:ea typeface="微软雅黑" panose="020B0503020204020204" pitchFamily="34" charset="-122"/>
              </a:rPr>
              <a:t>新加入了两个特殊成员函数：移动构造和移动赋值。</a:t>
            </a:r>
            <a:endParaRPr lang="en-US" altLang="zh-CN" dirty="0">
              <a:latin typeface="微软雅黑" panose="020B0503020204020204" pitchFamily="34" charset="-122"/>
              <a:ea typeface="微软雅黑" panose="020B0503020204020204" pitchFamily="34" charset="-122"/>
            </a:endParaRPr>
          </a:p>
        </p:txBody>
      </p:sp>
      <p:sp>
        <p:nvSpPr>
          <p:cNvPr id="2" name="矩形 1"/>
          <p:cNvSpPr/>
          <p:nvPr/>
        </p:nvSpPr>
        <p:spPr>
          <a:xfrm>
            <a:off x="2887861" y="1641040"/>
            <a:ext cx="6096000" cy="2585323"/>
          </a:xfrm>
          <a:prstGeom prst="rect">
            <a:avLst/>
          </a:prstGeom>
          <a:solidFill>
            <a:schemeClr val="tx1"/>
          </a:solidFill>
        </p:spPr>
        <p:txBody>
          <a:bodyPr>
            <a:spAutoFit/>
          </a:bodyPr>
          <a:lstStyle/>
          <a:p>
            <a:r>
              <a:rPr lang="en-US" altLang="zh-CN" dirty="0">
                <a:solidFill>
                  <a:srgbClr val="569CD6"/>
                </a:solidFill>
                <a:latin typeface="Lucida Console" panose="020B0609040504020204" pitchFamily="49" charset="0"/>
              </a:rPr>
              <a:t>class</a:t>
            </a:r>
            <a:r>
              <a:rPr lang="en-US" altLang="zh-CN" dirty="0">
                <a:solidFill>
                  <a:srgbClr val="D4D4D4"/>
                </a:solidFill>
                <a:latin typeface="Lucida Console" panose="020B0609040504020204" pitchFamily="49" charset="0"/>
              </a:rPr>
              <a:t> </a:t>
            </a:r>
            <a:r>
              <a:rPr lang="en-US" altLang="zh-CN" dirty="0" err="1">
                <a:solidFill>
                  <a:srgbClr val="4EC9B0"/>
                </a:solidFill>
                <a:latin typeface="Lucida Console" panose="020B0609040504020204" pitchFamily="49" charset="0"/>
              </a:rPr>
              <a:t>MyClass</a:t>
            </a:r>
            <a:r>
              <a:rPr lang="en-US" altLang="zh-CN" dirty="0">
                <a:solidFill>
                  <a:srgbClr val="D4D4D4"/>
                </a:solidFill>
                <a:latin typeface="Lucida Console" panose="020B0609040504020204" pitchFamily="49" charset="0"/>
              </a:rPr>
              <a:t> {</a:t>
            </a:r>
          </a:p>
          <a:p>
            <a:r>
              <a:rPr lang="en-US" altLang="zh-CN" dirty="0">
                <a:solidFill>
                  <a:srgbClr val="569CD6"/>
                </a:solidFill>
                <a:latin typeface="Lucida Console" panose="020B0609040504020204" pitchFamily="49" charset="0"/>
              </a:rPr>
              <a:t>public:</a:t>
            </a:r>
            <a:endParaRPr lang="en-US" altLang="zh-CN" dirty="0">
              <a:solidFill>
                <a:srgbClr val="D4D4D4"/>
              </a:solidFill>
              <a:latin typeface="Lucida Console" panose="020B0609040504020204" pitchFamily="49" charset="0"/>
            </a:endParaRPr>
          </a:p>
          <a:p>
            <a:r>
              <a:rPr lang="en-US" altLang="zh-CN" dirty="0">
                <a:solidFill>
                  <a:srgbClr val="D4D4D4"/>
                </a:solidFill>
                <a:latin typeface="Lucida Console" panose="020B0609040504020204" pitchFamily="49" charset="0"/>
              </a:rPr>
              <a:t>    </a:t>
            </a:r>
            <a:r>
              <a:rPr lang="en-US" altLang="zh-CN" dirty="0" err="1">
                <a:solidFill>
                  <a:srgbClr val="DCDCAA"/>
                </a:solidFill>
                <a:latin typeface="Lucida Console" panose="020B0609040504020204" pitchFamily="49" charset="0"/>
              </a:rPr>
              <a:t>MyClass</a:t>
            </a:r>
            <a:r>
              <a:rPr lang="en-US" altLang="zh-CN" dirty="0">
                <a:solidFill>
                  <a:srgbClr val="D4D4D4"/>
                </a:solidFill>
                <a:latin typeface="Lucida Console" panose="020B0609040504020204" pitchFamily="49" charset="0"/>
              </a:rPr>
              <a:t>();</a:t>
            </a:r>
          </a:p>
          <a:p>
            <a:r>
              <a:rPr lang="en-US" altLang="zh-CN" dirty="0">
                <a:solidFill>
                  <a:srgbClr val="D4D4D4"/>
                </a:solidFill>
                <a:latin typeface="Lucida Console" panose="020B0609040504020204" pitchFamily="49" charset="0"/>
              </a:rPr>
              <a:t>    </a:t>
            </a:r>
            <a:r>
              <a:rPr lang="en-US" altLang="zh-CN" dirty="0" err="1">
                <a:solidFill>
                  <a:srgbClr val="DCDCAA"/>
                </a:solidFill>
                <a:latin typeface="Lucida Console" panose="020B0609040504020204" pitchFamily="49" charset="0"/>
              </a:rPr>
              <a:t>MyClass</a:t>
            </a:r>
            <a:r>
              <a:rPr lang="en-US" altLang="zh-CN" dirty="0">
                <a:solidFill>
                  <a:srgbClr val="D4D4D4"/>
                </a:solidFill>
                <a:latin typeface="Lucida Console" panose="020B0609040504020204" pitchFamily="49" charset="0"/>
              </a:rPr>
              <a:t>(</a:t>
            </a:r>
            <a:r>
              <a:rPr lang="en-US" altLang="zh-CN" dirty="0" err="1">
                <a:solidFill>
                  <a:srgbClr val="569CD6"/>
                </a:solidFill>
                <a:latin typeface="Lucida Console" panose="020B0609040504020204" pitchFamily="49" charset="0"/>
              </a:rPr>
              <a:t>const</a:t>
            </a:r>
            <a:r>
              <a:rPr lang="en-US" altLang="zh-CN" dirty="0">
                <a:solidFill>
                  <a:srgbClr val="D4D4D4"/>
                </a:solidFill>
                <a:latin typeface="Lucida Console" panose="020B0609040504020204" pitchFamily="49" charset="0"/>
              </a:rPr>
              <a:t> </a:t>
            </a:r>
            <a:r>
              <a:rPr lang="en-US" altLang="zh-CN" dirty="0" err="1">
                <a:solidFill>
                  <a:srgbClr val="4EC9B0"/>
                </a:solidFill>
                <a:latin typeface="Lucida Console" panose="020B0609040504020204" pitchFamily="49" charset="0"/>
              </a:rPr>
              <a:t>MyClass</a:t>
            </a:r>
            <a:r>
              <a:rPr lang="en-US" altLang="zh-CN" dirty="0">
                <a:solidFill>
                  <a:srgbClr val="569CD6"/>
                </a:solidFill>
                <a:latin typeface="Lucida Console" panose="020B0609040504020204" pitchFamily="49" charset="0"/>
              </a:rPr>
              <a:t>&amp;</a:t>
            </a:r>
            <a:r>
              <a:rPr lang="en-US" altLang="zh-CN" dirty="0">
                <a:solidFill>
                  <a:srgbClr val="D4D4D4"/>
                </a:solidFill>
                <a:latin typeface="Lucida Console" panose="020B0609040504020204" pitchFamily="49" charset="0"/>
              </a:rPr>
              <a:t>);</a:t>
            </a:r>
          </a:p>
          <a:p>
            <a:r>
              <a:rPr lang="en-US" altLang="zh-CN" dirty="0">
                <a:solidFill>
                  <a:srgbClr val="D4D4D4"/>
                </a:solidFill>
                <a:latin typeface="Lucida Console" panose="020B0609040504020204" pitchFamily="49" charset="0"/>
              </a:rPr>
              <a:t>    </a:t>
            </a:r>
            <a:r>
              <a:rPr lang="en-US" altLang="zh-CN" dirty="0" err="1">
                <a:solidFill>
                  <a:srgbClr val="4EC9B0"/>
                </a:solidFill>
                <a:latin typeface="Lucida Console" panose="020B0609040504020204" pitchFamily="49" charset="0"/>
              </a:rPr>
              <a:t>MyClass</a:t>
            </a:r>
            <a:r>
              <a:rPr lang="en-US" altLang="zh-CN" dirty="0">
                <a:solidFill>
                  <a:srgbClr val="569CD6"/>
                </a:solidFill>
                <a:latin typeface="Lucida Console" panose="020B0609040504020204" pitchFamily="49" charset="0"/>
              </a:rPr>
              <a:t>&amp;</a:t>
            </a:r>
            <a:r>
              <a:rPr lang="en-US" altLang="zh-CN" dirty="0">
                <a:solidFill>
                  <a:srgbClr val="D4D4D4"/>
                </a:solidFill>
                <a:latin typeface="Lucida Console" panose="020B0609040504020204" pitchFamily="49" charset="0"/>
              </a:rPr>
              <a:t> </a:t>
            </a:r>
            <a:r>
              <a:rPr lang="en-US" altLang="zh-CN" dirty="0">
                <a:solidFill>
                  <a:srgbClr val="C586C0"/>
                </a:solidFill>
                <a:latin typeface="Lucida Console" panose="020B0609040504020204" pitchFamily="49" charset="0"/>
              </a:rPr>
              <a:t>operator=</a:t>
            </a:r>
            <a:r>
              <a:rPr lang="en-US" altLang="zh-CN" dirty="0">
                <a:solidFill>
                  <a:srgbClr val="D4D4D4"/>
                </a:solidFill>
                <a:latin typeface="Lucida Console" panose="020B0609040504020204" pitchFamily="49" charset="0"/>
              </a:rPr>
              <a:t>(</a:t>
            </a:r>
            <a:r>
              <a:rPr lang="en-US" altLang="zh-CN" dirty="0" err="1">
                <a:solidFill>
                  <a:srgbClr val="569CD6"/>
                </a:solidFill>
                <a:latin typeface="Lucida Console" panose="020B0609040504020204" pitchFamily="49" charset="0"/>
              </a:rPr>
              <a:t>const</a:t>
            </a:r>
            <a:r>
              <a:rPr lang="en-US" altLang="zh-CN" dirty="0">
                <a:solidFill>
                  <a:srgbClr val="D4D4D4"/>
                </a:solidFill>
                <a:latin typeface="Lucida Console" panose="020B0609040504020204" pitchFamily="49" charset="0"/>
              </a:rPr>
              <a:t> </a:t>
            </a:r>
            <a:r>
              <a:rPr lang="en-US" altLang="zh-CN" dirty="0" err="1">
                <a:solidFill>
                  <a:srgbClr val="4EC9B0"/>
                </a:solidFill>
                <a:latin typeface="Lucida Console" panose="020B0609040504020204" pitchFamily="49" charset="0"/>
              </a:rPr>
              <a:t>MyClass</a:t>
            </a:r>
            <a:r>
              <a:rPr lang="en-US" altLang="zh-CN" dirty="0">
                <a:solidFill>
                  <a:srgbClr val="569CD6"/>
                </a:solidFill>
                <a:latin typeface="Lucida Console" panose="020B0609040504020204" pitchFamily="49" charset="0"/>
              </a:rPr>
              <a:t>&amp;</a:t>
            </a:r>
            <a:r>
              <a:rPr lang="en-US" altLang="zh-CN" dirty="0">
                <a:solidFill>
                  <a:srgbClr val="D4D4D4"/>
                </a:solidFill>
                <a:latin typeface="Lucida Console" panose="020B0609040504020204" pitchFamily="49" charset="0"/>
              </a:rPr>
              <a:t>);</a:t>
            </a:r>
          </a:p>
          <a:p>
            <a:r>
              <a:rPr lang="en-US" altLang="zh-CN" dirty="0">
                <a:solidFill>
                  <a:srgbClr val="D4D4D4"/>
                </a:solidFill>
                <a:latin typeface="Lucida Console" panose="020B0609040504020204" pitchFamily="49" charset="0"/>
              </a:rPr>
              <a:t>    </a:t>
            </a:r>
            <a:r>
              <a:rPr lang="en-US" altLang="zh-CN" dirty="0" err="1">
                <a:solidFill>
                  <a:srgbClr val="DCDCAA"/>
                </a:solidFill>
                <a:latin typeface="Lucida Console" panose="020B0609040504020204" pitchFamily="49" charset="0"/>
              </a:rPr>
              <a:t>MyClass</a:t>
            </a:r>
            <a:r>
              <a:rPr lang="en-US" altLang="zh-CN" dirty="0">
                <a:solidFill>
                  <a:srgbClr val="D4D4D4"/>
                </a:solidFill>
                <a:latin typeface="Lucida Console" panose="020B0609040504020204" pitchFamily="49" charset="0"/>
              </a:rPr>
              <a:t>(</a:t>
            </a:r>
            <a:r>
              <a:rPr lang="en-US" altLang="zh-CN" dirty="0" err="1">
                <a:solidFill>
                  <a:srgbClr val="4EC9B0"/>
                </a:solidFill>
                <a:latin typeface="Lucida Console" panose="020B0609040504020204" pitchFamily="49" charset="0"/>
              </a:rPr>
              <a:t>MyClass</a:t>
            </a:r>
            <a:r>
              <a:rPr lang="en-US" altLang="zh-CN" dirty="0">
                <a:solidFill>
                  <a:srgbClr val="569CD6"/>
                </a:solidFill>
                <a:latin typeface="Lucida Console" panose="020B0609040504020204" pitchFamily="49" charset="0"/>
              </a:rPr>
              <a:t>&amp;&amp;</a:t>
            </a:r>
            <a:r>
              <a:rPr lang="en-US" altLang="zh-CN" dirty="0">
                <a:solidFill>
                  <a:srgbClr val="D4D4D4"/>
                </a:solidFill>
                <a:latin typeface="Lucida Console" panose="020B0609040504020204" pitchFamily="49" charset="0"/>
              </a:rPr>
              <a:t>);</a:t>
            </a:r>
          </a:p>
          <a:p>
            <a:r>
              <a:rPr lang="en-US" altLang="zh-CN" dirty="0">
                <a:solidFill>
                  <a:srgbClr val="D4D4D4"/>
                </a:solidFill>
                <a:latin typeface="Lucida Console" panose="020B0609040504020204" pitchFamily="49" charset="0"/>
              </a:rPr>
              <a:t>    </a:t>
            </a:r>
            <a:r>
              <a:rPr lang="en-US" altLang="zh-CN" dirty="0" err="1">
                <a:solidFill>
                  <a:srgbClr val="4EC9B0"/>
                </a:solidFill>
                <a:latin typeface="Lucida Console" panose="020B0609040504020204" pitchFamily="49" charset="0"/>
              </a:rPr>
              <a:t>MyClass</a:t>
            </a:r>
            <a:r>
              <a:rPr lang="en-US" altLang="zh-CN" dirty="0">
                <a:solidFill>
                  <a:srgbClr val="569CD6"/>
                </a:solidFill>
                <a:latin typeface="Lucida Console" panose="020B0609040504020204" pitchFamily="49" charset="0"/>
              </a:rPr>
              <a:t>&amp;</a:t>
            </a:r>
            <a:r>
              <a:rPr lang="en-US" altLang="zh-CN" dirty="0">
                <a:solidFill>
                  <a:srgbClr val="D4D4D4"/>
                </a:solidFill>
                <a:latin typeface="Lucida Console" panose="020B0609040504020204" pitchFamily="49" charset="0"/>
              </a:rPr>
              <a:t> </a:t>
            </a:r>
            <a:r>
              <a:rPr lang="en-US" altLang="zh-CN" dirty="0">
                <a:solidFill>
                  <a:srgbClr val="C586C0"/>
                </a:solidFill>
                <a:latin typeface="Lucida Console" panose="020B0609040504020204" pitchFamily="49" charset="0"/>
              </a:rPr>
              <a:t>operator=</a:t>
            </a:r>
            <a:r>
              <a:rPr lang="en-US" altLang="zh-CN" dirty="0">
                <a:solidFill>
                  <a:srgbClr val="D4D4D4"/>
                </a:solidFill>
                <a:latin typeface="Lucida Console" panose="020B0609040504020204" pitchFamily="49" charset="0"/>
              </a:rPr>
              <a:t>(</a:t>
            </a:r>
            <a:r>
              <a:rPr lang="en-US" altLang="zh-CN" dirty="0" err="1">
                <a:solidFill>
                  <a:srgbClr val="4EC9B0"/>
                </a:solidFill>
                <a:latin typeface="Lucida Console" panose="020B0609040504020204" pitchFamily="49" charset="0"/>
              </a:rPr>
              <a:t>MyClass</a:t>
            </a:r>
            <a:r>
              <a:rPr lang="en-US" altLang="zh-CN" dirty="0">
                <a:solidFill>
                  <a:srgbClr val="569CD6"/>
                </a:solidFill>
                <a:latin typeface="Lucida Console" panose="020B0609040504020204" pitchFamily="49" charset="0"/>
              </a:rPr>
              <a:t>&amp;&amp;</a:t>
            </a:r>
            <a:r>
              <a:rPr lang="en-US" altLang="zh-CN" dirty="0">
                <a:solidFill>
                  <a:srgbClr val="D4D4D4"/>
                </a:solidFill>
                <a:latin typeface="Lucida Console" panose="020B0609040504020204" pitchFamily="49" charset="0"/>
              </a:rPr>
              <a:t>);</a:t>
            </a:r>
          </a:p>
          <a:p>
            <a:r>
              <a:rPr lang="en-US" altLang="zh-CN" dirty="0">
                <a:solidFill>
                  <a:srgbClr val="D4D4D4"/>
                </a:solidFill>
                <a:latin typeface="Lucida Console" panose="020B0609040504020204" pitchFamily="49" charset="0"/>
              </a:rPr>
              <a:t>    </a:t>
            </a:r>
            <a:r>
              <a:rPr lang="en-US" altLang="zh-CN" dirty="0">
                <a:solidFill>
                  <a:srgbClr val="DCDCAA"/>
                </a:solidFill>
                <a:latin typeface="Lucida Console" panose="020B0609040504020204" pitchFamily="49" charset="0"/>
              </a:rPr>
              <a:t>~</a:t>
            </a:r>
            <a:r>
              <a:rPr lang="en-US" altLang="zh-CN" dirty="0" err="1">
                <a:solidFill>
                  <a:srgbClr val="DCDCAA"/>
                </a:solidFill>
                <a:latin typeface="Lucida Console" panose="020B0609040504020204" pitchFamily="49" charset="0"/>
              </a:rPr>
              <a:t>MyClass</a:t>
            </a:r>
            <a:r>
              <a:rPr lang="en-US" altLang="zh-CN" dirty="0">
                <a:solidFill>
                  <a:srgbClr val="D4D4D4"/>
                </a:solidFill>
                <a:latin typeface="Lucida Console" panose="020B0609040504020204" pitchFamily="49" charset="0"/>
              </a:rPr>
              <a:t>();</a:t>
            </a:r>
          </a:p>
          <a:p>
            <a:r>
              <a:rPr lang="en-US" altLang="zh-CN" dirty="0">
                <a:solidFill>
                  <a:srgbClr val="D4D4D4"/>
                </a:solidFill>
                <a:latin typeface="Lucida Console" panose="020B0609040504020204" pitchFamily="49" charset="0"/>
              </a:rPr>
              <a:t>};</a:t>
            </a:r>
          </a:p>
        </p:txBody>
      </p:sp>
      <p:sp>
        <p:nvSpPr>
          <p:cNvPr id="24" name="矩形 23"/>
          <p:cNvSpPr/>
          <p:nvPr/>
        </p:nvSpPr>
        <p:spPr>
          <a:xfrm>
            <a:off x="1415061" y="4350248"/>
            <a:ext cx="5004791" cy="2031325"/>
          </a:xfrm>
          <a:prstGeom prst="rect">
            <a:avLst/>
          </a:prstGeom>
        </p:spPr>
        <p:txBody>
          <a:bodyPr wrap="square">
            <a:spAutoFit/>
          </a:bodyPr>
          <a:lstStyle/>
          <a:p>
            <a:r>
              <a:rPr lang="zh-CN" altLang="en-US" dirty="0">
                <a:latin typeface="微软雅黑" panose="020B0503020204020204" pitchFamily="34" charset="-122"/>
                <a:ea typeface="微软雅黑" panose="020B0503020204020204" pitchFamily="34" charset="-122"/>
              </a:rPr>
              <a:t>因此，现代</a:t>
            </a:r>
            <a:r>
              <a:rPr lang="en-US" altLang="zh-CN" dirty="0">
                <a:latin typeface="微软雅黑" panose="020B0503020204020204" pitchFamily="34" charset="-122"/>
                <a:ea typeface="微软雅黑" panose="020B0503020204020204" pitchFamily="34" charset="-122"/>
              </a:rPr>
              <a:t>C++</a:t>
            </a:r>
            <a:r>
              <a:rPr lang="zh-CN" altLang="en-US" dirty="0">
                <a:latin typeface="微软雅黑" panose="020B0503020204020204" pitchFamily="34" charset="-122"/>
                <a:ea typeface="微软雅黑" panose="020B0503020204020204" pitchFamily="34" charset="-122"/>
              </a:rPr>
              <a:t>中的特殊成员函数一共有</a:t>
            </a:r>
            <a:r>
              <a:rPr lang="en-US" altLang="zh-CN" dirty="0">
                <a:latin typeface="微软雅黑" panose="020B0503020204020204" pitchFamily="34" charset="-122"/>
                <a:ea typeface="微软雅黑" panose="020B0503020204020204" pitchFamily="34" charset="-122"/>
              </a:rPr>
              <a:t>6</a:t>
            </a:r>
            <a:r>
              <a:rPr lang="zh-CN" altLang="en-US" dirty="0">
                <a:latin typeface="微软雅黑" panose="020B0503020204020204" pitchFamily="34" charset="-122"/>
                <a:ea typeface="微软雅黑" panose="020B0503020204020204" pitchFamily="34" charset="-122"/>
              </a:rPr>
              <a:t>个：</a:t>
            </a:r>
            <a:endParaRPr lang="en-US" altLang="zh-CN" dirty="0">
              <a:latin typeface="微软雅黑" panose="020B0503020204020204" pitchFamily="34" charset="-122"/>
              <a:ea typeface="微软雅黑" panose="020B0503020204020204" pitchFamily="34" charset="-122"/>
            </a:endParaRPr>
          </a:p>
          <a:p>
            <a:pPr marL="342891" indent="-342891">
              <a:buFont typeface="+mj-lt"/>
              <a:buAutoNum type="arabicPeriod"/>
            </a:pPr>
            <a:r>
              <a:rPr lang="zh-CN" altLang="en-US" dirty="0">
                <a:latin typeface="微软雅黑" panose="020B0503020204020204" pitchFamily="34" charset="-122"/>
                <a:ea typeface="微软雅黑" panose="020B0503020204020204" pitchFamily="34" charset="-122"/>
              </a:rPr>
              <a:t>默认构造函数</a:t>
            </a:r>
            <a:endParaRPr lang="en-US" altLang="zh-CN" dirty="0">
              <a:latin typeface="微软雅黑" panose="020B0503020204020204" pitchFamily="34" charset="-122"/>
              <a:ea typeface="微软雅黑" panose="020B0503020204020204" pitchFamily="34" charset="-122"/>
            </a:endParaRPr>
          </a:p>
          <a:p>
            <a:pPr marL="342891" indent="-342891">
              <a:buFont typeface="+mj-lt"/>
              <a:buAutoNum type="arabicPeriod"/>
            </a:pPr>
            <a:r>
              <a:rPr lang="zh-CN" altLang="en-US" dirty="0">
                <a:latin typeface="微软雅黑" panose="020B0503020204020204" pitchFamily="34" charset="-122"/>
                <a:ea typeface="微软雅黑" panose="020B0503020204020204" pitchFamily="34" charset="-122"/>
              </a:rPr>
              <a:t>拷贝构造函数</a:t>
            </a:r>
            <a:endParaRPr lang="en-US" altLang="zh-CN" dirty="0">
              <a:latin typeface="微软雅黑" panose="020B0503020204020204" pitchFamily="34" charset="-122"/>
              <a:ea typeface="微软雅黑" panose="020B0503020204020204" pitchFamily="34" charset="-122"/>
            </a:endParaRPr>
          </a:p>
          <a:p>
            <a:pPr marL="342891" indent="-342891">
              <a:buFont typeface="+mj-lt"/>
              <a:buAutoNum type="arabicPeriod"/>
            </a:pPr>
            <a:r>
              <a:rPr lang="zh-CN" altLang="en-US" dirty="0">
                <a:latin typeface="微软雅黑" panose="020B0503020204020204" pitchFamily="34" charset="-122"/>
                <a:ea typeface="微软雅黑" panose="020B0503020204020204" pitchFamily="34" charset="-122"/>
              </a:rPr>
              <a:t>拷贝赋值操作</a:t>
            </a:r>
            <a:endParaRPr lang="en-US" altLang="zh-CN" dirty="0">
              <a:latin typeface="微软雅黑" panose="020B0503020204020204" pitchFamily="34" charset="-122"/>
              <a:ea typeface="微软雅黑" panose="020B0503020204020204" pitchFamily="34" charset="-122"/>
            </a:endParaRPr>
          </a:p>
          <a:p>
            <a:pPr marL="342891" indent="-342891">
              <a:buFont typeface="+mj-lt"/>
              <a:buAutoNum type="arabicPeriod"/>
            </a:pPr>
            <a:r>
              <a:rPr lang="zh-CN" altLang="en-US" dirty="0">
                <a:latin typeface="微软雅黑" panose="020B0503020204020204" pitchFamily="34" charset="-122"/>
                <a:ea typeface="微软雅黑" panose="020B0503020204020204" pitchFamily="34" charset="-122"/>
              </a:rPr>
              <a:t>移动构造函数</a:t>
            </a:r>
            <a:endParaRPr lang="en-US" altLang="zh-CN" dirty="0">
              <a:latin typeface="微软雅黑" panose="020B0503020204020204" pitchFamily="34" charset="-122"/>
              <a:ea typeface="微软雅黑" panose="020B0503020204020204" pitchFamily="34" charset="-122"/>
            </a:endParaRPr>
          </a:p>
          <a:p>
            <a:pPr marL="342891" indent="-342891">
              <a:buFont typeface="+mj-lt"/>
              <a:buAutoNum type="arabicPeriod"/>
            </a:pPr>
            <a:r>
              <a:rPr lang="zh-CN" altLang="en-US" dirty="0">
                <a:latin typeface="微软雅黑" panose="020B0503020204020204" pitchFamily="34" charset="-122"/>
                <a:ea typeface="微软雅黑" panose="020B0503020204020204" pitchFamily="34" charset="-122"/>
              </a:rPr>
              <a:t>移动赋值操作</a:t>
            </a:r>
            <a:endParaRPr lang="en-US" altLang="zh-CN" dirty="0">
              <a:latin typeface="微软雅黑" panose="020B0503020204020204" pitchFamily="34" charset="-122"/>
              <a:ea typeface="微软雅黑" panose="020B0503020204020204" pitchFamily="34" charset="-122"/>
            </a:endParaRPr>
          </a:p>
          <a:p>
            <a:pPr marL="342891" indent="-342891">
              <a:buFont typeface="+mj-lt"/>
              <a:buAutoNum type="arabicPeriod"/>
            </a:pPr>
            <a:r>
              <a:rPr lang="zh-CN" altLang="en-US" dirty="0">
                <a:latin typeface="微软雅黑" panose="020B0503020204020204" pitchFamily="34" charset="-122"/>
                <a:ea typeface="微软雅黑" panose="020B0503020204020204" pitchFamily="34" charset="-122"/>
              </a:rPr>
              <a:t>析构函数</a:t>
            </a:r>
            <a:endParaRPr lang="en-US" altLang="zh-CN" dirty="0">
              <a:latin typeface="微软雅黑" panose="020B0503020204020204" pitchFamily="34" charset="-122"/>
              <a:ea typeface="微软雅黑" panose="020B0503020204020204" pitchFamily="34" charset="-122"/>
            </a:endParaRPr>
          </a:p>
        </p:txBody>
      </p:sp>
      <p:sp>
        <p:nvSpPr>
          <p:cNvPr id="25" name="矩形 24"/>
          <p:cNvSpPr/>
          <p:nvPr/>
        </p:nvSpPr>
        <p:spPr>
          <a:xfrm>
            <a:off x="6682385" y="4904244"/>
            <a:ext cx="5252440" cy="923330"/>
          </a:xfrm>
          <a:prstGeom prst="rect">
            <a:avLst/>
          </a:prstGeom>
        </p:spPr>
        <p:txBody>
          <a:bodyPr wrap="square">
            <a:spAutoFit/>
          </a:bodyPr>
          <a:lstStyle/>
          <a:p>
            <a:r>
              <a:rPr lang="zh-CN" altLang="en-US" dirty="0">
                <a:latin typeface="微软雅黑" panose="020B0503020204020204" pitchFamily="34" charset="-122"/>
                <a:ea typeface="微软雅黑" panose="020B0503020204020204" pitchFamily="34" charset="-122"/>
              </a:rPr>
              <a:t>作为良好的编程习惯：</a:t>
            </a:r>
            <a:endParaRPr lang="en-US" altLang="zh-CN" dirty="0">
              <a:latin typeface="微软雅黑" panose="020B0503020204020204" pitchFamily="34" charset="-122"/>
              <a:ea typeface="微软雅黑" panose="020B0503020204020204" pitchFamily="34" charset="-122"/>
            </a:endParaRPr>
          </a:p>
          <a:p>
            <a:r>
              <a:rPr lang="zh-CN" altLang="en-US" dirty="0">
                <a:latin typeface="微软雅黑" panose="020B0503020204020204" pitchFamily="34" charset="-122"/>
                <a:ea typeface="微软雅黑" panose="020B0503020204020204" pitchFamily="34" charset="-122"/>
              </a:rPr>
              <a:t>拷贝构造函数和拷贝赋值操作总是应该成对定义；</a:t>
            </a:r>
            <a:endParaRPr lang="en-US" altLang="zh-CN" dirty="0">
              <a:latin typeface="微软雅黑" panose="020B0503020204020204" pitchFamily="34" charset="-122"/>
              <a:ea typeface="微软雅黑" panose="020B0503020204020204" pitchFamily="34" charset="-122"/>
            </a:endParaRPr>
          </a:p>
          <a:p>
            <a:r>
              <a:rPr lang="zh-CN" altLang="en-US" dirty="0">
                <a:latin typeface="微软雅黑" panose="020B0503020204020204" pitchFamily="34" charset="-122"/>
                <a:ea typeface="微软雅黑" panose="020B0503020204020204" pitchFamily="34" charset="-122"/>
              </a:rPr>
              <a:t>移动构造函数和移动赋值操作总是应该成对定义。</a:t>
            </a:r>
            <a:endParaRPr lang="en-US" altLang="zh-CN" dirty="0">
              <a:latin typeface="微软雅黑" panose="020B0503020204020204" pitchFamily="34" charset="-122"/>
              <a:ea typeface="微软雅黑" panose="020B0503020204020204" pitchFamily="34" charset="-122"/>
            </a:endParaRPr>
          </a:p>
        </p:txBody>
      </p:sp>
      <p:grpSp>
        <p:nvGrpSpPr>
          <p:cNvPr id="7" name="组合 6"/>
          <p:cNvGrpSpPr/>
          <p:nvPr/>
        </p:nvGrpSpPr>
        <p:grpSpPr>
          <a:xfrm>
            <a:off x="429014" y="234192"/>
            <a:ext cx="6915125" cy="505969"/>
            <a:chOff x="321760" y="175643"/>
            <a:chExt cx="5186344" cy="379477"/>
          </a:xfrm>
        </p:grpSpPr>
        <p:sp>
          <p:nvSpPr>
            <p:cNvPr id="8" name="Title 1">
              <a:extLst>
                <a:ext uri="{FF2B5EF4-FFF2-40B4-BE49-F238E27FC236}">
                  <a16:creationId xmlns:a16="http://schemas.microsoft.com/office/drawing/2014/main" id="{6892040A-94F3-474F-8198-4204E9168CEC}"/>
                </a:ext>
              </a:extLst>
            </p:cNvPr>
            <p:cNvSpPr txBox="1">
              <a:spLocks/>
            </p:cNvSpPr>
            <p:nvPr/>
          </p:nvSpPr>
          <p:spPr>
            <a:xfrm>
              <a:off x="611560" y="175643"/>
              <a:ext cx="4896544" cy="379477"/>
            </a:xfrm>
            <a:prstGeom prst="rect">
              <a:avLst/>
            </a:prstGeom>
          </p:spPr>
          <p:txBody>
            <a:bodyPr lIns="0" rIns="0"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itchFamily="2" charset="0"/>
                  <a:cs typeface="Open Sans Light" panose="020B0306030504020204" pitchFamily="34" charset="0"/>
                </a:defRPr>
              </a:lvl1pPr>
            </a:lstStyle>
            <a:p>
              <a:pPr algn="l"/>
              <a:r>
                <a:rPr lang="zh-CN" altLang="en-US" sz="2400" dirty="0">
                  <a:solidFill>
                    <a:schemeClr val="tx1">
                      <a:lumMod val="65000"/>
                      <a:lumOff val="35000"/>
                    </a:schemeClr>
                  </a:solidFill>
                  <a:latin typeface="+mn-lt"/>
                  <a:ea typeface="+mn-ea"/>
                  <a:cs typeface="+mn-ea"/>
                  <a:sym typeface="+mn-lt"/>
                </a:rPr>
                <a:t>类的特殊成员函数</a:t>
              </a:r>
            </a:p>
          </p:txBody>
        </p:sp>
        <p:sp>
          <p:nvSpPr>
            <p:cNvPr id="9" name="Diamond 33">
              <a:extLst>
                <a:ext uri="{FF2B5EF4-FFF2-40B4-BE49-F238E27FC236}">
                  <a16:creationId xmlns:a16="http://schemas.microsoft.com/office/drawing/2014/main" id="{88651C82-D860-43A5-951F-058DAA88FBBC}"/>
                </a:ext>
              </a:extLst>
            </p:cNvPr>
            <p:cNvSpPr/>
            <p:nvPr/>
          </p:nvSpPr>
          <p:spPr>
            <a:xfrm>
              <a:off x="321760" y="254774"/>
              <a:ext cx="250083" cy="250083"/>
            </a:xfrm>
            <a:prstGeom prst="diamond">
              <a:avLst/>
            </a:prstGeom>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anchor="ctr">
              <a:normAutofit fontScale="55000" lnSpcReduction="20000"/>
            </a:bodyPr>
            <a:lstStyle/>
            <a:p>
              <a:pPr algn="ctr"/>
              <a:endParaRPr lang="en-US" altLang="zh-CN" sz="2400" dirty="0">
                <a:solidFill>
                  <a:schemeClr val="bg1"/>
                </a:solidFill>
                <a:cs typeface="+mn-ea"/>
                <a:sym typeface="+mn-lt"/>
              </a:endParaRPr>
            </a:p>
          </p:txBody>
        </p:sp>
      </p:grpSp>
    </p:spTree>
    <p:extLst>
      <p:ext uri="{BB962C8B-B14F-4D97-AF65-F5344CB8AC3E}">
        <p14:creationId xmlns:p14="http://schemas.microsoft.com/office/powerpoint/2010/main" val="3544236475"/>
      </p:ext>
    </p:extLst>
  </p:cSld>
  <p:clrMapOvr>
    <a:masterClrMapping/>
  </p:clrMapOvr>
  <p:transition advClick="0" advTm="8000"/>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5"/>
                                        </p:tgtEl>
                                        <p:attrNameLst>
                                          <p:attrName>style.visibility</p:attrName>
                                        </p:attrNameLst>
                                      </p:cBhvr>
                                      <p:to>
                                        <p:strVal val="visible"/>
                                      </p:to>
                                    </p:set>
                                    <p:animEffect transition="in" filter="fade">
                                      <p:cBhvr>
                                        <p:cTn id="7"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116811238"/>
      </p:ext>
    </p:extLst>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1711</Words>
  <Application>Microsoft Office PowerPoint</Application>
  <PresentationFormat>宽屏</PresentationFormat>
  <Paragraphs>196</Paragraphs>
  <Slides>9</Slides>
  <Notes>7</Notes>
  <HiddenSlides>0</HiddenSlides>
  <MMClips>0</MMClips>
  <ScaleCrop>false</ScaleCrop>
  <HeadingPairs>
    <vt:vector size="6" baseType="variant">
      <vt:variant>
        <vt:lpstr>已用的字体</vt:lpstr>
      </vt:variant>
      <vt:variant>
        <vt:i4>5</vt:i4>
      </vt:variant>
      <vt:variant>
        <vt:lpstr>主题</vt:lpstr>
      </vt:variant>
      <vt:variant>
        <vt:i4>1</vt:i4>
      </vt:variant>
      <vt:variant>
        <vt:lpstr>幻灯片标题</vt:lpstr>
      </vt:variant>
      <vt:variant>
        <vt:i4>9</vt:i4>
      </vt:variant>
    </vt:vector>
  </HeadingPairs>
  <TitlesOfParts>
    <vt:vector size="15" baseType="lpstr">
      <vt:lpstr>等线</vt:lpstr>
      <vt:lpstr>等线 Light</vt:lpstr>
      <vt:lpstr>微软雅黑</vt:lpstr>
      <vt:lpstr>Arial</vt:lpstr>
      <vt:lpstr>Lucida Console</vt:lpstr>
      <vt:lpstr>Office 主题​​</vt:lpstr>
      <vt:lpstr>现代C++新特性             ---- 面向对象语法改进</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Lichunhua(ChunhuaLi,stfse)</dc:creator>
  <cp:lastModifiedBy>Lichunhua(ChunhuaLi,stfse)</cp:lastModifiedBy>
  <cp:revision>3</cp:revision>
  <dcterms:created xsi:type="dcterms:W3CDTF">2024-01-08T09:12:08Z</dcterms:created>
  <dcterms:modified xsi:type="dcterms:W3CDTF">2024-01-08T09:15:03Z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2015_ms_pID_725343">
    <vt:lpwstr>(3)kfqDPelaXqfgW/JA7VKydyJPjGdkQUeZbiTmajVYW372fDCrWW6vl2GVLuAKF+/jNLpp1Bx9
92u1P2rxJeTnbm4WkOmVDwDJrlQVxgc8uwtbRnapbIl4tOvPqn7cnT+HgIJ7TYRdhkWYQrKB
zKQYbc5u1PT8FWjRjXsc0ZSOGq8v21TysmIOqokTxmwHiMnryTRdiyNnbrPgGG7zNucHQ2vC
KL5sP1tSrmrUmpmYF3</vt:lpwstr>
  </property>
  <property fmtid="{D5CDD505-2E9C-101B-9397-08002B2CF9AE}" pid="3" name="_2015_ms_pID_7253431">
    <vt:lpwstr>DulMJlpNIwXi5ZgBp/q/6ffuN101ODZGzNuZ670+Uv/Rm15kmQgfyM
ssZfXFaEGhbp+elCKpruvsc/S/E5jHrNtzXtqqXh2CRC6YsPMczEmtYZ+EXKTKXFykM1cpvz
LHzng6orvigNQv9X5ba+KA2AM2XiRDUW/k8bNDX0jDEBpdK+qfPcI9GiRaLXwTP3YxdgVcwt
6w+qE46Nyv2ewR1PlDz1Z6MikyvA7E+G0oLG</vt:lpwstr>
  </property>
  <property fmtid="{D5CDD505-2E9C-101B-9397-08002B2CF9AE}" pid="4" name="_2015_ms_pID_7253432">
    <vt:lpwstr>9Q==</vt:lpwstr>
  </property>
</Properties>
</file>